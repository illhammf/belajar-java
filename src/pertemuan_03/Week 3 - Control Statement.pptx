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95" r:id="rId3"/>
    <p:sldId id="309" r:id="rId4"/>
    <p:sldId id="2029" r:id="rId5"/>
    <p:sldId id="2030" r:id="rId6"/>
    <p:sldId id="2031" r:id="rId7"/>
    <p:sldId id="259" r:id="rId8"/>
    <p:sldId id="2033" r:id="rId9"/>
    <p:sldId id="2038" r:id="rId10"/>
    <p:sldId id="2032" r:id="rId11"/>
    <p:sldId id="263" r:id="rId12"/>
    <p:sldId id="264" r:id="rId13"/>
    <p:sldId id="2084" r:id="rId14"/>
    <p:sldId id="2039" r:id="rId15"/>
    <p:sldId id="2022" r:id="rId16"/>
    <p:sldId id="2085" r:id="rId17"/>
    <p:sldId id="2086" r:id="rId18"/>
    <p:sldId id="2087" r:id="rId19"/>
    <p:sldId id="2089" r:id="rId20"/>
    <p:sldId id="2088" r:id="rId21"/>
    <p:sldId id="2090" r:id="rId22"/>
    <p:sldId id="2091" r:id="rId23"/>
    <p:sldId id="2092" r:id="rId24"/>
    <p:sldId id="2094" r:id="rId25"/>
    <p:sldId id="2095" r:id="rId26"/>
    <p:sldId id="2097" r:id="rId27"/>
    <p:sldId id="2096" r:id="rId28"/>
    <p:sldId id="2098" r:id="rId29"/>
    <p:sldId id="2100" r:id="rId30"/>
    <p:sldId id="2099" r:id="rId31"/>
    <p:sldId id="2082" r:id="rId32"/>
    <p:sldId id="2101" r:id="rId33"/>
    <p:sldId id="294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7" roundtripDataSignature="AMtx7mh9EuQyagaA6UgANiLgm97Yp5Do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6"/>
  </p:normalViewPr>
  <p:slideViewPr>
    <p:cSldViewPr snapToGrid="0">
      <p:cViewPr varScale="1">
        <p:scale>
          <a:sx n="63" d="100"/>
          <a:sy n="63" d="100"/>
        </p:scale>
        <p:origin x="91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59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customschemas.google.com/relationships/presentationmetadata" Target="meta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2" name="Google Shape;3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448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2" name="Google Shape;3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1578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1561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98292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2" name="Google Shape;3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20679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2" name="Google Shape;3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8611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25508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63411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2" name="Google Shape;3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57732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79421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2" name="Google Shape;3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2838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76558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05254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70616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2" name="Google Shape;3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86275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55826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04834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2" name="Google Shape;3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50281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2" name="Google Shape;3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70251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32" name="Google Shape;3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95357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93589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99727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2">
  <p:cSld name="Cover 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" name="Google Shape;20;p41"/>
          <p:cNvSpPr>
            <a:spLocks noGrp="1"/>
          </p:cNvSpPr>
          <p:nvPr>
            <p:ph type="pic" idx="2"/>
          </p:nvPr>
        </p:nvSpPr>
        <p:spPr>
          <a:xfrm flipH="1">
            <a:off x="7384744" y="0"/>
            <a:ext cx="4807256" cy="6858000"/>
          </a:xfrm>
          <a:prstGeom prst="flowChartDelay">
            <a:avLst/>
          </a:prstGeom>
          <a:noFill/>
          <a:ln>
            <a:noFill/>
          </a:ln>
        </p:spPr>
      </p:sp>
      <p:sp>
        <p:nvSpPr>
          <p:cNvPr id="21" name="Google Shape;21;p41"/>
          <p:cNvSpPr txBox="1">
            <a:spLocks noGrp="1"/>
          </p:cNvSpPr>
          <p:nvPr>
            <p:ph type="title"/>
          </p:nvPr>
        </p:nvSpPr>
        <p:spPr>
          <a:xfrm>
            <a:off x="588970" y="1773946"/>
            <a:ext cx="6385335" cy="202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wentieth Century"/>
              <a:buNone/>
              <a:defRPr sz="5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1"/>
          <p:cNvSpPr txBox="1">
            <a:spLocks noGrp="1"/>
          </p:cNvSpPr>
          <p:nvPr>
            <p:ph type="body" idx="1"/>
          </p:nvPr>
        </p:nvSpPr>
        <p:spPr>
          <a:xfrm>
            <a:off x="588970" y="4703142"/>
            <a:ext cx="6385335" cy="121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41"/>
          <p:cNvSpPr txBox="1">
            <a:spLocks noGrp="1"/>
          </p:cNvSpPr>
          <p:nvPr>
            <p:ph type="body" idx="3"/>
          </p:nvPr>
        </p:nvSpPr>
        <p:spPr>
          <a:xfrm>
            <a:off x="588970" y="419808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  <a:defRPr sz="2800" b="1">
                <a:solidFill>
                  <a:srgbClr val="FFC00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1"/>
          <p:cNvSpPr/>
          <p:nvPr/>
        </p:nvSpPr>
        <p:spPr>
          <a:xfrm>
            <a:off x="588970" y="3975211"/>
            <a:ext cx="1659545" cy="4571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" name="Google Shape;25;p41"/>
          <p:cNvSpPr txBox="1">
            <a:spLocks noGrp="1"/>
          </p:cNvSpPr>
          <p:nvPr>
            <p:ph type="body" idx="4"/>
          </p:nvPr>
        </p:nvSpPr>
        <p:spPr>
          <a:xfrm>
            <a:off x="588969" y="126889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  <a:defRPr sz="2800" b="1">
                <a:solidFill>
                  <a:srgbClr val="FFC00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26" name="Google Shape;26;p41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27" name="Google Shape;27;p41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28" name="Google Shape;28;p41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en Pengampu">
  <p:cSld name="Dosen Pengampu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2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" name="Google Shape;31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2"/>
          <p:cNvSpPr>
            <a:spLocks noGrp="1"/>
          </p:cNvSpPr>
          <p:nvPr>
            <p:ph type="pic" idx="2"/>
          </p:nvPr>
        </p:nvSpPr>
        <p:spPr>
          <a:xfrm>
            <a:off x="1745563" y="1842892"/>
            <a:ext cx="3063907" cy="3063908"/>
          </a:xfrm>
          <a:prstGeom prst="ellipse">
            <a:avLst/>
          </a:prstGeom>
          <a:noFill/>
          <a:ln>
            <a:noFill/>
          </a:ln>
        </p:spPr>
      </p:sp>
      <p:sp>
        <p:nvSpPr>
          <p:cNvPr id="33" name="Google Shape;33;p42"/>
          <p:cNvSpPr txBox="1">
            <a:spLocks noGrp="1"/>
          </p:cNvSpPr>
          <p:nvPr>
            <p:ph type="body" idx="1"/>
          </p:nvPr>
        </p:nvSpPr>
        <p:spPr>
          <a:xfrm>
            <a:off x="5154979" y="2275496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  <a:defRPr b="1">
                <a:solidFill>
                  <a:srgbClr val="0E60AC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42"/>
          <p:cNvSpPr txBox="1"/>
          <p:nvPr/>
        </p:nvSpPr>
        <p:spPr>
          <a:xfrm>
            <a:off x="5164108" y="1988095"/>
            <a:ext cx="3127989" cy="27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1629"/>
              </a:buClr>
              <a:buSzPts val="2000"/>
              <a:buFont typeface="Twentieth Century"/>
              <a:buNone/>
            </a:pPr>
            <a:r>
              <a:rPr lang="en-US" sz="20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Dosen Koordinator:</a:t>
            </a:r>
            <a:endParaRPr/>
          </a:p>
        </p:txBody>
      </p:sp>
      <p:sp>
        <p:nvSpPr>
          <p:cNvPr id="35" name="Google Shape;35;p42"/>
          <p:cNvSpPr txBox="1">
            <a:spLocks noGrp="1"/>
          </p:cNvSpPr>
          <p:nvPr>
            <p:ph type="body" idx="3"/>
          </p:nvPr>
        </p:nvSpPr>
        <p:spPr>
          <a:xfrm>
            <a:off x="5154979" y="3176643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  <a:defRPr b="1">
                <a:solidFill>
                  <a:srgbClr val="0E60AC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2"/>
          <p:cNvSpPr txBox="1"/>
          <p:nvPr/>
        </p:nvSpPr>
        <p:spPr>
          <a:xfrm>
            <a:off x="5164108" y="2889242"/>
            <a:ext cx="3127989" cy="27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1629"/>
              </a:buClr>
              <a:buSzPts val="2000"/>
              <a:buFont typeface="Twentieth Century"/>
              <a:buNone/>
            </a:pPr>
            <a:r>
              <a:rPr lang="en-US" sz="20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NID:</a:t>
            </a:r>
            <a:endParaRPr/>
          </a:p>
        </p:txBody>
      </p:sp>
      <p:sp>
        <p:nvSpPr>
          <p:cNvPr id="37" name="Google Shape;37;p42"/>
          <p:cNvSpPr txBox="1">
            <a:spLocks noGrp="1"/>
          </p:cNvSpPr>
          <p:nvPr>
            <p:ph type="body" idx="4"/>
          </p:nvPr>
        </p:nvSpPr>
        <p:spPr>
          <a:xfrm>
            <a:off x="5154979" y="4077790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  <a:defRPr b="1">
                <a:solidFill>
                  <a:srgbClr val="0E60AC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42"/>
          <p:cNvSpPr txBox="1"/>
          <p:nvPr/>
        </p:nvSpPr>
        <p:spPr>
          <a:xfrm>
            <a:off x="5164108" y="3790389"/>
            <a:ext cx="3127989" cy="27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1629"/>
              </a:buClr>
              <a:buSzPts val="2000"/>
              <a:buFont typeface="Twentieth Century"/>
              <a:buNone/>
            </a:pPr>
            <a:r>
              <a:rPr lang="en-US" sz="20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E-mail:</a:t>
            </a:r>
            <a:endParaRPr/>
          </a:p>
        </p:txBody>
      </p:sp>
      <p:grpSp>
        <p:nvGrpSpPr>
          <p:cNvPr id="39" name="Google Shape;39;p42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40" name="Google Shape;40;p42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41" name="Google Shape;41;p42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k (Sebelum UAS)">
  <p:cSld name="Topik (Sebelum UAS)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4"/>
          <p:cNvSpPr/>
          <p:nvPr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1" name="Google Shape;71;p44"/>
          <p:cNvSpPr txBox="1">
            <a:spLocks noGrp="1"/>
          </p:cNvSpPr>
          <p:nvPr>
            <p:ph type="body" idx="1"/>
          </p:nvPr>
        </p:nvSpPr>
        <p:spPr>
          <a:xfrm>
            <a:off x="801277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44"/>
          <p:cNvSpPr txBox="1"/>
          <p:nvPr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8</a:t>
            </a:r>
            <a:endParaRPr/>
          </a:p>
        </p:txBody>
      </p:sp>
      <p:sp>
        <p:nvSpPr>
          <p:cNvPr id="73" name="Google Shape;73;p44"/>
          <p:cNvSpPr/>
          <p:nvPr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4" name="Google Shape;74;p44"/>
          <p:cNvSpPr txBox="1">
            <a:spLocks noGrp="1"/>
          </p:cNvSpPr>
          <p:nvPr>
            <p:ph type="body" idx="2"/>
          </p:nvPr>
        </p:nvSpPr>
        <p:spPr>
          <a:xfrm>
            <a:off x="3593182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4"/>
          <p:cNvSpPr txBox="1"/>
          <p:nvPr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9</a:t>
            </a:r>
            <a:endParaRPr/>
          </a:p>
        </p:txBody>
      </p:sp>
      <p:sp>
        <p:nvSpPr>
          <p:cNvPr id="76" name="Google Shape;76;p44"/>
          <p:cNvSpPr/>
          <p:nvPr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7" name="Google Shape;77;p44"/>
          <p:cNvSpPr txBox="1">
            <a:spLocks noGrp="1"/>
          </p:cNvSpPr>
          <p:nvPr>
            <p:ph type="body" idx="3"/>
          </p:nvPr>
        </p:nvSpPr>
        <p:spPr>
          <a:xfrm>
            <a:off x="6387656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44"/>
          <p:cNvSpPr txBox="1"/>
          <p:nvPr/>
        </p:nvSpPr>
        <p:spPr>
          <a:xfrm>
            <a:off x="6387656" y="1962504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10</a:t>
            </a:r>
            <a:endParaRPr/>
          </a:p>
        </p:txBody>
      </p:sp>
      <p:sp>
        <p:nvSpPr>
          <p:cNvPr id="79" name="Google Shape;79;p44"/>
          <p:cNvSpPr/>
          <p:nvPr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0" name="Google Shape;80;p44"/>
          <p:cNvSpPr txBox="1">
            <a:spLocks noGrp="1"/>
          </p:cNvSpPr>
          <p:nvPr>
            <p:ph type="body" idx="4"/>
          </p:nvPr>
        </p:nvSpPr>
        <p:spPr>
          <a:xfrm>
            <a:off x="9179561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4"/>
          <p:cNvSpPr txBox="1"/>
          <p:nvPr/>
        </p:nvSpPr>
        <p:spPr>
          <a:xfrm>
            <a:off x="9179561" y="1962504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11</a:t>
            </a:r>
            <a:endParaRPr/>
          </a:p>
        </p:txBody>
      </p:sp>
      <p:sp>
        <p:nvSpPr>
          <p:cNvPr id="82" name="Google Shape;82;p44"/>
          <p:cNvSpPr/>
          <p:nvPr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3" name="Google Shape;83;p44"/>
          <p:cNvSpPr txBox="1">
            <a:spLocks noGrp="1"/>
          </p:cNvSpPr>
          <p:nvPr>
            <p:ph type="body" idx="5"/>
          </p:nvPr>
        </p:nvSpPr>
        <p:spPr>
          <a:xfrm>
            <a:off x="801277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44"/>
          <p:cNvSpPr txBox="1"/>
          <p:nvPr/>
        </p:nvSpPr>
        <p:spPr>
          <a:xfrm>
            <a:off x="801277" y="3834197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12</a:t>
            </a:r>
            <a:endParaRPr/>
          </a:p>
        </p:txBody>
      </p:sp>
      <p:sp>
        <p:nvSpPr>
          <p:cNvPr id="85" name="Google Shape;85;p44"/>
          <p:cNvSpPr/>
          <p:nvPr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6" name="Google Shape;86;p44"/>
          <p:cNvSpPr txBox="1">
            <a:spLocks noGrp="1"/>
          </p:cNvSpPr>
          <p:nvPr>
            <p:ph type="body" idx="6"/>
          </p:nvPr>
        </p:nvSpPr>
        <p:spPr>
          <a:xfrm>
            <a:off x="3593182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44"/>
          <p:cNvSpPr txBox="1"/>
          <p:nvPr/>
        </p:nvSpPr>
        <p:spPr>
          <a:xfrm>
            <a:off x="3593182" y="3834197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13</a:t>
            </a:r>
            <a:endParaRPr/>
          </a:p>
        </p:txBody>
      </p:sp>
      <p:sp>
        <p:nvSpPr>
          <p:cNvPr id="88" name="Google Shape;88;p44"/>
          <p:cNvSpPr/>
          <p:nvPr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9" name="Google Shape;89;p44"/>
          <p:cNvSpPr txBox="1">
            <a:spLocks noGrp="1"/>
          </p:cNvSpPr>
          <p:nvPr>
            <p:ph type="body" idx="7"/>
          </p:nvPr>
        </p:nvSpPr>
        <p:spPr>
          <a:xfrm>
            <a:off x="6387656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  <a:defRPr sz="1600">
                <a:solidFill>
                  <a:srgbClr val="08386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44"/>
          <p:cNvSpPr txBox="1"/>
          <p:nvPr/>
        </p:nvSpPr>
        <p:spPr>
          <a:xfrm>
            <a:off x="6387656" y="3834197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14</a:t>
            </a:r>
            <a:endParaRPr/>
          </a:p>
        </p:txBody>
      </p:sp>
      <p:sp>
        <p:nvSpPr>
          <p:cNvPr id="91" name="Google Shape;91;p44"/>
          <p:cNvSpPr/>
          <p:nvPr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2" name="Google Shape;92;p44"/>
          <p:cNvSpPr txBox="1"/>
          <p:nvPr/>
        </p:nvSpPr>
        <p:spPr>
          <a:xfrm>
            <a:off x="9179561" y="4139355"/>
            <a:ext cx="164660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Ujian Akhir</a:t>
            </a:r>
            <a:endParaRPr sz="2400" b="1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Semester</a:t>
            </a:r>
            <a:endParaRPr/>
          </a:p>
        </p:txBody>
      </p:sp>
      <p:sp>
        <p:nvSpPr>
          <p:cNvPr id="93" name="Google Shape;93;p44"/>
          <p:cNvSpPr/>
          <p:nvPr/>
        </p:nvSpPr>
        <p:spPr>
          <a:xfrm>
            <a:off x="571756" y="1068393"/>
            <a:ext cx="39118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Topik Sebelum UAS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ndahuluan">
  <p:cSld name="Pendahuluan"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45"/>
          <p:cNvGrpSpPr/>
          <p:nvPr/>
        </p:nvGrpSpPr>
        <p:grpSpPr>
          <a:xfrm>
            <a:off x="838200" y="1071592"/>
            <a:ext cx="5999349" cy="794408"/>
            <a:chOff x="838200" y="544975"/>
            <a:chExt cx="5999349" cy="794408"/>
          </a:xfrm>
        </p:grpSpPr>
        <p:sp>
          <p:nvSpPr>
            <p:cNvPr id="97" name="Google Shape;97;p45"/>
            <p:cNvSpPr/>
            <p:nvPr/>
          </p:nvSpPr>
          <p:spPr>
            <a:xfrm>
              <a:off x="1282045" y="716437"/>
              <a:ext cx="5555504" cy="51847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8" name="Google Shape;98;p45"/>
            <p:cNvSpPr/>
            <p:nvPr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9" name="Google Shape;99;p45"/>
            <p:cNvSpPr/>
            <p:nvPr/>
          </p:nvSpPr>
          <p:spPr>
            <a:xfrm>
              <a:off x="1654410" y="569942"/>
              <a:ext cx="3273525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1">
                  <a:solidFill>
                    <a:schemeClr val="accent3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Pendahuluan</a:t>
              </a:r>
              <a:endParaRPr sz="4400" b="1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00" name="Google Shape;100;p4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83077" y="544975"/>
              <a:ext cx="665176" cy="7623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" name="Google Shape;101;p45"/>
          <p:cNvSpPr txBox="1">
            <a:spLocks noGrp="1"/>
          </p:cNvSpPr>
          <p:nvPr>
            <p:ph type="body" idx="1"/>
          </p:nvPr>
        </p:nvSpPr>
        <p:spPr>
          <a:xfrm>
            <a:off x="838200" y="2139885"/>
            <a:ext cx="10515600" cy="397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ujuan Pembelajaran">
  <p:cSld name="Tujuan Pembelajaran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" name="Google Shape;104;p46"/>
          <p:cNvGrpSpPr/>
          <p:nvPr/>
        </p:nvGrpSpPr>
        <p:grpSpPr>
          <a:xfrm>
            <a:off x="753475" y="1125069"/>
            <a:ext cx="6438605" cy="769441"/>
            <a:chOff x="753475" y="569942"/>
            <a:chExt cx="6438605" cy="769441"/>
          </a:xfrm>
        </p:grpSpPr>
        <p:sp>
          <p:nvSpPr>
            <p:cNvPr id="105" name="Google Shape;105;p46"/>
            <p:cNvSpPr/>
            <p:nvPr/>
          </p:nvSpPr>
          <p:spPr>
            <a:xfrm>
              <a:off x="1282044" y="716437"/>
              <a:ext cx="5910035" cy="51847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6" name="Google Shape;106;p46"/>
            <p:cNvSpPr/>
            <p:nvPr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7" name="Google Shape;107;p46"/>
            <p:cNvSpPr/>
            <p:nvPr/>
          </p:nvSpPr>
          <p:spPr>
            <a:xfrm>
              <a:off x="1654410" y="569942"/>
              <a:ext cx="5537670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1">
                  <a:solidFill>
                    <a:schemeClr val="accent3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Capaian Pembelajaran</a:t>
              </a:r>
              <a:endParaRPr sz="4400" b="1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08" name="Google Shape;108;p4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53475" y="649446"/>
              <a:ext cx="791900" cy="632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46"/>
          <p:cNvSpPr txBox="1">
            <a:spLocks noGrp="1"/>
          </p:cNvSpPr>
          <p:nvPr>
            <p:ph type="body" idx="1"/>
          </p:nvPr>
        </p:nvSpPr>
        <p:spPr>
          <a:xfrm>
            <a:off x="838200" y="2139885"/>
            <a:ext cx="10515600" cy="397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 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8"/>
          <p:cNvSpPr txBox="1"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8"/>
          <p:cNvSpPr txBox="1">
            <a:spLocks noGrp="1"/>
          </p:cNvSpPr>
          <p:nvPr>
            <p:ph type="title"/>
          </p:nvPr>
        </p:nvSpPr>
        <p:spPr>
          <a:xfrm>
            <a:off x="838200" y="886120"/>
            <a:ext cx="851319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nutup">
  <p:cSld name="Penutup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0" descr="Business people  clapping their hands at the meeting Premium Photo"/>
          <p:cNvPicPr preferRelativeResize="0"/>
          <p:nvPr/>
        </p:nvPicPr>
        <p:blipFill rotWithShape="1">
          <a:blip r:embed="rId2">
            <a:alphaModFix/>
          </a:blip>
          <a:srcRect r="8529"/>
          <a:stretch/>
        </p:blipFill>
        <p:spPr>
          <a:xfrm>
            <a:off x="2790216" y="-5350"/>
            <a:ext cx="9401784" cy="686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0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9" name="Google Shape;129;p50"/>
          <p:cNvSpPr/>
          <p:nvPr/>
        </p:nvSpPr>
        <p:spPr>
          <a:xfrm>
            <a:off x="1500193" y="1347793"/>
            <a:ext cx="4162414" cy="4162414"/>
          </a:xfrm>
          <a:prstGeom prst="ellipse">
            <a:avLst/>
          </a:prstGeom>
          <a:solidFill>
            <a:srgbClr val="EB7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0" name="Google Shape;130;p50"/>
          <p:cNvSpPr txBox="1">
            <a:spLocks noGrp="1"/>
          </p:cNvSpPr>
          <p:nvPr>
            <p:ph type="ctrTitle"/>
          </p:nvPr>
        </p:nvSpPr>
        <p:spPr>
          <a:xfrm>
            <a:off x="2333732" y="2541902"/>
            <a:ext cx="3048000" cy="1768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1" name="Google Shape;131;p50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32" name="Google Shape;132;p50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33" name="Google Shape;133;p50"/>
            <p:cNvPicPr preferRelativeResize="0"/>
            <p:nvPr/>
          </p:nvPicPr>
          <p:blipFill rotWithShape="1">
            <a:blip r:embed="rId3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1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6" name="Google Shape;136;p51"/>
          <p:cNvSpPr>
            <a:spLocks noGrp="1"/>
          </p:cNvSpPr>
          <p:nvPr>
            <p:ph type="pic" idx="2"/>
          </p:nvPr>
        </p:nvSpPr>
        <p:spPr>
          <a:xfrm>
            <a:off x="0" y="1105260"/>
            <a:ext cx="4509370" cy="4646427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1"/>
          <p:cNvSpPr txBox="1">
            <a:spLocks noGrp="1"/>
          </p:cNvSpPr>
          <p:nvPr>
            <p:ph type="title"/>
          </p:nvPr>
        </p:nvSpPr>
        <p:spPr>
          <a:xfrm>
            <a:off x="4968465" y="1610316"/>
            <a:ext cx="6385335" cy="202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5400"/>
              <a:buFont typeface="Twentieth Century"/>
              <a:buNone/>
              <a:defRPr sz="5400" b="1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51"/>
          <p:cNvSpPr txBox="1">
            <a:spLocks noGrp="1"/>
          </p:cNvSpPr>
          <p:nvPr>
            <p:ph type="body" idx="1"/>
          </p:nvPr>
        </p:nvSpPr>
        <p:spPr>
          <a:xfrm>
            <a:off x="4968465" y="4539512"/>
            <a:ext cx="6385335" cy="121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400"/>
              <a:buNone/>
              <a:defRPr sz="2400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51"/>
          <p:cNvSpPr txBox="1">
            <a:spLocks noGrp="1"/>
          </p:cNvSpPr>
          <p:nvPr>
            <p:ph type="body" idx="3"/>
          </p:nvPr>
        </p:nvSpPr>
        <p:spPr>
          <a:xfrm>
            <a:off x="4968465" y="403445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C7C30"/>
              </a:buClr>
              <a:buSzPts val="2800"/>
              <a:buNone/>
              <a:defRPr sz="2800" b="1">
                <a:solidFill>
                  <a:srgbClr val="EC7C3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51"/>
          <p:cNvSpPr/>
          <p:nvPr/>
        </p:nvSpPr>
        <p:spPr>
          <a:xfrm>
            <a:off x="4968465" y="3811581"/>
            <a:ext cx="1659545" cy="45719"/>
          </a:xfrm>
          <a:prstGeom prst="roundRect">
            <a:avLst>
              <a:gd name="adj" fmla="val 16667"/>
            </a:avLst>
          </a:prstGeom>
          <a:solidFill>
            <a:srgbClr val="EC7C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2" name="Google Shape;142;p51"/>
          <p:cNvSpPr txBox="1">
            <a:spLocks noGrp="1"/>
          </p:cNvSpPr>
          <p:nvPr>
            <p:ph type="body" idx="4"/>
          </p:nvPr>
        </p:nvSpPr>
        <p:spPr>
          <a:xfrm>
            <a:off x="4968464" y="110526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C7C30"/>
              </a:buClr>
              <a:buSzPts val="2800"/>
              <a:buNone/>
              <a:defRPr sz="2800" b="1">
                <a:solidFill>
                  <a:srgbClr val="EC7C3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43" name="Google Shape;143;p51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44" name="Google Shape;144;p51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45" name="Google Shape;145;p51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omponen Penilaian">
  <p:cSld name="Komponen Penilaian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8" name="Google Shape;148;p52"/>
          <p:cNvGrpSpPr/>
          <p:nvPr/>
        </p:nvGrpSpPr>
        <p:grpSpPr>
          <a:xfrm>
            <a:off x="838200" y="1125069"/>
            <a:ext cx="5999349" cy="769441"/>
            <a:chOff x="838200" y="569942"/>
            <a:chExt cx="5999349" cy="769441"/>
          </a:xfrm>
        </p:grpSpPr>
        <p:sp>
          <p:nvSpPr>
            <p:cNvPr id="149" name="Google Shape;149;p52"/>
            <p:cNvSpPr/>
            <p:nvPr/>
          </p:nvSpPr>
          <p:spPr>
            <a:xfrm>
              <a:off x="1282045" y="716437"/>
              <a:ext cx="5555504" cy="51847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50" name="Google Shape;150;p52"/>
            <p:cNvSpPr/>
            <p:nvPr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51" name="Google Shape;151;p52"/>
            <p:cNvSpPr/>
            <p:nvPr/>
          </p:nvSpPr>
          <p:spPr>
            <a:xfrm>
              <a:off x="1654410" y="569942"/>
              <a:ext cx="5068760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1">
                  <a:solidFill>
                    <a:schemeClr val="accent3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Komponen Penilaian</a:t>
              </a:r>
              <a:endParaRPr sz="4400" b="1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52" name="Google Shape;152;p52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21012" y="616587"/>
              <a:ext cx="589305" cy="67542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3"/>
          <p:cNvSpPr txBox="1">
            <a:spLocks noGrp="1"/>
          </p:cNvSpPr>
          <p:nvPr>
            <p:ph type="title"/>
          </p:nvPr>
        </p:nvSpPr>
        <p:spPr>
          <a:xfrm>
            <a:off x="831850" y="1389699"/>
            <a:ext cx="10515600" cy="1617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6000"/>
              <a:buFont typeface="Twentieth Centur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53"/>
          <p:cNvSpPr txBox="1">
            <a:spLocks noGrp="1"/>
          </p:cNvSpPr>
          <p:nvPr>
            <p:ph type="body" idx="1"/>
          </p:nvPr>
        </p:nvSpPr>
        <p:spPr>
          <a:xfrm>
            <a:off x="831850" y="3185341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400"/>
              <a:buNone/>
              <a:defRPr sz="2400">
                <a:solidFill>
                  <a:srgbClr val="031629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2000"/>
              <a:buNone/>
              <a:defRPr sz="2000">
                <a:solidFill>
                  <a:srgbClr val="8E8E8E"/>
                </a:solidFill>
              </a:defRPr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800"/>
              <a:buNone/>
              <a:defRPr sz="1800">
                <a:solidFill>
                  <a:srgbClr val="8E8E8E"/>
                </a:solidFill>
              </a:defRPr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E"/>
              </a:buClr>
              <a:buSzPts val="1600"/>
              <a:buNone/>
              <a:defRPr sz="1600">
                <a:solidFill>
                  <a:srgbClr val="8E8E8E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100"/>
              <a:buFont typeface="Twentieth Century"/>
              <a:buNone/>
              <a:defRPr sz="11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4"/>
          <p:cNvSpPr txBox="1">
            <a:spLocks noGrp="1"/>
          </p:cNvSpPr>
          <p:nvPr>
            <p:ph type="title"/>
          </p:nvPr>
        </p:nvSpPr>
        <p:spPr>
          <a:xfrm>
            <a:off x="838200" y="886120"/>
            <a:ext cx="851319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5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5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5"/>
          <p:cNvSpPr txBox="1">
            <a:spLocks noGrp="1"/>
          </p:cNvSpPr>
          <p:nvPr>
            <p:ph type="body" idx="1"/>
          </p:nvPr>
        </p:nvSpPr>
        <p:spPr>
          <a:xfrm>
            <a:off x="839788" y="1772239"/>
            <a:ext cx="5157787" cy="65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800"/>
              <a:buNone/>
              <a:defRPr sz="2800" b="1">
                <a:solidFill>
                  <a:srgbClr val="0E60AC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sz="2000" b="1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None/>
              <a:defRPr sz="1800" b="1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600"/>
              <a:buNone/>
              <a:defRPr sz="1600" b="1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4" name="Google Shape;164;p5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55"/>
          <p:cNvSpPr txBox="1">
            <a:spLocks noGrp="1"/>
          </p:cNvSpPr>
          <p:nvPr>
            <p:ph type="body" idx="3"/>
          </p:nvPr>
        </p:nvSpPr>
        <p:spPr>
          <a:xfrm>
            <a:off x="6172200" y="1772239"/>
            <a:ext cx="5183188" cy="65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800"/>
              <a:buNone/>
              <a:defRPr sz="2800" b="1">
                <a:solidFill>
                  <a:srgbClr val="0E60AC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sz="2000" b="1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None/>
              <a:defRPr sz="1800" b="1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600"/>
              <a:buNone/>
              <a:defRPr sz="1600" b="1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6" name="Google Shape;166;p5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5"/>
          <p:cNvSpPr txBox="1">
            <a:spLocks noGrp="1"/>
          </p:cNvSpPr>
          <p:nvPr>
            <p:ph type="title"/>
          </p:nvPr>
        </p:nvSpPr>
        <p:spPr>
          <a:xfrm>
            <a:off x="838200" y="886120"/>
            <a:ext cx="851319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6"/>
          <p:cNvSpPr txBox="1">
            <a:spLocks noGrp="1"/>
          </p:cNvSpPr>
          <p:nvPr>
            <p:ph type="title"/>
          </p:nvPr>
        </p:nvSpPr>
        <p:spPr>
          <a:xfrm>
            <a:off x="838200" y="960120"/>
            <a:ext cx="10515600" cy="1931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1">
  <p:cSld name="Picture with Caption 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7"/>
          <p:cNvSpPr/>
          <p:nvPr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4" name="Google Shape;174;p57"/>
          <p:cNvSpPr>
            <a:spLocks noGrp="1"/>
          </p:cNvSpPr>
          <p:nvPr>
            <p:ph type="pic" idx="2"/>
          </p:nvPr>
        </p:nvSpPr>
        <p:spPr>
          <a:xfrm>
            <a:off x="5183188" y="1107481"/>
            <a:ext cx="5900448" cy="4800705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57"/>
          <p:cNvSpPr txBox="1">
            <a:spLocks noGrp="1"/>
          </p:cNvSpPr>
          <p:nvPr>
            <p:ph type="title"/>
          </p:nvPr>
        </p:nvSpPr>
        <p:spPr>
          <a:xfrm>
            <a:off x="802081" y="886379"/>
            <a:ext cx="3751066" cy="1218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  <a:defRPr sz="3200">
                <a:solidFill>
                  <a:srgbClr val="FFC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57"/>
          <p:cNvSpPr txBox="1">
            <a:spLocks noGrp="1"/>
          </p:cNvSpPr>
          <p:nvPr>
            <p:ph type="body" idx="1"/>
          </p:nvPr>
        </p:nvSpPr>
        <p:spPr>
          <a:xfrm>
            <a:off x="802081" y="2264241"/>
            <a:ext cx="3751066" cy="3643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grpSp>
        <p:nvGrpSpPr>
          <p:cNvPr id="178" name="Google Shape;178;p57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79" name="Google Shape;179;p57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80" name="Google Shape;180;p57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2">
  <p:cSld name="Picture with Caption 2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8"/>
          <p:cNvSpPr/>
          <p:nvPr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3" name="Google Shape;183;p58"/>
          <p:cNvSpPr/>
          <p:nvPr/>
        </p:nvSpPr>
        <p:spPr>
          <a:xfrm>
            <a:off x="1350627" y="973603"/>
            <a:ext cx="3777556" cy="26412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4" name="Google Shape;184;p58"/>
          <p:cNvSpPr>
            <a:spLocks noGrp="1"/>
          </p:cNvSpPr>
          <p:nvPr>
            <p:ph type="pic" idx="2"/>
          </p:nvPr>
        </p:nvSpPr>
        <p:spPr>
          <a:xfrm>
            <a:off x="1414021" y="1025025"/>
            <a:ext cx="3640619" cy="251816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58"/>
          <p:cNvSpPr txBox="1">
            <a:spLocks noGrp="1"/>
          </p:cNvSpPr>
          <p:nvPr>
            <p:ph type="title"/>
          </p:nvPr>
        </p:nvSpPr>
        <p:spPr>
          <a:xfrm>
            <a:off x="5817139" y="973603"/>
            <a:ext cx="3571959" cy="1218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  <a:defRPr sz="3200">
                <a:solidFill>
                  <a:srgbClr val="0E60A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58"/>
          <p:cNvSpPr txBox="1">
            <a:spLocks noGrp="1"/>
          </p:cNvSpPr>
          <p:nvPr>
            <p:ph type="body" idx="1"/>
          </p:nvPr>
        </p:nvSpPr>
        <p:spPr>
          <a:xfrm>
            <a:off x="5817139" y="2351465"/>
            <a:ext cx="4740881" cy="380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sz="2000">
                <a:solidFill>
                  <a:srgbClr val="031629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88" name="Google Shape;188;p58"/>
          <p:cNvSpPr/>
          <p:nvPr/>
        </p:nvSpPr>
        <p:spPr>
          <a:xfrm>
            <a:off x="1350627" y="3762265"/>
            <a:ext cx="3777556" cy="26412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9" name="Google Shape;189;p58"/>
          <p:cNvSpPr>
            <a:spLocks noGrp="1"/>
          </p:cNvSpPr>
          <p:nvPr>
            <p:ph type="pic" idx="3"/>
          </p:nvPr>
        </p:nvSpPr>
        <p:spPr>
          <a:xfrm>
            <a:off x="1414021" y="3813687"/>
            <a:ext cx="3640619" cy="251816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90" name="Google Shape;190;p58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91" name="Google Shape;191;p58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92" name="Google Shape;192;p58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5">
  <p:cSld name="Picture with Caption 5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9"/>
          <p:cNvSpPr/>
          <p:nvPr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5" name="Google Shape;195;p59"/>
          <p:cNvSpPr>
            <a:spLocks noGrp="1"/>
          </p:cNvSpPr>
          <p:nvPr>
            <p:ph type="pic" idx="2"/>
          </p:nvPr>
        </p:nvSpPr>
        <p:spPr>
          <a:xfrm>
            <a:off x="569929" y="886379"/>
            <a:ext cx="4888191" cy="5021807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59"/>
          <p:cNvSpPr txBox="1">
            <a:spLocks noGrp="1"/>
          </p:cNvSpPr>
          <p:nvPr>
            <p:ph type="body" idx="1"/>
          </p:nvPr>
        </p:nvSpPr>
        <p:spPr>
          <a:xfrm>
            <a:off x="5918477" y="2264241"/>
            <a:ext cx="5280565" cy="3643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3866"/>
              </a:buClr>
              <a:buSzPts val="2000"/>
              <a:buNone/>
              <a:defRPr sz="2000">
                <a:solidFill>
                  <a:srgbClr val="083866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98" name="Google Shape;198;p59"/>
          <p:cNvSpPr txBox="1">
            <a:spLocks noGrp="1"/>
          </p:cNvSpPr>
          <p:nvPr>
            <p:ph type="title"/>
          </p:nvPr>
        </p:nvSpPr>
        <p:spPr>
          <a:xfrm>
            <a:off x="5918476" y="867524"/>
            <a:ext cx="3470621" cy="1218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  <a:defRPr sz="3200">
                <a:solidFill>
                  <a:srgbClr val="0E60A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9" name="Google Shape;199;p59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200" name="Google Shape;200;p59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201" name="Google Shape;201;p59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Uraian Materi">
  <p:cSld name="Slide Uraian Materi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60"/>
          <p:cNvSpPr txBox="1"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60"/>
          <p:cNvSpPr txBox="1">
            <a:spLocks noGrp="1"/>
          </p:cNvSpPr>
          <p:nvPr>
            <p:ph type="title"/>
          </p:nvPr>
        </p:nvSpPr>
        <p:spPr>
          <a:xfrm>
            <a:off x="838200" y="886120"/>
            <a:ext cx="851319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3">
  <p:cSld name="Picture with Caption 3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1"/>
          <p:cNvSpPr>
            <a:spLocks noGrp="1"/>
          </p:cNvSpPr>
          <p:nvPr>
            <p:ph type="pic" idx="2"/>
          </p:nvPr>
        </p:nvSpPr>
        <p:spPr>
          <a:xfrm>
            <a:off x="770701" y="1762813"/>
            <a:ext cx="3356431" cy="3143468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61"/>
          <p:cNvSpPr>
            <a:spLocks noGrp="1"/>
          </p:cNvSpPr>
          <p:nvPr>
            <p:ph type="pic" idx="3"/>
          </p:nvPr>
        </p:nvSpPr>
        <p:spPr>
          <a:xfrm>
            <a:off x="4518071" y="1762813"/>
            <a:ext cx="3356431" cy="3143468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61"/>
          <p:cNvSpPr>
            <a:spLocks noGrp="1"/>
          </p:cNvSpPr>
          <p:nvPr>
            <p:ph type="pic" idx="4"/>
          </p:nvPr>
        </p:nvSpPr>
        <p:spPr>
          <a:xfrm>
            <a:off x="8265441" y="1762813"/>
            <a:ext cx="3356431" cy="3143468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61"/>
          <p:cNvSpPr txBox="1">
            <a:spLocks noGrp="1"/>
          </p:cNvSpPr>
          <p:nvPr>
            <p:ph type="body" idx="1"/>
          </p:nvPr>
        </p:nvSpPr>
        <p:spPr>
          <a:xfrm>
            <a:off x="770700" y="5090408"/>
            <a:ext cx="3356432" cy="104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sz="2000" b="0">
                <a:solidFill>
                  <a:srgbClr val="031629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61"/>
          <p:cNvSpPr txBox="1">
            <a:spLocks noGrp="1"/>
          </p:cNvSpPr>
          <p:nvPr>
            <p:ph type="body" idx="5"/>
          </p:nvPr>
        </p:nvSpPr>
        <p:spPr>
          <a:xfrm>
            <a:off x="4518071" y="5090408"/>
            <a:ext cx="3356432" cy="104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sz="2000" b="0">
                <a:solidFill>
                  <a:srgbClr val="031629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61"/>
          <p:cNvSpPr txBox="1">
            <a:spLocks noGrp="1"/>
          </p:cNvSpPr>
          <p:nvPr>
            <p:ph type="body" idx="6"/>
          </p:nvPr>
        </p:nvSpPr>
        <p:spPr>
          <a:xfrm>
            <a:off x="8265441" y="5090408"/>
            <a:ext cx="3356432" cy="104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sz="2000" b="0">
                <a:solidFill>
                  <a:srgbClr val="031629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61"/>
          <p:cNvSpPr txBox="1">
            <a:spLocks noGrp="1"/>
          </p:cNvSpPr>
          <p:nvPr>
            <p:ph type="title"/>
          </p:nvPr>
        </p:nvSpPr>
        <p:spPr>
          <a:xfrm>
            <a:off x="770700" y="886120"/>
            <a:ext cx="858069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4">
  <p:cSld name="Picture with Caption 4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2"/>
          <p:cNvSpPr>
            <a:spLocks noGrp="1"/>
          </p:cNvSpPr>
          <p:nvPr>
            <p:ph type="pic" idx="2"/>
          </p:nvPr>
        </p:nvSpPr>
        <p:spPr>
          <a:xfrm>
            <a:off x="1930198" y="933253"/>
            <a:ext cx="8495847" cy="3664345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62"/>
          <p:cNvSpPr txBox="1">
            <a:spLocks noGrp="1"/>
          </p:cNvSpPr>
          <p:nvPr>
            <p:ph type="body" idx="1"/>
          </p:nvPr>
        </p:nvSpPr>
        <p:spPr>
          <a:xfrm>
            <a:off x="1930197" y="4751111"/>
            <a:ext cx="8495850" cy="1451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000"/>
              <a:buNone/>
              <a:defRPr sz="2000" b="0">
                <a:solidFill>
                  <a:srgbClr val="031629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sert Video">
  <p:cSld name="Insert Video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3"/>
          <p:cNvSpPr txBox="1">
            <a:spLocks noGrp="1"/>
          </p:cNvSpPr>
          <p:nvPr>
            <p:ph type="title"/>
          </p:nvPr>
        </p:nvSpPr>
        <p:spPr>
          <a:xfrm>
            <a:off x="2224726" y="404617"/>
            <a:ext cx="7117238" cy="701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63"/>
          <p:cNvSpPr>
            <a:spLocks noGrp="1"/>
          </p:cNvSpPr>
          <p:nvPr>
            <p:ph type="media" idx="2"/>
          </p:nvPr>
        </p:nvSpPr>
        <p:spPr>
          <a:xfrm>
            <a:off x="1576887" y="1319017"/>
            <a:ext cx="9184670" cy="5166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None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lphaLcPeriod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tihan">
  <p:cSld name="Latihan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5"/>
          <p:cNvSpPr txBox="1">
            <a:spLocks noGrp="1"/>
          </p:cNvSpPr>
          <p:nvPr>
            <p:ph type="body" idx="1"/>
          </p:nvPr>
        </p:nvSpPr>
        <p:spPr>
          <a:xfrm>
            <a:off x="838200" y="2139885"/>
            <a:ext cx="10515600" cy="397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6" name="Google Shape;226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7" name="Google Shape;227;p65"/>
          <p:cNvGrpSpPr/>
          <p:nvPr/>
        </p:nvGrpSpPr>
        <p:grpSpPr>
          <a:xfrm>
            <a:off x="838200" y="1108530"/>
            <a:ext cx="5999349" cy="769441"/>
            <a:chOff x="838200" y="1108530"/>
            <a:chExt cx="5999349" cy="769441"/>
          </a:xfrm>
        </p:grpSpPr>
        <p:sp>
          <p:nvSpPr>
            <p:cNvPr id="228" name="Google Shape;228;p65"/>
            <p:cNvSpPr/>
            <p:nvPr/>
          </p:nvSpPr>
          <p:spPr>
            <a:xfrm>
              <a:off x="1282045" y="1255025"/>
              <a:ext cx="5555504" cy="51847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29" name="Google Shape;229;p65"/>
            <p:cNvSpPr/>
            <p:nvPr/>
          </p:nvSpPr>
          <p:spPr>
            <a:xfrm>
              <a:off x="838200" y="1123041"/>
              <a:ext cx="754930" cy="7549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30" name="Google Shape;230;p65"/>
            <p:cNvSpPr/>
            <p:nvPr/>
          </p:nvSpPr>
          <p:spPr>
            <a:xfrm>
              <a:off x="1654410" y="1108530"/>
              <a:ext cx="1923988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1">
                  <a:solidFill>
                    <a:schemeClr val="accent3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Latihan</a:t>
              </a:r>
              <a:endParaRPr sz="4400" b="1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231" name="Google Shape;231;p6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17419" y="1120499"/>
              <a:ext cx="650450" cy="7455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ftar Pustaka">
  <p:cSld name="Daftar Pustaka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4" name="Google Shape;234;p66"/>
          <p:cNvGrpSpPr/>
          <p:nvPr/>
        </p:nvGrpSpPr>
        <p:grpSpPr>
          <a:xfrm>
            <a:off x="838200" y="1096559"/>
            <a:ext cx="5999349" cy="769441"/>
            <a:chOff x="838200" y="569942"/>
            <a:chExt cx="5999349" cy="769441"/>
          </a:xfrm>
        </p:grpSpPr>
        <p:sp>
          <p:nvSpPr>
            <p:cNvPr id="235" name="Google Shape;235;p66"/>
            <p:cNvSpPr/>
            <p:nvPr/>
          </p:nvSpPr>
          <p:spPr>
            <a:xfrm>
              <a:off x="1282045" y="716437"/>
              <a:ext cx="5555504" cy="51847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36" name="Google Shape;236;p66"/>
            <p:cNvSpPr/>
            <p:nvPr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37" name="Google Shape;237;p66"/>
            <p:cNvSpPr/>
            <p:nvPr/>
          </p:nvSpPr>
          <p:spPr>
            <a:xfrm>
              <a:off x="1654410" y="569942"/>
              <a:ext cx="3640740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1">
                  <a:solidFill>
                    <a:schemeClr val="accent3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Daftar Pustaka</a:t>
              </a:r>
              <a:endParaRPr sz="4400" b="1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238" name="Google Shape;238;p6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98017" y="661014"/>
              <a:ext cx="606720" cy="6293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9" name="Google Shape;239;p66"/>
          <p:cNvSpPr txBox="1">
            <a:spLocks noGrp="1"/>
          </p:cNvSpPr>
          <p:nvPr>
            <p:ph type="body" idx="1"/>
          </p:nvPr>
        </p:nvSpPr>
        <p:spPr>
          <a:xfrm>
            <a:off x="838200" y="2139885"/>
            <a:ext cx="10515600" cy="397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rabicPeriod"/>
              <a:defRPr>
                <a:solidFill>
                  <a:srgbClr val="031629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AutoNum type="alphaLcPeriod"/>
              <a:defRPr>
                <a:solidFill>
                  <a:srgbClr val="031629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Char char="•"/>
              <a:defRPr>
                <a:solidFill>
                  <a:srgbClr val="03162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opik (Sebelum U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801277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593182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387656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6387656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179561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9179561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277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801277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593182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3" name="TextBox 22"/>
          <p:cNvSpPr txBox="1"/>
          <p:nvPr userDrawn="1"/>
        </p:nvSpPr>
        <p:spPr>
          <a:xfrm>
            <a:off x="3593182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387656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6387656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 userDrawn="1"/>
        </p:nvSpPr>
        <p:spPr>
          <a:xfrm>
            <a:off x="9179561" y="4139355"/>
            <a:ext cx="18827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Ujian</a:t>
            </a:r>
            <a:r>
              <a:rPr lang="en-US" sz="2400" b="1" dirty="0">
                <a:solidFill>
                  <a:schemeClr val="bg1"/>
                </a:solidFill>
              </a:rPr>
              <a:t> Tengah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Semester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571756" y="804529"/>
            <a:ext cx="38248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/>
              <a:t>Topik</a:t>
            </a:r>
            <a:r>
              <a:rPr lang="en-US" sz="3600" b="1" dirty="0"/>
              <a:t> </a:t>
            </a:r>
            <a:r>
              <a:rPr lang="en-US" sz="3600" b="1" dirty="0" err="1"/>
              <a:t>Sebelum</a:t>
            </a:r>
            <a:r>
              <a:rPr lang="en-US" sz="3600" b="1" dirty="0"/>
              <a:t> UTS</a:t>
            </a:r>
          </a:p>
        </p:txBody>
      </p:sp>
    </p:spTree>
    <p:extLst>
      <p:ext uri="{BB962C8B-B14F-4D97-AF65-F5344CB8AC3E}">
        <p14:creationId xmlns:p14="http://schemas.microsoft.com/office/powerpoint/2010/main" val="2149075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105706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97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b 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824603" y="2217851"/>
            <a:ext cx="5529197" cy="1920647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 err="1"/>
              <a:t>Judul</a:t>
            </a:r>
            <a:br>
              <a:rPr lang="en-US" dirty="0"/>
            </a:br>
            <a:r>
              <a:rPr lang="en-US" dirty="0"/>
              <a:t>Sub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499621"/>
            <a:ext cx="5316718" cy="5856730"/>
          </a:xfrm>
          <a:prstGeom prst="flowChartDelay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2800"/>
            </a:lvl1pPr>
          </a:lstStyle>
          <a:p>
            <a:r>
              <a:rPr lang="en-US" dirty="0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200849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1" name="Google Shape;11;p40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0" y="5470264"/>
            <a:ext cx="12110720" cy="140073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0"/>
          <p:cNvSpPr txBox="1">
            <a:spLocks noGrp="1"/>
          </p:cNvSpPr>
          <p:nvPr>
            <p:ph type="title"/>
          </p:nvPr>
        </p:nvSpPr>
        <p:spPr>
          <a:xfrm>
            <a:off x="838200" y="922585"/>
            <a:ext cx="8547263" cy="70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  <a:defRPr sz="3600" b="1" i="0" u="none" strike="noStrike" cap="none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40"/>
          <p:cNvSpPr txBox="1"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rabicPeriod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lphaLcPeriod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4" name="Google Shape;14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8E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E8E8E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40"/>
          <p:cNvGrpSpPr/>
          <p:nvPr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6" name="Google Shape;16;p40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7" name="Google Shape;17;p40"/>
            <p:cNvPicPr preferRelativeResize="0"/>
            <p:nvPr/>
          </p:nvPicPr>
          <p:blipFill rotWithShape="1">
            <a:blip r:embed="rId29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6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"/>
          <p:cNvSpPr txBox="1">
            <a:spLocks noGrp="1"/>
          </p:cNvSpPr>
          <p:nvPr>
            <p:ph type="title"/>
          </p:nvPr>
        </p:nvSpPr>
        <p:spPr>
          <a:xfrm>
            <a:off x="588969" y="1934409"/>
            <a:ext cx="6385335" cy="202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wentieth Century"/>
              <a:buNone/>
            </a:pPr>
            <a:r>
              <a:rPr lang="en-US" dirty="0"/>
              <a:t>OBJECT ORIENTED PROGRAMMING</a:t>
            </a:r>
          </a:p>
        </p:txBody>
      </p:sp>
      <p:sp>
        <p:nvSpPr>
          <p:cNvPr id="246" name="Google Shape;246;p1"/>
          <p:cNvSpPr txBox="1">
            <a:spLocks noGrp="1"/>
          </p:cNvSpPr>
          <p:nvPr>
            <p:ph type="body" idx="1"/>
          </p:nvPr>
        </p:nvSpPr>
        <p:spPr>
          <a:xfrm>
            <a:off x="588970" y="4703142"/>
            <a:ext cx="6385335" cy="121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GB" dirty="0"/>
              <a:t>Control Statement</a:t>
            </a:r>
          </a:p>
        </p:txBody>
      </p:sp>
      <p:sp>
        <p:nvSpPr>
          <p:cNvPr id="247" name="Google Shape;247;p1"/>
          <p:cNvSpPr txBox="1">
            <a:spLocks noGrp="1"/>
          </p:cNvSpPr>
          <p:nvPr>
            <p:ph type="body" idx="3"/>
          </p:nvPr>
        </p:nvSpPr>
        <p:spPr>
          <a:xfrm>
            <a:off x="588970" y="419808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</a:pPr>
            <a:r>
              <a:rPr lang="en-US" dirty="0" err="1"/>
              <a:t>Sesi</a:t>
            </a:r>
            <a:r>
              <a:rPr lang="en-US" dirty="0"/>
              <a:t> 3</a:t>
            </a:r>
            <a:endParaRPr dirty="0"/>
          </a:p>
        </p:txBody>
      </p:sp>
      <p:sp>
        <p:nvSpPr>
          <p:cNvPr id="248" name="Google Shape;248;p1"/>
          <p:cNvSpPr txBox="1">
            <a:spLocks noGrp="1"/>
          </p:cNvSpPr>
          <p:nvPr>
            <p:ph type="body" idx="4"/>
          </p:nvPr>
        </p:nvSpPr>
        <p:spPr>
          <a:xfrm>
            <a:off x="588969" y="126889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</a:pPr>
            <a:r>
              <a:rPr lang="en-US" dirty="0"/>
              <a:t>CSF308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</a:pPr>
            <a:endParaRPr dirty="0"/>
          </a:p>
        </p:txBody>
      </p:sp>
      <p:pic>
        <p:nvPicPr>
          <p:cNvPr id="32" name="Picture Placeholder 31">
            <a:extLst>
              <a:ext uri="{FF2B5EF4-FFF2-40B4-BE49-F238E27FC236}">
                <a16:creationId xmlns:a16="http://schemas.microsoft.com/office/drawing/2014/main" id="{2B3888CC-8771-40B7-9B7A-F96E663C7BA7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7619" r="17619"/>
          <a:stretch>
            <a:fillRect/>
          </a:stretch>
        </p:blipFill>
        <p:spPr>
          <a:xfrm flipH="1">
            <a:off x="7384744" y="0"/>
            <a:ext cx="4807256" cy="6837218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5727C636-FCAD-4E0F-A617-467F1A8C6FD7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3156" r="13156"/>
          <a:stretch>
            <a:fillRect/>
          </a:stretch>
        </p:blipFill>
        <p:spPr>
          <a:xfrm>
            <a:off x="1746250" y="1843088"/>
            <a:ext cx="3063875" cy="3063875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3" name="Google Shape;253;p2"/>
          <p:cNvSpPr txBox="1">
            <a:spLocks noGrp="1"/>
          </p:cNvSpPr>
          <p:nvPr>
            <p:ph type="body" idx="1"/>
          </p:nvPr>
        </p:nvSpPr>
        <p:spPr>
          <a:xfrm>
            <a:off x="5154979" y="2275496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</a:pP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Dewi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Setiowati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,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A.Md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.,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S.Pd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., </a:t>
            </a:r>
            <a:r>
              <a:rPr lang="en-US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M.Tr.Kom</a:t>
            </a:r>
            <a:r>
              <a:rPr lang="en-US" dirty="0"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  <a:endParaRPr dirty="0"/>
          </a:p>
        </p:txBody>
      </p:sp>
      <p:sp>
        <p:nvSpPr>
          <p:cNvPr id="254" name="Google Shape;254;p2"/>
          <p:cNvSpPr txBox="1">
            <a:spLocks noGrp="1"/>
          </p:cNvSpPr>
          <p:nvPr>
            <p:ph type="body" idx="3"/>
          </p:nvPr>
        </p:nvSpPr>
        <p:spPr>
          <a:xfrm>
            <a:off x="5154979" y="3176643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8413</a:t>
            </a:r>
            <a:endParaRPr/>
          </a:p>
        </p:txBody>
      </p:sp>
      <p:sp>
        <p:nvSpPr>
          <p:cNvPr id="255" name="Google Shape;255;p2"/>
          <p:cNvSpPr txBox="1">
            <a:spLocks noGrp="1"/>
          </p:cNvSpPr>
          <p:nvPr>
            <p:ph type="body" idx="4"/>
          </p:nvPr>
        </p:nvSpPr>
        <p:spPr>
          <a:xfrm>
            <a:off x="5154979" y="4077790"/>
            <a:ext cx="6198821" cy="406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2200"/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dewi.setiowati@esaunggul.ac.id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2BDC101-739F-4807-A2C0-8274E0457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7033"/>
            <a:ext cx="10515600" cy="491394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D" sz="2400" b="1" dirty="0">
                <a:solidFill>
                  <a:schemeClr val="bg2"/>
                </a:solidFill>
              </a:rPr>
              <a:t>VISI​</a:t>
            </a:r>
            <a:endParaRPr lang="en-ID" sz="2400" dirty="0">
              <a:solidFill>
                <a:schemeClr val="bg2"/>
              </a:solidFill>
            </a:endParaRPr>
          </a:p>
          <a:p>
            <a:pPr marL="0" indent="0" algn="ctr">
              <a:buNone/>
            </a:pPr>
            <a:r>
              <a:rPr lang="en-ID" sz="2400" dirty="0" err="1"/>
              <a:t>Menjadi</a:t>
            </a:r>
            <a:r>
              <a:rPr lang="en-ID" sz="2400" dirty="0"/>
              <a:t> </a:t>
            </a:r>
            <a:r>
              <a:rPr lang="en-ID" sz="2400" dirty="0" err="1"/>
              <a:t>perguruan</a:t>
            </a:r>
            <a:r>
              <a:rPr lang="en-ID" sz="2400" dirty="0"/>
              <a:t> </a:t>
            </a:r>
            <a:r>
              <a:rPr lang="en-ID" sz="2400" dirty="0" err="1"/>
              <a:t>tinggi</a:t>
            </a:r>
            <a:r>
              <a:rPr lang="en-ID" sz="2400" dirty="0"/>
              <a:t> </a:t>
            </a:r>
            <a:r>
              <a:rPr lang="en-ID" sz="2400" dirty="0" err="1"/>
              <a:t>kelas</a:t>
            </a:r>
            <a:r>
              <a:rPr lang="en-ID" sz="2400" dirty="0"/>
              <a:t> dunia </a:t>
            </a:r>
            <a:r>
              <a:rPr lang="en-ID" sz="2400" dirty="0" err="1"/>
              <a:t>berbasis</a:t>
            </a:r>
            <a:r>
              <a:rPr lang="en-ID" sz="2400" dirty="0"/>
              <a:t> </a:t>
            </a:r>
            <a:r>
              <a:rPr lang="en-ID" sz="2400" dirty="0" err="1"/>
              <a:t>intelektualitas</a:t>
            </a:r>
            <a:r>
              <a:rPr lang="en-ID" sz="2400" dirty="0"/>
              <a:t>, </a:t>
            </a:r>
            <a:r>
              <a:rPr lang="en-ID" sz="2400" dirty="0" err="1"/>
              <a:t>kreatifitas</a:t>
            </a:r>
            <a:r>
              <a:rPr lang="en-ID" sz="2400" dirty="0"/>
              <a:t> dan </a:t>
            </a:r>
            <a:r>
              <a:rPr lang="en-ID" sz="2400" dirty="0" err="1"/>
              <a:t>kewirausahaan</a:t>
            </a:r>
            <a:r>
              <a:rPr lang="en-ID" sz="2400" dirty="0"/>
              <a:t>, yang </a:t>
            </a:r>
            <a:r>
              <a:rPr lang="en-ID" sz="2400" dirty="0" err="1"/>
              <a:t>unggul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mutu</a:t>
            </a:r>
            <a:r>
              <a:rPr lang="en-ID" sz="2400" dirty="0"/>
              <a:t> </a:t>
            </a:r>
            <a:r>
              <a:rPr lang="en-ID" sz="2400" dirty="0" err="1"/>
              <a:t>pengelolaan</a:t>
            </a:r>
            <a:r>
              <a:rPr lang="en-ID" sz="2400" dirty="0"/>
              <a:t> dan </a:t>
            </a:r>
            <a:r>
              <a:rPr lang="en-ID" sz="2400" dirty="0" err="1"/>
              <a:t>hasil</a:t>
            </a:r>
            <a:r>
              <a:rPr lang="en-ID" sz="2400" dirty="0"/>
              <a:t> </a:t>
            </a:r>
            <a:r>
              <a:rPr lang="en-ID" sz="2400" dirty="0" err="1"/>
              <a:t>pelaksanaan</a:t>
            </a:r>
            <a:r>
              <a:rPr lang="en-ID" sz="2400" dirty="0"/>
              <a:t> </a:t>
            </a:r>
            <a:r>
              <a:rPr lang="en-ID" sz="2400" dirty="0" err="1"/>
              <a:t>Tridarma</a:t>
            </a:r>
            <a:r>
              <a:rPr lang="en-ID" sz="2400" dirty="0"/>
              <a:t> </a:t>
            </a:r>
            <a:r>
              <a:rPr lang="en-ID" sz="2400" dirty="0" err="1"/>
              <a:t>Perguruan</a:t>
            </a:r>
            <a:r>
              <a:rPr lang="en-ID" sz="2400" dirty="0"/>
              <a:t> Tinggi.​</a:t>
            </a:r>
          </a:p>
          <a:p>
            <a:pPr marL="0" indent="0">
              <a:buNone/>
            </a:pPr>
            <a:endParaRPr lang="en-ID" sz="2400" dirty="0"/>
          </a:p>
          <a:p>
            <a:pPr marL="0" indent="0" algn="ctr">
              <a:buNone/>
            </a:pPr>
            <a:r>
              <a:rPr lang="en-ID" sz="2400" b="1" dirty="0">
                <a:solidFill>
                  <a:schemeClr val="bg2"/>
                </a:solidFill>
              </a:rPr>
              <a:t>MISI</a:t>
            </a:r>
            <a:r>
              <a:rPr lang="en-ID" sz="2400" b="1" dirty="0">
                <a:solidFill>
                  <a:schemeClr val="accent6"/>
                </a:solidFill>
              </a:rPr>
              <a:t>​</a:t>
            </a:r>
            <a:endParaRPr lang="en-ID" sz="2400" dirty="0"/>
          </a:p>
          <a:p>
            <a:r>
              <a:rPr lang="en-ID" sz="2400" dirty="0" err="1"/>
              <a:t>Menyelenggarakan</a:t>
            </a:r>
            <a:r>
              <a:rPr lang="en-ID" sz="2400" dirty="0"/>
              <a:t> </a:t>
            </a:r>
            <a:r>
              <a:rPr lang="en-ID" sz="2400" dirty="0" err="1"/>
              <a:t>pendidikan</a:t>
            </a:r>
            <a:r>
              <a:rPr lang="en-ID" sz="2400" dirty="0"/>
              <a:t> </a:t>
            </a:r>
            <a:r>
              <a:rPr lang="en-ID" sz="2400" dirty="0" err="1"/>
              <a:t>tinggi</a:t>
            </a:r>
            <a:r>
              <a:rPr lang="en-ID" sz="2400" dirty="0"/>
              <a:t> yang </a:t>
            </a:r>
            <a:r>
              <a:rPr lang="en-ID" sz="2400" dirty="0" err="1"/>
              <a:t>bermutu</a:t>
            </a:r>
            <a:r>
              <a:rPr lang="en-ID" sz="2400" dirty="0"/>
              <a:t> dan </a:t>
            </a:r>
            <a:r>
              <a:rPr lang="en-ID" sz="2400" dirty="0" err="1"/>
              <a:t>relevan</a:t>
            </a:r>
            <a:r>
              <a:rPr lang="en-ID" sz="2400" dirty="0"/>
              <a:t>​</a:t>
            </a:r>
          </a:p>
          <a:p>
            <a:r>
              <a:rPr lang="en-ID" sz="2400" dirty="0" err="1"/>
              <a:t>Menciptakan</a:t>
            </a:r>
            <a:r>
              <a:rPr lang="en-ID" sz="2400" dirty="0"/>
              <a:t> </a:t>
            </a:r>
            <a:r>
              <a:rPr lang="en-ID" sz="2400" dirty="0" err="1"/>
              <a:t>suasana</a:t>
            </a:r>
            <a:r>
              <a:rPr lang="en-ID" sz="2400" dirty="0"/>
              <a:t> </a:t>
            </a:r>
            <a:r>
              <a:rPr lang="en-ID" sz="2400" dirty="0" err="1"/>
              <a:t>akademik</a:t>
            </a:r>
            <a:r>
              <a:rPr lang="en-ID" sz="2400" dirty="0"/>
              <a:t> yang </a:t>
            </a:r>
            <a:r>
              <a:rPr lang="en-ID" sz="2400" dirty="0" err="1"/>
              <a:t>kondusif</a:t>
            </a:r>
            <a:r>
              <a:rPr lang="en-ID" sz="2400" dirty="0"/>
              <a:t>​</a:t>
            </a:r>
          </a:p>
          <a:p>
            <a:r>
              <a:rPr lang="en-ID" sz="2400" dirty="0" err="1"/>
              <a:t>Memberikan</a:t>
            </a:r>
            <a:r>
              <a:rPr lang="en-ID" sz="2400" dirty="0"/>
              <a:t> </a:t>
            </a:r>
            <a:r>
              <a:rPr lang="en-ID" sz="2400" dirty="0" err="1"/>
              <a:t>pelayanan</a:t>
            </a:r>
            <a:r>
              <a:rPr lang="en-ID" sz="2400" dirty="0"/>
              <a:t> prima </a:t>
            </a:r>
            <a:r>
              <a:rPr lang="en-ID" sz="2400" dirty="0" err="1"/>
              <a:t>kepada</a:t>
            </a:r>
            <a:r>
              <a:rPr lang="en-ID" sz="2400" dirty="0"/>
              <a:t> </a:t>
            </a:r>
            <a:r>
              <a:rPr lang="en-ID" sz="2400" dirty="0" err="1"/>
              <a:t>seluruh</a:t>
            </a:r>
            <a:r>
              <a:rPr lang="en-ID" sz="2400" dirty="0"/>
              <a:t> </a:t>
            </a:r>
            <a:r>
              <a:rPr lang="en-ID" sz="2400" dirty="0" err="1"/>
              <a:t>pemangku</a:t>
            </a:r>
            <a:r>
              <a:rPr lang="en-ID" sz="2400" dirty="0"/>
              <a:t> </a:t>
            </a:r>
            <a:r>
              <a:rPr lang="en-ID" sz="2400" dirty="0" err="1"/>
              <a:t>kepentingan</a:t>
            </a:r>
            <a:r>
              <a:rPr lang="en-ID" sz="2400" dirty="0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46190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>
            <a:spLocks noGrp="1"/>
          </p:cNvSpPr>
          <p:nvPr>
            <p:ph type="title" idx="4294967295"/>
          </p:nvPr>
        </p:nvSpPr>
        <p:spPr>
          <a:xfrm>
            <a:off x="781728" y="1011677"/>
            <a:ext cx="5382282" cy="73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/>
              <a:t>College Contract</a:t>
            </a:r>
            <a:endParaRPr dirty="0"/>
          </a:p>
        </p:txBody>
      </p:sp>
      <p:sp>
        <p:nvSpPr>
          <p:cNvPr id="6" name="Google Shape;278;p6">
            <a:extLst>
              <a:ext uri="{FF2B5EF4-FFF2-40B4-BE49-F238E27FC236}">
                <a16:creationId xmlns:a16="http://schemas.microsoft.com/office/drawing/2014/main" id="{8E5C8D1D-465C-425B-A892-6223D508DE3A}"/>
              </a:ext>
            </a:extLst>
          </p:cNvPr>
          <p:cNvSpPr txBox="1">
            <a:spLocks/>
          </p:cNvSpPr>
          <p:nvPr/>
        </p:nvSpPr>
        <p:spPr>
          <a:xfrm>
            <a:off x="781728" y="1979702"/>
            <a:ext cx="10628544" cy="4313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rabicPeriod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lphaLcPeriod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-457200">
              <a:lnSpc>
                <a:spcPct val="100000"/>
              </a:lnSpc>
              <a:spcBef>
                <a:spcPts val="0"/>
              </a:spcBef>
              <a:buClr>
                <a:srgbClr val="CC9900"/>
              </a:buClr>
              <a:buSzPts val="1300"/>
              <a:buFont typeface="+mj-lt"/>
              <a:buAutoNum type="arabicPeriod"/>
            </a:pPr>
            <a:r>
              <a:rPr lang="en-GB" sz="2400" dirty="0">
                <a:solidFill>
                  <a:srgbClr val="1F2328"/>
                </a:solidFill>
              </a:rPr>
              <a:t>Students are required to attend or join the class on time with a maximum </a:t>
            </a:r>
            <a:r>
              <a:rPr lang="en-GB" sz="2400" b="1" dirty="0">
                <a:solidFill>
                  <a:srgbClr val="FF0000"/>
                </a:solidFill>
              </a:rPr>
              <a:t>delay of 15 minutes</a:t>
            </a:r>
            <a:r>
              <a:rPr lang="en-GB" sz="2400" dirty="0">
                <a:solidFill>
                  <a:srgbClr val="1F2328"/>
                </a:solidFill>
              </a:rPr>
              <a:t>.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Clr>
                <a:srgbClr val="CC9900"/>
              </a:buClr>
              <a:buSzPts val="1300"/>
              <a:buFont typeface="+mj-lt"/>
              <a:buAutoNum type="arabicPeriod"/>
            </a:pPr>
            <a:r>
              <a:rPr lang="en-GB" sz="2400" dirty="0">
                <a:solidFill>
                  <a:srgbClr val="1F2328"/>
                </a:solidFill>
              </a:rPr>
              <a:t>Every student's class is required to do a presence </a:t>
            </a:r>
            <a:r>
              <a:rPr lang="en-GB" sz="2400" b="1" dirty="0">
                <a:solidFill>
                  <a:schemeClr val="bg2"/>
                </a:solidFill>
              </a:rPr>
              <a:t>scan QR Code on SIAKAD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Clr>
                <a:srgbClr val="CC9900"/>
              </a:buClr>
              <a:buSzPts val="1300"/>
              <a:buFont typeface="+mj-lt"/>
              <a:buAutoNum type="arabicPeriod"/>
            </a:pPr>
            <a:r>
              <a:rPr lang="en-GB" sz="2400" dirty="0">
                <a:solidFill>
                  <a:srgbClr val="1F2328"/>
                </a:solidFill>
              </a:rPr>
              <a:t>Students should attend at least 80% of the scheduled lectures to be able to take the Final test.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CC9900"/>
              </a:buClr>
              <a:buSzPts val="1300"/>
              <a:buFont typeface="Twentieth Century"/>
              <a:buNone/>
            </a:pPr>
            <a:endParaRPr lang="en-US" sz="2400" dirty="0">
              <a:solidFill>
                <a:srgbClr val="1F23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839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>
            <a:spLocks noGrp="1"/>
          </p:cNvSpPr>
          <p:nvPr>
            <p:ph type="title" idx="4294967295"/>
          </p:nvPr>
        </p:nvSpPr>
        <p:spPr>
          <a:xfrm>
            <a:off x="781728" y="996554"/>
            <a:ext cx="107313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/>
              <a:t>Assessment</a:t>
            </a:r>
            <a:endParaRPr dirty="0"/>
          </a:p>
        </p:txBody>
      </p:sp>
      <p:sp>
        <p:nvSpPr>
          <p:cNvPr id="6" name="Google Shape;278;p6">
            <a:extLst>
              <a:ext uri="{FF2B5EF4-FFF2-40B4-BE49-F238E27FC236}">
                <a16:creationId xmlns:a16="http://schemas.microsoft.com/office/drawing/2014/main" id="{8E5C8D1D-465C-425B-A892-6223D508DE3A}"/>
              </a:ext>
            </a:extLst>
          </p:cNvPr>
          <p:cNvSpPr txBox="1">
            <a:spLocks/>
          </p:cNvSpPr>
          <p:nvPr/>
        </p:nvSpPr>
        <p:spPr>
          <a:xfrm>
            <a:off x="781728" y="2030966"/>
            <a:ext cx="10628544" cy="318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rabicPeriod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lphaLcPeriod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88900" indent="0" algn="just">
              <a:buNone/>
            </a:pP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Coursework evaluation will be weighted as follows:</a:t>
            </a:r>
          </a:p>
          <a:p>
            <a:pPr marL="88900" indent="0" algn="just">
              <a:buNone/>
            </a:pPr>
            <a:endParaRPr lang="en-ID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Mid-Term Examination 				 			10%</a:t>
            </a:r>
            <a:endParaRPr lang="en-ID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Final Examination 	 				 			10 %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D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Final Project									 50%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Others (class participation 10%,</a:t>
            </a:r>
            <a:r>
              <a:rPr lang="fi-FI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quiz 10%, practical assignments 10%)</a:t>
            </a:r>
            <a:r>
              <a:rPr lang="fi-FI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fi-FI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30 </a:t>
            </a: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en-ID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8900" indent="0">
              <a:buNone/>
            </a:pPr>
            <a:r>
              <a:rPr lang="en-US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Total  									100%</a:t>
            </a:r>
            <a:endParaRPr lang="en-ID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24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tx1"/>
                </a:solidFill>
              </a:rPr>
              <a:t>Introduction to Object Oriented Programming</a:t>
            </a:r>
          </a:p>
          <a:p>
            <a:br>
              <a:rPr lang="en-US" sz="1800" dirty="0"/>
            </a:br>
            <a:endParaRPr lang="en-US" sz="1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sz="1800" b="0" u="none" strike="noStrike" dirty="0">
                <a:solidFill>
                  <a:schemeClr val="tx1"/>
                </a:solidFill>
                <a:effectLst/>
              </a:rPr>
              <a:t>Data Type, Variable, Method and Expression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ID" sz="1800" b="1" u="none" strike="noStrike" dirty="0">
                <a:solidFill>
                  <a:srgbClr val="0070C0"/>
                </a:solidFill>
                <a:effectLst/>
              </a:rPr>
              <a:t>Control Statement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ID" sz="1800" b="0" u="none" strike="noStrike" dirty="0">
                <a:solidFill>
                  <a:srgbClr val="000000"/>
                </a:solidFill>
                <a:effectLst/>
              </a:rPr>
              <a:t>Function and Parameter</a:t>
            </a:r>
            <a:endParaRPr lang="en-US" sz="20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ID" sz="1800" b="0" i="1" u="none" strike="noStrike" dirty="0">
                <a:solidFill>
                  <a:srgbClr val="000000"/>
                </a:solidFill>
                <a:effectLst/>
              </a:rPr>
              <a:t>Encapsulation (Concept)</a:t>
            </a:r>
            <a:endParaRPr lang="en-US" sz="2000" i="1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US" sz="1800" b="0" i="1" u="none" strike="noStrike" dirty="0">
                <a:solidFill>
                  <a:srgbClr val="000000"/>
                </a:solidFill>
                <a:effectLst/>
              </a:rPr>
              <a:t> Implementation Encapsulations In Case Study</a:t>
            </a:r>
            <a:endParaRPr lang="en-US" sz="1900" i="1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en-ID" sz="1800" b="0" i="1" u="none" strike="noStrike" dirty="0">
                <a:solidFill>
                  <a:srgbClr val="000000"/>
                </a:solidFill>
                <a:effectLst/>
              </a:rPr>
              <a:t>Pointer and Memory Management</a:t>
            </a:r>
            <a:endParaRPr lang="en-US" sz="1900" i="1" dirty="0"/>
          </a:p>
        </p:txBody>
      </p:sp>
      <p:sp>
        <p:nvSpPr>
          <p:cNvPr id="9" name="Rectangle 8"/>
          <p:cNvSpPr/>
          <p:nvPr/>
        </p:nvSpPr>
        <p:spPr>
          <a:xfrm>
            <a:off x="6243862" y="1958741"/>
            <a:ext cx="2531165" cy="1588168"/>
          </a:xfrm>
          <a:prstGeom prst="rect">
            <a:avLst/>
          </a:prstGeom>
          <a:noFill/>
          <a:ln w="57150">
            <a:solidFill>
              <a:srgbClr val="0E60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14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"/>
          <p:cNvSpPr txBox="1">
            <a:spLocks noGrp="1"/>
          </p:cNvSpPr>
          <p:nvPr>
            <p:ph type="body" idx="1"/>
          </p:nvPr>
        </p:nvSpPr>
        <p:spPr>
          <a:xfrm>
            <a:off x="801277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 dirty="0">
                <a:solidFill>
                  <a:schemeClr val="tx1"/>
                </a:solidFill>
              </a:rPr>
              <a:t>Inheritance Basic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274" name="Google Shape;274;p4"/>
          <p:cNvSpPr txBox="1">
            <a:spLocks noGrp="1"/>
          </p:cNvSpPr>
          <p:nvPr>
            <p:ph type="body" idx="3"/>
          </p:nvPr>
        </p:nvSpPr>
        <p:spPr>
          <a:xfrm>
            <a:off x="6387656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 dirty="0">
                <a:solidFill>
                  <a:schemeClr val="tx1"/>
                </a:solidFill>
              </a:rPr>
              <a:t>Polymorphism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275" name="Google Shape;275;p4"/>
          <p:cNvSpPr txBox="1">
            <a:spLocks noGrp="1"/>
          </p:cNvSpPr>
          <p:nvPr>
            <p:ph type="body" idx="4"/>
          </p:nvPr>
        </p:nvSpPr>
        <p:spPr>
          <a:xfrm>
            <a:off x="9179561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 dirty="0">
                <a:solidFill>
                  <a:schemeClr val="tx1"/>
                </a:solidFill>
              </a:rPr>
              <a:t>Exception Handling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276" name="Google Shape;276;p4"/>
          <p:cNvSpPr txBox="1">
            <a:spLocks noGrp="1"/>
          </p:cNvSpPr>
          <p:nvPr>
            <p:ph type="body" idx="5"/>
          </p:nvPr>
        </p:nvSpPr>
        <p:spPr>
          <a:xfrm>
            <a:off x="801277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 dirty="0">
                <a:solidFill>
                  <a:schemeClr val="tx1"/>
                </a:solidFill>
              </a:rPr>
              <a:t>Standard Template Library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277" name="Google Shape;277;p4"/>
          <p:cNvSpPr txBox="1">
            <a:spLocks noGrp="1"/>
          </p:cNvSpPr>
          <p:nvPr>
            <p:ph type="body" idx="6"/>
          </p:nvPr>
        </p:nvSpPr>
        <p:spPr>
          <a:xfrm>
            <a:off x="3593182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 dirty="0">
                <a:solidFill>
                  <a:schemeClr val="tx1"/>
                </a:solidFill>
              </a:rPr>
              <a:t>Class Presentation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278" name="Google Shape;278;p4"/>
          <p:cNvSpPr txBox="1">
            <a:spLocks noGrp="1"/>
          </p:cNvSpPr>
          <p:nvPr>
            <p:ph type="body" idx="7"/>
          </p:nvPr>
        </p:nvSpPr>
        <p:spPr>
          <a:xfrm>
            <a:off x="6387656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3866"/>
              </a:buClr>
              <a:buSzPts val="1600"/>
              <a:buNone/>
            </a:pPr>
            <a:r>
              <a:rPr lang="en-US" sz="1800" dirty="0">
                <a:solidFill>
                  <a:schemeClr val="tx1"/>
                </a:solidFill>
              </a:rPr>
              <a:t>Class Presentation and </a:t>
            </a:r>
            <a:r>
              <a:rPr lang="en-US" sz="1800" dirty="0" err="1">
                <a:solidFill>
                  <a:schemeClr val="tx1"/>
                </a:solidFill>
              </a:rPr>
              <a:t>Cource</a:t>
            </a:r>
            <a:r>
              <a:rPr lang="en-US" sz="1800" dirty="0">
                <a:solidFill>
                  <a:schemeClr val="tx1"/>
                </a:solidFill>
              </a:rPr>
              <a:t> Review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3D249-B2EC-4206-8FF3-9388C49AF8B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560766" y="2394949"/>
            <a:ext cx="2243579" cy="932713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Inheritance Details</a:t>
            </a:r>
          </a:p>
          <a:p>
            <a:r>
              <a:rPr lang="en-US" sz="1800" dirty="0">
                <a:solidFill>
                  <a:schemeClr val="tx1"/>
                </a:solidFill>
              </a:rPr>
              <a:t>(Case Study)</a:t>
            </a:r>
            <a:endParaRPr lang="en-ID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"/>
          <p:cNvSpPr txBox="1">
            <a:spLocks noGrp="1"/>
          </p:cNvSpPr>
          <p:nvPr>
            <p:ph type="body" idx="1"/>
          </p:nvPr>
        </p:nvSpPr>
        <p:spPr>
          <a:xfrm>
            <a:off x="838200" y="2139885"/>
            <a:ext cx="10515600" cy="397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1629"/>
              </a:buClr>
              <a:buSzPts val="2200"/>
              <a:buNone/>
            </a:pPr>
            <a:r>
              <a:rPr lang="en-US" b="1" dirty="0"/>
              <a:t>Setelah </a:t>
            </a:r>
            <a:r>
              <a:rPr lang="en-US" b="1" dirty="0" err="1"/>
              <a:t>mempelajari</a:t>
            </a:r>
            <a:r>
              <a:rPr lang="en-US" b="1" dirty="0"/>
              <a:t> </a:t>
            </a:r>
            <a:r>
              <a:rPr lang="en-US" b="1" dirty="0" err="1"/>
              <a:t>materi</a:t>
            </a:r>
            <a:r>
              <a:rPr lang="en-US" b="1" dirty="0"/>
              <a:t> pada </a:t>
            </a:r>
            <a:r>
              <a:rPr lang="en-US" b="1" dirty="0" err="1"/>
              <a:t>pertemuan</a:t>
            </a:r>
            <a:r>
              <a:rPr lang="en-US" b="1" dirty="0"/>
              <a:t> </a:t>
            </a:r>
            <a:r>
              <a:rPr lang="en-US" b="1" dirty="0" err="1"/>
              <a:t>ini</a:t>
            </a:r>
            <a:r>
              <a:rPr lang="en-US" b="1" dirty="0"/>
              <a:t>, </a:t>
            </a:r>
            <a:r>
              <a:rPr lang="en-US" b="1" dirty="0" err="1"/>
              <a:t>diharapkan</a:t>
            </a:r>
            <a:r>
              <a:rPr lang="en-US" b="1" dirty="0"/>
              <a:t> </a:t>
            </a:r>
            <a:r>
              <a:rPr lang="en-US" b="1" dirty="0" err="1"/>
              <a:t>mahasiswa</a:t>
            </a:r>
            <a:r>
              <a:rPr lang="en-US" b="1" dirty="0"/>
              <a:t> :</a:t>
            </a:r>
            <a:endParaRPr dirty="0"/>
          </a:p>
          <a:p>
            <a:pPr marL="914400" lvl="1" indent="-457200" algn="just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rabicPeriod"/>
            </a:pPr>
            <a:r>
              <a:rPr lang="en-US" dirty="0"/>
              <a:t>Mampu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i="1" dirty="0"/>
              <a:t>control statement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Java (NetBeans)</a:t>
            </a:r>
            <a:endParaRPr lang="en-US" i="1" dirty="0"/>
          </a:p>
          <a:p>
            <a:pPr marL="914400" lvl="1" indent="-457200" algn="just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rabicPeriod"/>
            </a:pPr>
            <a:r>
              <a:rPr lang="en-US" dirty="0"/>
              <a:t>Mampu </a:t>
            </a:r>
            <a:r>
              <a:rPr lang="en-US" dirty="0" err="1"/>
              <a:t>membuat</a:t>
            </a:r>
            <a:r>
              <a:rPr lang="en-US" dirty="0"/>
              <a:t> dan </a:t>
            </a:r>
            <a:r>
              <a:rPr lang="en-US" dirty="0" err="1"/>
              <a:t>mengimplementasikan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i="1" dirty="0"/>
              <a:t>control statement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Java (NetBeans)</a:t>
            </a:r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"/>
          <p:cNvSpPr/>
          <p:nvPr/>
        </p:nvSpPr>
        <p:spPr>
          <a:xfrm>
            <a:off x="7255565" y="2120790"/>
            <a:ext cx="4022035" cy="3298703"/>
          </a:xfrm>
          <a:prstGeom prst="rect">
            <a:avLst/>
          </a:prstGeom>
          <a:solidFill>
            <a:srgbClr val="CDE5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6" name="Google Shape;286;p5"/>
          <p:cNvSpPr txBox="1">
            <a:spLocks noGrp="1"/>
          </p:cNvSpPr>
          <p:nvPr>
            <p:ph type="body" idx="1"/>
          </p:nvPr>
        </p:nvSpPr>
        <p:spPr>
          <a:xfrm>
            <a:off x="914400" y="2120791"/>
            <a:ext cx="5902036" cy="398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>
                <a:solidFill>
                  <a:schemeClr val="dk1"/>
                </a:solidFill>
              </a:rPr>
              <a:t>Control Statement </a:t>
            </a:r>
            <a:r>
              <a:rPr lang="en-US" sz="2000" dirty="0" err="1">
                <a:solidFill>
                  <a:schemeClr val="dk1"/>
                </a:solidFill>
              </a:rPr>
              <a:t>adalah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b="0" dirty="0" err="1">
                <a:solidFill>
                  <a:srgbClr val="1F2328"/>
                </a:solidFill>
                <a:effectLst/>
              </a:rPr>
              <a:t>suatu</a:t>
            </a:r>
            <a:r>
              <a:rPr lang="en-US" sz="2000" b="0" dirty="0">
                <a:solidFill>
                  <a:srgbClr val="1F2328"/>
                </a:solidFill>
                <a:effectLst/>
              </a:rPr>
              <a:t> </a:t>
            </a:r>
            <a:r>
              <a:rPr lang="en-US" sz="2000" b="0" dirty="0" err="1">
                <a:solidFill>
                  <a:srgbClr val="1F2328"/>
                </a:solidFill>
                <a:effectLst/>
              </a:rPr>
              <a:t>pemilihan</a:t>
            </a:r>
            <a:r>
              <a:rPr lang="en-US" sz="2000" b="0" dirty="0">
                <a:solidFill>
                  <a:srgbClr val="1F2328"/>
                </a:solidFill>
                <a:effectLst/>
              </a:rPr>
              <a:t> statement yang </a:t>
            </a:r>
            <a:r>
              <a:rPr lang="en-US" sz="2000" b="0" dirty="0" err="1">
                <a:solidFill>
                  <a:srgbClr val="1F2328"/>
                </a:solidFill>
                <a:effectLst/>
              </a:rPr>
              <a:t>akan</a:t>
            </a:r>
            <a:r>
              <a:rPr lang="en-US" sz="2000" b="0" dirty="0">
                <a:solidFill>
                  <a:srgbClr val="1F2328"/>
                </a:solidFill>
                <a:effectLst/>
              </a:rPr>
              <a:t> </a:t>
            </a:r>
            <a:r>
              <a:rPr lang="en-US" sz="2000" b="0" dirty="0" err="1">
                <a:solidFill>
                  <a:srgbClr val="1F2328"/>
                </a:solidFill>
                <a:effectLst/>
              </a:rPr>
              <a:t>dieksekusi</a:t>
            </a:r>
            <a:r>
              <a:rPr lang="en-US" sz="2000" b="0" dirty="0">
                <a:solidFill>
                  <a:srgbClr val="1F2328"/>
                </a:solidFill>
                <a:effectLst/>
              </a:rPr>
              <a:t> </a:t>
            </a:r>
            <a:r>
              <a:rPr lang="en-US" sz="2000" b="0" dirty="0" err="1">
                <a:solidFill>
                  <a:srgbClr val="1F2328"/>
                </a:solidFill>
                <a:effectLst/>
              </a:rPr>
              <a:t>dimana</a:t>
            </a:r>
            <a:r>
              <a:rPr lang="en-US" sz="2000" b="0" dirty="0">
                <a:solidFill>
                  <a:srgbClr val="1F2328"/>
                </a:solidFill>
                <a:effectLst/>
              </a:rPr>
              <a:t> </a:t>
            </a:r>
            <a:r>
              <a:rPr lang="en-US" sz="2000" b="0" dirty="0" err="1">
                <a:solidFill>
                  <a:srgbClr val="1F2328"/>
                </a:solidFill>
                <a:effectLst/>
              </a:rPr>
              <a:t>pemilihan</a:t>
            </a:r>
            <a:r>
              <a:rPr lang="en-US" sz="2000" b="0" dirty="0">
                <a:solidFill>
                  <a:srgbClr val="1F2328"/>
                </a:solidFill>
                <a:effectLst/>
              </a:rPr>
              <a:t> </a:t>
            </a:r>
            <a:r>
              <a:rPr lang="en-US" sz="2000" b="0" dirty="0" err="1">
                <a:solidFill>
                  <a:srgbClr val="1F2328"/>
                </a:solidFill>
                <a:effectLst/>
              </a:rPr>
              <a:t>tersebut</a:t>
            </a:r>
            <a:r>
              <a:rPr lang="en-US" sz="2000" b="0" dirty="0">
                <a:solidFill>
                  <a:srgbClr val="1F2328"/>
                </a:solidFill>
                <a:effectLst/>
              </a:rPr>
              <a:t> </a:t>
            </a:r>
            <a:r>
              <a:rPr lang="en-US" sz="2000" b="0" dirty="0" err="1">
                <a:solidFill>
                  <a:srgbClr val="1F2328"/>
                </a:solidFill>
                <a:effectLst/>
              </a:rPr>
              <a:t>didasarkan</a:t>
            </a:r>
            <a:r>
              <a:rPr lang="en-US" sz="2000" b="0" dirty="0">
                <a:solidFill>
                  <a:srgbClr val="1F2328"/>
                </a:solidFill>
                <a:effectLst/>
              </a:rPr>
              <a:t> </a:t>
            </a:r>
            <a:r>
              <a:rPr lang="en-US" sz="2000" b="0" dirty="0" err="1">
                <a:solidFill>
                  <a:srgbClr val="1F2328"/>
                </a:solidFill>
                <a:effectLst/>
              </a:rPr>
              <a:t>atas</a:t>
            </a:r>
            <a:r>
              <a:rPr lang="en-US" sz="2000" b="0" dirty="0">
                <a:solidFill>
                  <a:srgbClr val="1F2328"/>
                </a:solidFill>
                <a:effectLst/>
              </a:rPr>
              <a:t> </a:t>
            </a:r>
            <a:r>
              <a:rPr lang="en-US" sz="2000" b="0" dirty="0" err="1">
                <a:solidFill>
                  <a:srgbClr val="1F2328"/>
                </a:solidFill>
                <a:effectLst/>
              </a:rPr>
              <a:t>kondisi</a:t>
            </a:r>
            <a:r>
              <a:rPr lang="en-US" sz="2000" b="0" dirty="0">
                <a:solidFill>
                  <a:srgbClr val="1F2328"/>
                </a:solidFill>
                <a:effectLst/>
              </a:rPr>
              <a:t> </a:t>
            </a:r>
            <a:r>
              <a:rPr lang="en-US" sz="2000" b="0" dirty="0" err="1">
                <a:solidFill>
                  <a:srgbClr val="1F2328"/>
                </a:solidFill>
                <a:effectLst/>
              </a:rPr>
              <a:t>tertentu</a:t>
            </a:r>
            <a:r>
              <a:rPr lang="en-US" sz="2000" b="0" dirty="0">
                <a:solidFill>
                  <a:srgbClr val="1F2328"/>
                </a:solidFill>
                <a:effectLst/>
              </a:rPr>
              <a:t>. Statement control </a:t>
            </a:r>
            <a:r>
              <a:rPr lang="en-US" sz="2000" b="0" dirty="0" err="1">
                <a:solidFill>
                  <a:srgbClr val="1F2328"/>
                </a:solidFill>
                <a:effectLst/>
              </a:rPr>
              <a:t>berfungsi</a:t>
            </a:r>
            <a:r>
              <a:rPr lang="en-US" sz="2000" b="0" dirty="0">
                <a:solidFill>
                  <a:srgbClr val="1F2328"/>
                </a:solidFill>
                <a:effectLst/>
              </a:rPr>
              <a:t> </a:t>
            </a:r>
            <a:r>
              <a:rPr lang="en-US" sz="2000" b="0" dirty="0" err="1">
                <a:solidFill>
                  <a:srgbClr val="1F2328"/>
                </a:solidFill>
                <a:effectLst/>
              </a:rPr>
              <a:t>untuk</a:t>
            </a:r>
            <a:r>
              <a:rPr lang="en-US" sz="2000" b="0" dirty="0">
                <a:solidFill>
                  <a:srgbClr val="1F2328"/>
                </a:solidFill>
                <a:effectLst/>
              </a:rPr>
              <a:t> </a:t>
            </a:r>
            <a:r>
              <a:rPr lang="en-US" sz="2000" b="0" dirty="0" err="1">
                <a:solidFill>
                  <a:srgbClr val="1F2328"/>
                </a:solidFill>
                <a:effectLst/>
              </a:rPr>
              <a:t>mengendalikan</a:t>
            </a:r>
            <a:r>
              <a:rPr lang="en-US" sz="2000" b="0" dirty="0">
                <a:solidFill>
                  <a:srgbClr val="1F2328"/>
                </a:solidFill>
                <a:effectLst/>
              </a:rPr>
              <a:t> </a:t>
            </a:r>
            <a:r>
              <a:rPr lang="en-US" sz="2000" b="0" dirty="0" err="1">
                <a:solidFill>
                  <a:srgbClr val="1F2328"/>
                </a:solidFill>
                <a:effectLst/>
              </a:rPr>
              <a:t>jalannya</a:t>
            </a:r>
            <a:r>
              <a:rPr lang="en-US" sz="2000" b="0" dirty="0">
                <a:solidFill>
                  <a:srgbClr val="1F2328"/>
                </a:solidFill>
                <a:effectLst/>
              </a:rPr>
              <a:t> </a:t>
            </a:r>
            <a:r>
              <a:rPr lang="en-US" sz="2000" b="0" dirty="0" err="1">
                <a:solidFill>
                  <a:srgbClr val="1F2328"/>
                </a:solidFill>
                <a:effectLst/>
              </a:rPr>
              <a:t>alur</a:t>
            </a:r>
            <a:r>
              <a:rPr lang="en-US" sz="2000" b="0" dirty="0">
                <a:solidFill>
                  <a:srgbClr val="1F2328"/>
                </a:solidFill>
                <a:effectLst/>
              </a:rPr>
              <a:t> program.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solidFill>
                  <a:schemeClr val="dk1"/>
                </a:solidFill>
              </a:rPr>
              <a:t>Pada </a:t>
            </a:r>
            <a:r>
              <a:rPr lang="en-US" sz="2000" dirty="0" err="1">
                <a:solidFill>
                  <a:schemeClr val="dk1"/>
                </a:solidFill>
              </a:rPr>
              <a:t>pengontrol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alur</a:t>
            </a:r>
            <a:r>
              <a:rPr lang="en-US" sz="2000" dirty="0">
                <a:solidFill>
                  <a:schemeClr val="dk1"/>
                </a:solidFill>
              </a:rPr>
              <a:t> program </a:t>
            </a:r>
            <a:r>
              <a:rPr lang="en-US" sz="2000" dirty="0" err="1">
                <a:solidFill>
                  <a:schemeClr val="dk1"/>
                </a:solidFill>
              </a:rPr>
              <a:t>dengan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pengkondisian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ini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terdapat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dua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macam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cara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yaitu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dengan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menggunakan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b="1" dirty="0">
                <a:solidFill>
                  <a:schemeClr val="dk1"/>
                </a:solidFill>
              </a:rPr>
              <a:t>if – else </a:t>
            </a:r>
            <a:r>
              <a:rPr lang="en-US" sz="2000" dirty="0" err="1">
                <a:solidFill>
                  <a:schemeClr val="dk1"/>
                </a:solidFill>
              </a:rPr>
              <a:t>atau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dengan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menggunakan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b="1" dirty="0">
                <a:solidFill>
                  <a:schemeClr val="dk1"/>
                </a:solidFill>
              </a:rPr>
              <a:t>switch – break</a:t>
            </a:r>
            <a:r>
              <a:rPr lang="en-US" sz="2000" dirty="0">
                <a:solidFill>
                  <a:schemeClr val="dk1"/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C3D159-D2F7-49DA-9DD3-12C5555F4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497" y="2329457"/>
            <a:ext cx="3052170" cy="28813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3091" y="2770001"/>
            <a:ext cx="5529197" cy="1782950"/>
          </a:xfrm>
        </p:spPr>
        <p:txBody>
          <a:bodyPr>
            <a:normAutofit fontScale="9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inherit"/>
              </a:rPr>
              <a:t>CONTROL STATEMENT</a:t>
            </a:r>
            <a:endParaRPr kumimoji="0" lang="en-US" altLang="en-US" sz="480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CFA13097-461B-5BB9-C632-F5737CED446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1" b="4861"/>
          <a:stretch/>
        </p:blipFill>
        <p:spPr/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C2653707-A292-45E5-8049-09CA0005A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7728"/>
            <a:ext cx="65" cy="24174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7457" rIns="0" bIns="-1745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737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"/>
          <p:cNvSpPr txBox="1">
            <a:spLocks noGrp="1"/>
          </p:cNvSpPr>
          <p:nvPr>
            <p:ph type="title"/>
          </p:nvPr>
        </p:nvSpPr>
        <p:spPr>
          <a:xfrm>
            <a:off x="856995" y="962016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PEMILIHAN / PERCABANGAN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47A8FE-1A9F-4D92-B49A-49BBBE0A3B42}"/>
              </a:ext>
            </a:extLst>
          </p:cNvPr>
          <p:cNvSpPr txBox="1"/>
          <p:nvPr/>
        </p:nvSpPr>
        <p:spPr>
          <a:xfrm>
            <a:off x="1657349" y="2098913"/>
            <a:ext cx="7860723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b="1" dirty="0">
                <a:solidFill>
                  <a:schemeClr val="tx1"/>
                </a:solidFill>
                <a:latin typeface="Twentieth Century"/>
                <a:ea typeface="PMingLiU" charset="-120"/>
              </a:rPr>
              <a:t>IF</a:t>
            </a:r>
            <a:r>
              <a:rPr lang="en-US" altLang="zh-TW" sz="2000" dirty="0">
                <a:solidFill>
                  <a:schemeClr val="tx1"/>
                </a:solidFill>
                <a:latin typeface="Twentieth Century"/>
                <a:ea typeface="PMingLiU" charset="-120"/>
              </a:rPr>
              <a:t> statement</a:t>
            </a:r>
          </a:p>
          <a:p>
            <a:pPr marL="966788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chemeClr val="tx1"/>
                </a:solidFill>
                <a:latin typeface="Twentieth Century"/>
                <a:ea typeface="PMingLiU" charset="-120"/>
              </a:rPr>
              <a:t>Satu </a:t>
            </a:r>
            <a:r>
              <a:rPr lang="en-US" altLang="zh-TW" sz="20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kondisi</a:t>
            </a:r>
            <a:endParaRPr lang="en-US" altLang="zh-TW" sz="2000" dirty="0">
              <a:solidFill>
                <a:schemeClr val="tx1"/>
              </a:solidFill>
              <a:latin typeface="Twentieth Century"/>
              <a:ea typeface="PMingLiU" charset="-120"/>
            </a:endParaRPr>
          </a:p>
          <a:p>
            <a:pPr marL="966788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Dua</a:t>
            </a:r>
            <a:r>
              <a:rPr lang="en-US" altLang="zh-TW" sz="2000" dirty="0">
                <a:solidFill>
                  <a:schemeClr val="tx1"/>
                </a:solidFill>
                <a:latin typeface="Twentieth Century"/>
                <a:ea typeface="PMingLiU" charset="-120"/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Kondisi</a:t>
            </a:r>
            <a:endParaRPr lang="en-US" altLang="zh-TW" sz="2000" dirty="0">
              <a:solidFill>
                <a:schemeClr val="tx1"/>
              </a:solidFill>
              <a:latin typeface="Twentieth Century"/>
              <a:ea typeface="PMingLiU" charset="-120"/>
            </a:endParaRPr>
          </a:p>
          <a:p>
            <a:pPr marL="966788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chemeClr val="tx1"/>
                </a:solidFill>
                <a:latin typeface="Twentieth Century"/>
                <a:ea typeface="PMingLiU" charset="-120"/>
              </a:rPr>
              <a:t>Banyak </a:t>
            </a:r>
            <a:r>
              <a:rPr lang="en-US" altLang="zh-TW" sz="20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kondisi</a:t>
            </a:r>
            <a:r>
              <a:rPr lang="en-US" altLang="zh-TW" sz="2000" dirty="0">
                <a:solidFill>
                  <a:schemeClr val="tx1"/>
                </a:solidFill>
                <a:latin typeface="Twentieth Century"/>
                <a:ea typeface="PMingLiU" charset="-120"/>
              </a:rPr>
              <a:t> (3 </a:t>
            </a:r>
            <a:r>
              <a:rPr lang="en-US" altLang="zh-TW" sz="20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kondisi</a:t>
            </a:r>
            <a:r>
              <a:rPr lang="en-US" altLang="zh-TW" sz="2000" dirty="0">
                <a:solidFill>
                  <a:schemeClr val="tx1"/>
                </a:solidFill>
                <a:latin typeface="Twentieth Century"/>
                <a:ea typeface="PMingLiU" charset="-120"/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atau</a:t>
            </a:r>
            <a:r>
              <a:rPr lang="en-US" altLang="zh-TW" sz="2000" dirty="0">
                <a:solidFill>
                  <a:schemeClr val="tx1"/>
                </a:solidFill>
                <a:latin typeface="Twentieth Century"/>
                <a:ea typeface="PMingLiU" charset="-120"/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  <a:latin typeface="Twentieth Century"/>
                <a:ea typeface="PMingLiU" charset="-120"/>
              </a:rPr>
              <a:t>lebih</a:t>
            </a:r>
            <a:r>
              <a:rPr lang="en-US" altLang="zh-TW" sz="2000" dirty="0">
                <a:solidFill>
                  <a:schemeClr val="tx1"/>
                </a:solidFill>
                <a:latin typeface="Twentieth Century"/>
                <a:ea typeface="PMingLiU" charset="-120"/>
              </a:rPr>
              <a:t>)</a:t>
            </a:r>
          </a:p>
          <a:p>
            <a:pPr marL="3429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b="1" dirty="0">
                <a:solidFill>
                  <a:schemeClr val="tx1"/>
                </a:solidFill>
                <a:latin typeface="Twentieth Century"/>
                <a:ea typeface="PMingLiU" charset="-120"/>
              </a:rPr>
              <a:t>Switch</a:t>
            </a:r>
            <a:r>
              <a:rPr lang="en-US" altLang="zh-TW" sz="2000" dirty="0">
                <a:solidFill>
                  <a:schemeClr val="tx1"/>
                </a:solidFill>
                <a:latin typeface="Twentieth Century"/>
                <a:ea typeface="PMingLiU" charset="-120"/>
              </a:rPr>
              <a:t> statement </a:t>
            </a:r>
            <a:endParaRPr lang="en-US" altLang="zh-TW" sz="2000" b="1" dirty="0">
              <a:solidFill>
                <a:schemeClr val="tx1"/>
              </a:solidFill>
              <a:latin typeface="Twentieth Century"/>
              <a:ea typeface="PMingLiU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4" y="854043"/>
            <a:ext cx="11181835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STATEMENT IF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A81FDA-DFF3-4971-B8A2-DECA69C26D93}"/>
              </a:ext>
            </a:extLst>
          </p:cNvPr>
          <p:cNvSpPr txBox="1">
            <a:spLocks/>
          </p:cNvSpPr>
          <p:nvPr/>
        </p:nvSpPr>
        <p:spPr>
          <a:xfrm>
            <a:off x="2324100" y="2520315"/>
            <a:ext cx="7543800" cy="1817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rabicPeriod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Twentieth Century"/>
              <a:buAutoNum type="alphaLcPeriod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1629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31629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274320" lvl="1" indent="0" algn="ctr">
              <a:buFont typeface="Twentieth Century"/>
              <a:buNone/>
            </a:pPr>
            <a:r>
              <a:rPr lang="en-US" altLang="zh-TW" sz="4500" dirty="0">
                <a:latin typeface="Freestyle Script" panose="030804020302050B0404" pitchFamily="66" charset="0"/>
                <a:ea typeface="PMingLiU" charset="-120"/>
              </a:rPr>
              <a:t>Jika </a:t>
            </a:r>
            <a:r>
              <a:rPr lang="en-US" altLang="zh-TW" sz="4500" dirty="0" err="1">
                <a:latin typeface="Freestyle Script" panose="030804020302050B0404" pitchFamily="66" charset="0"/>
                <a:ea typeface="PMingLiU" charset="-120"/>
              </a:rPr>
              <a:t>Azka</a:t>
            </a:r>
            <a:r>
              <a:rPr lang="en-US" altLang="zh-TW" sz="4500" dirty="0">
                <a:latin typeface="Freestyle Script" panose="030804020302050B0404" pitchFamily="66" charset="0"/>
                <a:ea typeface="PMingLiU" charset="-120"/>
              </a:rPr>
              <a:t> </a:t>
            </a:r>
            <a:r>
              <a:rPr lang="en-US" altLang="zh-TW" sz="4500" dirty="0" err="1">
                <a:latin typeface="Freestyle Script" panose="030804020302050B0404" pitchFamily="66" charset="0"/>
                <a:ea typeface="PMingLiU" charset="-120"/>
              </a:rPr>
              <a:t>pergi</a:t>
            </a:r>
            <a:r>
              <a:rPr lang="en-US" altLang="zh-TW" sz="4500" dirty="0">
                <a:latin typeface="Freestyle Script" panose="030804020302050B0404" pitchFamily="66" charset="0"/>
                <a:ea typeface="PMingLiU" charset="-120"/>
              </a:rPr>
              <a:t> </a:t>
            </a:r>
            <a:r>
              <a:rPr lang="en-US" altLang="zh-TW" sz="4500" dirty="0" err="1">
                <a:latin typeface="Freestyle Script" panose="030804020302050B0404" pitchFamily="66" charset="0"/>
                <a:ea typeface="PMingLiU" charset="-120"/>
              </a:rPr>
              <a:t>ke</a:t>
            </a:r>
            <a:r>
              <a:rPr lang="en-US" altLang="zh-TW" sz="4500" dirty="0">
                <a:latin typeface="Freestyle Script" panose="030804020302050B0404" pitchFamily="66" charset="0"/>
                <a:ea typeface="PMingLiU" charset="-120"/>
              </a:rPr>
              <a:t> </a:t>
            </a:r>
            <a:r>
              <a:rPr lang="en-US" altLang="zh-TW" sz="4500" dirty="0" err="1">
                <a:latin typeface="Freestyle Script" panose="030804020302050B0404" pitchFamily="66" charset="0"/>
                <a:ea typeface="PMingLiU" charset="-120"/>
              </a:rPr>
              <a:t>Kampus</a:t>
            </a:r>
            <a:r>
              <a:rPr lang="en-US" altLang="zh-TW" sz="4500" dirty="0">
                <a:latin typeface="Freestyle Script" panose="030804020302050B0404" pitchFamily="66" charset="0"/>
                <a:ea typeface="PMingLiU" charset="-120"/>
              </a:rPr>
              <a:t> HI, </a:t>
            </a:r>
            <a:r>
              <a:rPr lang="en-US" altLang="zh-TW" sz="4500" dirty="0" err="1">
                <a:latin typeface="Freestyle Script" panose="030804020302050B0404" pitchFamily="66" charset="0"/>
                <a:ea typeface="PMingLiU" charset="-120"/>
              </a:rPr>
              <a:t>maka</a:t>
            </a:r>
            <a:r>
              <a:rPr lang="en-US" altLang="zh-TW" sz="4500" dirty="0">
                <a:latin typeface="Freestyle Script" panose="030804020302050B0404" pitchFamily="66" charset="0"/>
                <a:ea typeface="PMingLiU" charset="-120"/>
              </a:rPr>
              <a:t> </a:t>
            </a:r>
            <a:r>
              <a:rPr lang="en-US" altLang="zh-TW" sz="4500" dirty="0" err="1">
                <a:latin typeface="Freestyle Script" panose="030804020302050B0404" pitchFamily="66" charset="0"/>
                <a:ea typeface="PMingLiU" charset="-120"/>
              </a:rPr>
              <a:t>Azka</a:t>
            </a:r>
            <a:r>
              <a:rPr lang="en-US" altLang="zh-TW" sz="4500" dirty="0">
                <a:latin typeface="Freestyle Script" panose="030804020302050B0404" pitchFamily="66" charset="0"/>
                <a:ea typeface="PMingLiU" charset="-120"/>
              </a:rPr>
              <a:t> </a:t>
            </a:r>
            <a:r>
              <a:rPr lang="en-US" altLang="zh-TW" sz="4500" dirty="0" err="1">
                <a:latin typeface="Freestyle Script" panose="030804020302050B0404" pitchFamily="66" charset="0"/>
                <a:ea typeface="PMingLiU" charset="-120"/>
              </a:rPr>
              <a:t>akan</a:t>
            </a:r>
            <a:r>
              <a:rPr lang="en-US" altLang="zh-TW" sz="4500" dirty="0">
                <a:latin typeface="Freestyle Script" panose="030804020302050B0404" pitchFamily="66" charset="0"/>
                <a:ea typeface="PMingLiU" charset="-120"/>
              </a:rPr>
              <a:t> </a:t>
            </a:r>
            <a:r>
              <a:rPr lang="en-US" altLang="zh-TW" sz="4500" dirty="0" err="1">
                <a:latin typeface="Freestyle Script" panose="030804020302050B0404" pitchFamily="66" charset="0"/>
                <a:ea typeface="PMingLiU" charset="-120"/>
              </a:rPr>
              <a:t>masuk</a:t>
            </a:r>
            <a:r>
              <a:rPr lang="en-US" altLang="zh-TW" sz="4500" dirty="0">
                <a:latin typeface="Freestyle Script" panose="030804020302050B0404" pitchFamily="66" charset="0"/>
                <a:ea typeface="PMingLiU" charset="-120"/>
              </a:rPr>
              <a:t> </a:t>
            </a:r>
            <a:r>
              <a:rPr lang="en-US" altLang="zh-TW" sz="4500" dirty="0" err="1">
                <a:latin typeface="Freestyle Script" panose="030804020302050B0404" pitchFamily="66" charset="0"/>
                <a:ea typeface="PMingLiU" charset="-120"/>
              </a:rPr>
              <a:t>ruang</a:t>
            </a:r>
            <a:r>
              <a:rPr lang="en-US" altLang="zh-TW" sz="4500" dirty="0">
                <a:latin typeface="Freestyle Script" panose="030804020302050B0404" pitchFamily="66" charset="0"/>
                <a:ea typeface="PMingLiU" charset="-120"/>
              </a:rPr>
              <a:t> KHIB303</a:t>
            </a:r>
            <a:endParaRPr lang="en-US" altLang="zh-TW" sz="4500" b="1" dirty="0">
              <a:latin typeface="Freestyle Script" panose="030804020302050B0404" pitchFamily="66" charset="0"/>
              <a:ea typeface="PMingLiU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"/>
          <p:cNvSpPr txBox="1">
            <a:spLocks noGrp="1"/>
          </p:cNvSpPr>
          <p:nvPr>
            <p:ph type="body" idx="1"/>
          </p:nvPr>
        </p:nvSpPr>
        <p:spPr>
          <a:xfrm>
            <a:off x="251791" y="1874408"/>
            <a:ext cx="4373269" cy="373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 b="1" dirty="0">
                <a:latin typeface="Twentieth Century"/>
                <a:ea typeface="Twentieth Century"/>
                <a:cs typeface="Twentieth Century"/>
                <a:sym typeface="Twentieth Century"/>
              </a:rPr>
              <a:t>SATU </a:t>
            </a:r>
            <a:r>
              <a:rPr lang="en-US" sz="2400" b="1" dirty="0" err="1">
                <a:latin typeface="Twentieth Century"/>
                <a:ea typeface="Twentieth Century"/>
                <a:cs typeface="Twentieth Century"/>
                <a:sym typeface="Twentieth Century"/>
              </a:rPr>
              <a:t>Kondisi</a:t>
            </a:r>
            <a:r>
              <a:rPr lang="en-US" sz="2400" b="1" dirty="0">
                <a:latin typeface="Twentieth Century"/>
                <a:ea typeface="Twentieth Century"/>
                <a:cs typeface="Twentieth Century"/>
                <a:sym typeface="Twentieth Century"/>
              </a:rPr>
              <a:t> (IF)</a:t>
            </a:r>
            <a:endParaRPr lang="en-US" sz="24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lang="en-US" sz="2800" dirty="0"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sz="2800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371C6E4E-9620-460F-8207-35F5D148DD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539"/>
          <a:stretch>
            <a:fillRect/>
          </a:stretch>
        </p:blipFill>
        <p:spPr>
          <a:xfrm>
            <a:off x="6593955" y="733489"/>
            <a:ext cx="3568354" cy="53910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8073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SATU KONDISI (IF)</a:t>
            </a:r>
          </a:p>
        </p:txBody>
      </p:sp>
      <p:sp>
        <p:nvSpPr>
          <p:cNvPr id="6" name="Google Shape;272;p5">
            <a:extLst>
              <a:ext uri="{FF2B5EF4-FFF2-40B4-BE49-F238E27FC236}">
                <a16:creationId xmlns:a16="http://schemas.microsoft.com/office/drawing/2014/main" id="{DCF7E257-1203-489C-90C4-FCAC5696CBF5}"/>
              </a:ext>
            </a:extLst>
          </p:cNvPr>
          <p:cNvSpPr txBox="1">
            <a:spLocks/>
          </p:cNvSpPr>
          <p:nvPr/>
        </p:nvSpPr>
        <p:spPr>
          <a:xfrm>
            <a:off x="821568" y="1399358"/>
            <a:ext cx="10515600" cy="510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2400" dirty="0" err="1">
                <a:latin typeface="Twentieth Century"/>
              </a:rPr>
              <a:t>Apabila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hanya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terdiri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satu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statement</a:t>
            </a:r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r>
              <a:rPr lang="fr-FR" sz="2400" dirty="0">
                <a:latin typeface="Twentieth Century"/>
              </a:rPr>
              <a:t>	</a:t>
            </a:r>
            <a:endParaRPr lang="fr-FR" sz="2400" b="1" dirty="0">
              <a:latin typeface="Twentieth Century"/>
            </a:endParaRPr>
          </a:p>
          <a:p>
            <a:pPr algn="just"/>
            <a:endParaRPr lang="fr-FR" sz="2400" b="1" dirty="0">
              <a:latin typeface="Twentieth Century"/>
            </a:endParaRPr>
          </a:p>
          <a:p>
            <a:pPr algn="just"/>
            <a:r>
              <a:rPr lang="fr-FR" sz="2400" dirty="0" err="1">
                <a:latin typeface="Twentieth Century"/>
              </a:rPr>
              <a:t>Apabila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terdiri</a:t>
            </a:r>
            <a:r>
              <a:rPr lang="fr-FR" sz="2400" dirty="0">
                <a:latin typeface="Twentieth Century"/>
              </a:rPr>
              <a:t> dari </a:t>
            </a:r>
            <a:r>
              <a:rPr lang="fr-FR" sz="2400" dirty="0" err="1">
                <a:latin typeface="Twentieth Century"/>
              </a:rPr>
              <a:t>dua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buah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statement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atau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lebih</a:t>
            </a:r>
            <a:endParaRPr lang="fr-FR" sz="2400" dirty="0">
              <a:latin typeface="Twentieth Century"/>
            </a:endParaRPr>
          </a:p>
          <a:p>
            <a:pPr algn="just"/>
            <a:endParaRPr lang="fr-FR" sz="2400" b="1" dirty="0">
              <a:latin typeface="Twentieth Century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A26479-8196-432F-BC0D-C9F2D2D71D60}"/>
              </a:ext>
            </a:extLst>
          </p:cNvPr>
          <p:cNvSpPr/>
          <p:nvPr/>
        </p:nvSpPr>
        <p:spPr>
          <a:xfrm>
            <a:off x="1433946" y="2043594"/>
            <a:ext cx="3803072" cy="561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b="1" dirty="0">
              <a:latin typeface="Twentieth Century"/>
            </a:endParaRPr>
          </a:p>
          <a:p>
            <a:pPr algn="ctr"/>
            <a:r>
              <a:rPr lang="fr-FR" sz="2400" b="1" dirty="0">
                <a:latin typeface="Twentieth Century"/>
              </a:rPr>
              <a:t>if (</a:t>
            </a:r>
            <a:r>
              <a:rPr lang="fr-FR" sz="2400" b="1" dirty="0" err="1">
                <a:latin typeface="Twentieth Century"/>
              </a:rPr>
              <a:t>kondisi</a:t>
            </a:r>
            <a:r>
              <a:rPr lang="fr-FR" sz="2400" b="1" dirty="0">
                <a:latin typeface="Twentieth Century"/>
              </a:rPr>
              <a:t>) {</a:t>
            </a:r>
            <a:r>
              <a:rPr lang="fr-FR" sz="2400" b="1" dirty="0" err="1">
                <a:latin typeface="Twentieth Century"/>
              </a:rPr>
              <a:t>statement</a:t>
            </a:r>
            <a:r>
              <a:rPr lang="fr-FR" sz="2400" b="1" dirty="0">
                <a:latin typeface="Twentieth Century"/>
              </a:rPr>
              <a:t>}</a:t>
            </a:r>
          </a:p>
          <a:p>
            <a:pPr algn="ctr"/>
            <a:endParaRPr lang="en-ID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8B1EFC-98AC-45C2-A7B8-8FF4FC7E3D18}"/>
              </a:ext>
            </a:extLst>
          </p:cNvPr>
          <p:cNvSpPr/>
          <p:nvPr/>
        </p:nvSpPr>
        <p:spPr>
          <a:xfrm>
            <a:off x="1433946" y="3767492"/>
            <a:ext cx="3803072" cy="2236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Twentieth Century"/>
              </a:rPr>
              <a:t>If (</a:t>
            </a:r>
            <a:r>
              <a:rPr lang="en-GB" sz="2400" b="1" dirty="0" err="1">
                <a:latin typeface="Twentieth Century"/>
              </a:rPr>
              <a:t>kondisi</a:t>
            </a:r>
            <a:r>
              <a:rPr lang="en-GB" sz="2400" b="1" dirty="0">
                <a:latin typeface="Twentieth Century"/>
              </a:rPr>
              <a:t>) {</a:t>
            </a:r>
          </a:p>
          <a:p>
            <a:pPr algn="ctr"/>
            <a:r>
              <a:rPr lang="en-GB" sz="2400" b="1" dirty="0">
                <a:latin typeface="Twentieth Century"/>
              </a:rPr>
              <a:t>Statement1;</a:t>
            </a:r>
          </a:p>
          <a:p>
            <a:pPr algn="ctr"/>
            <a:r>
              <a:rPr lang="en-GB" sz="2400" b="1" dirty="0">
                <a:latin typeface="Twentieth Century"/>
              </a:rPr>
              <a:t>Statement2;</a:t>
            </a:r>
          </a:p>
          <a:p>
            <a:pPr algn="ctr"/>
            <a:r>
              <a:rPr lang="en-GB" sz="2400" b="1" dirty="0">
                <a:latin typeface="Twentieth Century"/>
              </a:rPr>
              <a:t>Statement3;</a:t>
            </a:r>
          </a:p>
          <a:p>
            <a:pPr algn="ctr"/>
            <a:r>
              <a:rPr lang="en-GB" sz="2400" b="1" dirty="0">
                <a:latin typeface="Twentieth Century"/>
              </a:rPr>
              <a:t>….</a:t>
            </a:r>
          </a:p>
          <a:p>
            <a:pPr algn="ctr"/>
            <a:r>
              <a:rPr lang="en-GB" sz="2400" b="1" dirty="0">
                <a:latin typeface="Twentieth Century"/>
              </a:rPr>
              <a:t>}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291053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>
            <a:spLocks noGrp="1"/>
          </p:cNvSpPr>
          <p:nvPr>
            <p:ph type="title" idx="4294967295"/>
          </p:nvPr>
        </p:nvSpPr>
        <p:spPr>
          <a:xfrm>
            <a:off x="713718" y="354529"/>
            <a:ext cx="107313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/>
              <a:t>SATU KONDISI (IF)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196811-338F-4457-A25E-CA04200A1520}"/>
              </a:ext>
            </a:extLst>
          </p:cNvPr>
          <p:cNvSpPr txBox="1">
            <a:spLocks/>
          </p:cNvSpPr>
          <p:nvPr/>
        </p:nvSpPr>
        <p:spPr>
          <a:xfrm>
            <a:off x="713718" y="1399359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D21CD3-44CC-4C29-B28C-B519D9700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35" y="1969706"/>
            <a:ext cx="5596220" cy="39631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055057-88CD-439A-A7F2-16A318CDA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9876" y="2676420"/>
            <a:ext cx="3372321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22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>
            <a:spLocks noGrp="1"/>
          </p:cNvSpPr>
          <p:nvPr>
            <p:ph type="title" idx="4294967295"/>
          </p:nvPr>
        </p:nvSpPr>
        <p:spPr>
          <a:xfrm>
            <a:off x="713718" y="354529"/>
            <a:ext cx="107313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/>
              <a:t>SATU KONDISI (IF)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196811-338F-4457-A25E-CA04200A1520}"/>
              </a:ext>
            </a:extLst>
          </p:cNvPr>
          <p:cNvSpPr txBox="1">
            <a:spLocks/>
          </p:cNvSpPr>
          <p:nvPr/>
        </p:nvSpPr>
        <p:spPr>
          <a:xfrm>
            <a:off x="713718" y="1399359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2B5179-922F-40A9-986F-19F172FA0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913" y="2017967"/>
            <a:ext cx="5481770" cy="3780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053608-9D43-4241-990A-EBDAF52C4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7279" y="2901561"/>
            <a:ext cx="3897692" cy="167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363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"/>
          <p:cNvSpPr txBox="1">
            <a:spLocks noGrp="1"/>
          </p:cNvSpPr>
          <p:nvPr>
            <p:ph type="body" idx="1"/>
          </p:nvPr>
        </p:nvSpPr>
        <p:spPr>
          <a:xfrm>
            <a:off x="251791" y="1874408"/>
            <a:ext cx="4373269" cy="373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 b="1" dirty="0">
                <a:latin typeface="Twentieth Century"/>
                <a:ea typeface="Twentieth Century"/>
                <a:cs typeface="Twentieth Century"/>
                <a:sym typeface="Twentieth Century"/>
              </a:rPr>
              <a:t>DUA </a:t>
            </a:r>
            <a:r>
              <a:rPr lang="en-US" sz="2400" b="1" dirty="0" err="1">
                <a:latin typeface="Twentieth Century"/>
                <a:ea typeface="Twentieth Century"/>
                <a:cs typeface="Twentieth Century"/>
                <a:sym typeface="Twentieth Century"/>
              </a:rPr>
              <a:t>Kondisi</a:t>
            </a:r>
            <a:r>
              <a:rPr lang="en-US" sz="2400" b="1" dirty="0">
                <a:latin typeface="Twentieth Century"/>
                <a:ea typeface="Twentieth Century"/>
                <a:cs typeface="Twentieth Century"/>
                <a:sym typeface="Twentieth Century"/>
              </a:rPr>
              <a:t> (IF)</a:t>
            </a:r>
            <a:endParaRPr lang="en-US" sz="24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lang="en-US" sz="2800" dirty="0"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sz="2800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FE28DF-9888-4EE6-B0C8-80E7883C6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59187"/>
            <a:ext cx="4760693" cy="5739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9887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DUA KONDISI (IF)</a:t>
            </a:r>
          </a:p>
        </p:txBody>
      </p:sp>
      <p:sp>
        <p:nvSpPr>
          <p:cNvPr id="6" name="Google Shape;272;p5">
            <a:extLst>
              <a:ext uri="{FF2B5EF4-FFF2-40B4-BE49-F238E27FC236}">
                <a16:creationId xmlns:a16="http://schemas.microsoft.com/office/drawing/2014/main" id="{DCF7E257-1203-489C-90C4-FCAC5696CBF5}"/>
              </a:ext>
            </a:extLst>
          </p:cNvPr>
          <p:cNvSpPr txBox="1">
            <a:spLocks/>
          </p:cNvSpPr>
          <p:nvPr/>
        </p:nvSpPr>
        <p:spPr>
          <a:xfrm>
            <a:off x="821568" y="1399358"/>
            <a:ext cx="10515600" cy="510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2400" dirty="0" err="1">
                <a:latin typeface="Twentieth Century"/>
              </a:rPr>
              <a:t>Apabila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hanya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terdiri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satu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statement</a:t>
            </a:r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r>
              <a:rPr lang="fr-FR" sz="2400" dirty="0">
                <a:latin typeface="Twentieth Century"/>
              </a:rPr>
              <a:t>	</a:t>
            </a:r>
            <a:endParaRPr lang="fr-FR" sz="2400" b="1" dirty="0">
              <a:latin typeface="Twentieth Century"/>
            </a:endParaRPr>
          </a:p>
          <a:p>
            <a:pPr algn="just"/>
            <a:endParaRPr lang="fr-FR" sz="2400" b="1" dirty="0">
              <a:latin typeface="Twentieth Century"/>
            </a:endParaRPr>
          </a:p>
          <a:p>
            <a:pPr algn="just"/>
            <a:endParaRPr lang="fr-FR" sz="2400" b="1" dirty="0">
              <a:latin typeface="Twentieth Century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A26479-8196-432F-BC0D-C9F2D2D71D60}"/>
              </a:ext>
            </a:extLst>
          </p:cNvPr>
          <p:cNvSpPr/>
          <p:nvPr/>
        </p:nvSpPr>
        <p:spPr>
          <a:xfrm>
            <a:off x="1433946" y="2043594"/>
            <a:ext cx="3803072" cy="22998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latin typeface="Twentieth Century"/>
              </a:rPr>
              <a:t>If (</a:t>
            </a:r>
            <a:r>
              <a:rPr lang="fr-FR" sz="2400" b="1" dirty="0" err="1">
                <a:latin typeface="Twentieth Century"/>
              </a:rPr>
              <a:t>kondisi</a:t>
            </a:r>
            <a:r>
              <a:rPr lang="fr-FR" sz="2400" b="1" dirty="0">
                <a:latin typeface="Twentieth Century"/>
              </a:rPr>
              <a:t>) {</a:t>
            </a:r>
          </a:p>
          <a:p>
            <a:r>
              <a:rPr lang="fr-FR" sz="2400" b="1" dirty="0" err="1">
                <a:latin typeface="Twentieth Century"/>
              </a:rPr>
              <a:t>Statement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jika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kondisi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benar</a:t>
            </a:r>
            <a:endParaRPr lang="fr-FR" sz="2400" b="1" dirty="0">
              <a:latin typeface="Twentieth Century"/>
            </a:endParaRPr>
          </a:p>
          <a:p>
            <a:r>
              <a:rPr lang="fr-FR" sz="2400" b="1" dirty="0">
                <a:latin typeface="Twentieth Century"/>
              </a:rPr>
              <a:t>} </a:t>
            </a:r>
            <a:r>
              <a:rPr lang="fr-FR" sz="2400" b="1" dirty="0" err="1">
                <a:latin typeface="Twentieth Century"/>
              </a:rPr>
              <a:t>else</a:t>
            </a:r>
            <a:r>
              <a:rPr lang="fr-FR" sz="2400" b="1" dirty="0">
                <a:latin typeface="Twentieth Century"/>
              </a:rPr>
              <a:t> {</a:t>
            </a:r>
          </a:p>
          <a:p>
            <a:r>
              <a:rPr lang="fr-FR" sz="2400" b="1" dirty="0" err="1">
                <a:latin typeface="Twentieth Century"/>
              </a:rPr>
              <a:t>Statement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jika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kondisi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salah</a:t>
            </a:r>
            <a:endParaRPr lang="fr-FR" sz="2400" b="1" dirty="0">
              <a:latin typeface="Twentieth Century"/>
            </a:endParaRPr>
          </a:p>
          <a:p>
            <a:r>
              <a:rPr lang="fr-FR" sz="2400" b="1" dirty="0">
                <a:latin typeface="Twentieth Century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99119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>
            <a:spLocks noGrp="1"/>
          </p:cNvSpPr>
          <p:nvPr>
            <p:ph type="title" idx="4294967295"/>
          </p:nvPr>
        </p:nvSpPr>
        <p:spPr>
          <a:xfrm>
            <a:off x="713718" y="354529"/>
            <a:ext cx="107313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/>
              <a:t>DUA KONDISI (IF)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196811-338F-4457-A25E-CA04200A1520}"/>
              </a:ext>
            </a:extLst>
          </p:cNvPr>
          <p:cNvSpPr txBox="1">
            <a:spLocks/>
          </p:cNvSpPr>
          <p:nvPr/>
        </p:nvSpPr>
        <p:spPr>
          <a:xfrm>
            <a:off x="713718" y="1399359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76DD33-F3F5-49D7-9A68-DFCC573F4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253" y="1399359"/>
            <a:ext cx="5096586" cy="46393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2AFC79-93C7-48AD-80C2-A7FBE6D25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392" y="2700236"/>
            <a:ext cx="3381847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139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DUA KONDISI (IF)</a:t>
            </a:r>
          </a:p>
        </p:txBody>
      </p:sp>
      <p:sp>
        <p:nvSpPr>
          <p:cNvPr id="6" name="Google Shape;272;p5">
            <a:extLst>
              <a:ext uri="{FF2B5EF4-FFF2-40B4-BE49-F238E27FC236}">
                <a16:creationId xmlns:a16="http://schemas.microsoft.com/office/drawing/2014/main" id="{DCF7E257-1203-489C-90C4-FCAC5696CBF5}"/>
              </a:ext>
            </a:extLst>
          </p:cNvPr>
          <p:cNvSpPr txBox="1">
            <a:spLocks/>
          </p:cNvSpPr>
          <p:nvPr/>
        </p:nvSpPr>
        <p:spPr>
          <a:xfrm>
            <a:off x="821568" y="1399358"/>
            <a:ext cx="10515600" cy="510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2400" dirty="0" err="1">
                <a:latin typeface="Twentieth Century"/>
              </a:rPr>
              <a:t>Apabila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terdiri</a:t>
            </a:r>
            <a:r>
              <a:rPr lang="fr-FR" sz="2400" dirty="0">
                <a:latin typeface="Twentieth Century"/>
              </a:rPr>
              <a:t> dari </a:t>
            </a:r>
            <a:r>
              <a:rPr lang="fr-FR" sz="2400" dirty="0" err="1">
                <a:latin typeface="Twentieth Century"/>
              </a:rPr>
              <a:t>dua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buah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statement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atau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lebih</a:t>
            </a:r>
            <a:r>
              <a:rPr lang="fr-FR" sz="2400" dirty="0">
                <a:latin typeface="Twentieth Century"/>
              </a:rPr>
              <a:t> </a:t>
            </a: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r>
              <a:rPr lang="fr-FR" sz="2400" dirty="0">
                <a:latin typeface="Twentieth Century"/>
              </a:rPr>
              <a:t>	</a:t>
            </a:r>
            <a:endParaRPr lang="fr-FR" sz="2400" b="1" dirty="0">
              <a:latin typeface="Twentieth Century"/>
            </a:endParaRPr>
          </a:p>
          <a:p>
            <a:pPr algn="just"/>
            <a:endParaRPr lang="fr-FR" sz="2400" b="1" dirty="0">
              <a:latin typeface="Twentieth Century"/>
            </a:endParaRPr>
          </a:p>
          <a:p>
            <a:pPr algn="just"/>
            <a:endParaRPr lang="fr-FR" sz="2400" b="1" dirty="0">
              <a:latin typeface="Twentieth Century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A26479-8196-432F-BC0D-C9F2D2D71D60}"/>
              </a:ext>
            </a:extLst>
          </p:cNvPr>
          <p:cNvSpPr/>
          <p:nvPr/>
        </p:nvSpPr>
        <p:spPr>
          <a:xfrm>
            <a:off x="1433945" y="2043593"/>
            <a:ext cx="7647709" cy="44598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rgbClr val="0070C0"/>
                </a:solidFill>
                <a:latin typeface="Twentieth Century"/>
              </a:rPr>
              <a:t>If</a:t>
            </a:r>
            <a:r>
              <a:rPr lang="fr-FR" sz="2400" b="1" dirty="0">
                <a:latin typeface="Twentieth Century"/>
              </a:rPr>
              <a:t> (</a:t>
            </a:r>
            <a:r>
              <a:rPr lang="fr-FR" sz="2400" b="1" dirty="0" err="1">
                <a:latin typeface="Twentieth Century"/>
              </a:rPr>
              <a:t>kondisi</a:t>
            </a:r>
            <a:r>
              <a:rPr lang="fr-FR" sz="2400" b="1" dirty="0">
                <a:latin typeface="Twentieth Century"/>
              </a:rPr>
              <a:t>) {</a:t>
            </a:r>
          </a:p>
          <a:p>
            <a:r>
              <a:rPr lang="fr-FR" sz="2400" b="1" dirty="0">
                <a:latin typeface="Twentieth Century"/>
              </a:rPr>
              <a:t>//</a:t>
            </a:r>
            <a:r>
              <a:rPr lang="fr-FR" sz="2400" b="1" dirty="0" err="1">
                <a:latin typeface="Twentieth Century"/>
              </a:rPr>
              <a:t>Statement</a:t>
            </a:r>
            <a:r>
              <a:rPr lang="fr-FR" sz="2400" b="1" dirty="0">
                <a:latin typeface="Twentieth Century"/>
              </a:rPr>
              <a:t> yang akan </a:t>
            </a:r>
            <a:r>
              <a:rPr lang="fr-FR" sz="2400" b="1" dirty="0" err="1">
                <a:latin typeface="Twentieth Century"/>
              </a:rPr>
              <a:t>dilakukan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jika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kondisi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benar</a:t>
            </a:r>
            <a:endParaRPr lang="fr-FR" sz="2400" b="1" dirty="0">
              <a:latin typeface="Twentieth Century"/>
            </a:endParaRPr>
          </a:p>
          <a:p>
            <a:r>
              <a:rPr lang="fr-FR" sz="2400" b="1" dirty="0">
                <a:latin typeface="Twentieth Century"/>
              </a:rPr>
              <a:t>Statement1;</a:t>
            </a:r>
          </a:p>
          <a:p>
            <a:r>
              <a:rPr lang="fr-FR" sz="2400" b="1" dirty="0">
                <a:latin typeface="Twentieth Century"/>
              </a:rPr>
              <a:t>Statement2;</a:t>
            </a:r>
          </a:p>
          <a:p>
            <a:r>
              <a:rPr lang="fr-FR" sz="2400" b="1" dirty="0">
                <a:latin typeface="Twentieth Century"/>
              </a:rPr>
              <a:t>….</a:t>
            </a:r>
          </a:p>
          <a:p>
            <a:r>
              <a:rPr lang="fr-FR" sz="2400" b="1" dirty="0">
                <a:latin typeface="Twentieth Century"/>
              </a:rPr>
              <a:t>} </a:t>
            </a:r>
            <a:r>
              <a:rPr lang="fr-FR" sz="2400" b="1" dirty="0" err="1">
                <a:solidFill>
                  <a:srgbClr val="0070C0"/>
                </a:solidFill>
                <a:latin typeface="Twentieth Century"/>
              </a:rPr>
              <a:t>else</a:t>
            </a:r>
            <a:r>
              <a:rPr lang="fr-FR" sz="2400" b="1" dirty="0">
                <a:latin typeface="Twentieth Century"/>
              </a:rPr>
              <a:t> {</a:t>
            </a:r>
          </a:p>
          <a:p>
            <a:r>
              <a:rPr lang="fr-FR" sz="2400" b="1" dirty="0">
                <a:latin typeface="Twentieth Century"/>
              </a:rPr>
              <a:t>//</a:t>
            </a:r>
            <a:r>
              <a:rPr lang="fr-FR" sz="2400" b="1" dirty="0" err="1">
                <a:latin typeface="Twentieth Century"/>
              </a:rPr>
              <a:t>Statement</a:t>
            </a:r>
            <a:r>
              <a:rPr lang="fr-FR" sz="2400" b="1" dirty="0">
                <a:latin typeface="Twentieth Century"/>
              </a:rPr>
              <a:t> yang akan </a:t>
            </a:r>
            <a:r>
              <a:rPr lang="fr-FR" sz="2400" b="1" dirty="0" err="1">
                <a:latin typeface="Twentieth Century"/>
              </a:rPr>
              <a:t>dilakukan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jika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kondisi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salah</a:t>
            </a:r>
            <a:endParaRPr lang="fr-FR" sz="2400" b="1" dirty="0">
              <a:latin typeface="Twentieth Century"/>
            </a:endParaRPr>
          </a:p>
          <a:p>
            <a:r>
              <a:rPr lang="fr-FR" sz="2400" b="1" dirty="0">
                <a:latin typeface="Twentieth Century"/>
              </a:rPr>
              <a:t>Statement1;</a:t>
            </a:r>
          </a:p>
          <a:p>
            <a:r>
              <a:rPr lang="fr-FR" sz="2400" b="1" dirty="0">
                <a:latin typeface="Twentieth Century"/>
              </a:rPr>
              <a:t>Statement2;</a:t>
            </a:r>
          </a:p>
          <a:p>
            <a:r>
              <a:rPr lang="fr-FR" sz="2400" b="1" dirty="0">
                <a:latin typeface="Twentieth Century"/>
              </a:rPr>
              <a:t>….</a:t>
            </a:r>
          </a:p>
          <a:p>
            <a:r>
              <a:rPr lang="fr-FR" sz="2400" b="1" dirty="0">
                <a:latin typeface="Twentieth Century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54295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>
            <a:spLocks noGrp="1"/>
          </p:cNvSpPr>
          <p:nvPr>
            <p:ph type="title" idx="4294967295"/>
          </p:nvPr>
        </p:nvSpPr>
        <p:spPr>
          <a:xfrm>
            <a:off x="713718" y="354529"/>
            <a:ext cx="107313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/>
              <a:t>DUA KONDISI (IF)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196811-338F-4457-A25E-CA04200A1520}"/>
              </a:ext>
            </a:extLst>
          </p:cNvPr>
          <p:cNvSpPr txBox="1">
            <a:spLocks/>
          </p:cNvSpPr>
          <p:nvPr/>
        </p:nvSpPr>
        <p:spPr>
          <a:xfrm>
            <a:off x="713718" y="1399359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C76A06-709E-4A66-B2A2-335996982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6" y="1703899"/>
            <a:ext cx="6252462" cy="38953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490B75-6B82-48BD-8569-EE41C2162F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482" y="2700236"/>
            <a:ext cx="3524742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188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"/>
          <p:cNvSpPr txBox="1">
            <a:spLocks noGrp="1"/>
          </p:cNvSpPr>
          <p:nvPr>
            <p:ph type="body" idx="1"/>
          </p:nvPr>
        </p:nvSpPr>
        <p:spPr>
          <a:xfrm>
            <a:off x="251791" y="1874408"/>
            <a:ext cx="4373269" cy="373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 b="1" dirty="0">
                <a:latin typeface="Twentieth Century"/>
                <a:ea typeface="Twentieth Century"/>
                <a:cs typeface="Twentieth Century"/>
                <a:sym typeface="Twentieth Century"/>
              </a:rPr>
              <a:t>TIGA </a:t>
            </a:r>
            <a:r>
              <a:rPr lang="en-US" sz="2400" b="1" dirty="0" err="1">
                <a:latin typeface="Twentieth Century"/>
                <a:ea typeface="Twentieth Century"/>
                <a:cs typeface="Twentieth Century"/>
                <a:sym typeface="Twentieth Century"/>
              </a:rPr>
              <a:t>Kondisi</a:t>
            </a:r>
            <a:r>
              <a:rPr lang="en-US" sz="2400" b="1" dirty="0">
                <a:latin typeface="Twentieth Century"/>
                <a:ea typeface="Twentieth Century"/>
                <a:cs typeface="Twentieth Century"/>
                <a:sym typeface="Twentieth Century"/>
              </a:rPr>
              <a:t> (IF)</a:t>
            </a:r>
            <a:endParaRPr lang="en-US" sz="24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lang="en-US" sz="2800" dirty="0"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sz="2800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BC72E5-8C97-4F61-9D57-C32159B3F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192" y="1095144"/>
            <a:ext cx="5934354" cy="46677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438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TIGA KONDISI </a:t>
            </a:r>
            <a:r>
              <a:rPr lang="en-US" dirty="0" err="1"/>
              <a:t>atau</a:t>
            </a:r>
            <a:r>
              <a:rPr lang="en-US" dirty="0"/>
              <a:t> LEBIH (IF)</a:t>
            </a:r>
          </a:p>
        </p:txBody>
      </p:sp>
      <p:sp>
        <p:nvSpPr>
          <p:cNvPr id="6" name="Google Shape;272;p5">
            <a:extLst>
              <a:ext uri="{FF2B5EF4-FFF2-40B4-BE49-F238E27FC236}">
                <a16:creationId xmlns:a16="http://schemas.microsoft.com/office/drawing/2014/main" id="{DCF7E257-1203-489C-90C4-FCAC5696CBF5}"/>
              </a:ext>
            </a:extLst>
          </p:cNvPr>
          <p:cNvSpPr txBox="1">
            <a:spLocks/>
          </p:cNvSpPr>
          <p:nvPr/>
        </p:nvSpPr>
        <p:spPr>
          <a:xfrm>
            <a:off x="821568" y="1399358"/>
            <a:ext cx="10515600" cy="510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2400" dirty="0" err="1">
                <a:latin typeface="Twentieth Century"/>
              </a:rPr>
              <a:t>Apabila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hanya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terdiri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satu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statement</a:t>
            </a:r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r>
              <a:rPr lang="fr-FR" sz="2400" dirty="0">
                <a:latin typeface="Twentieth Century"/>
              </a:rPr>
              <a:t>	</a:t>
            </a:r>
            <a:endParaRPr lang="fr-FR" sz="2400" b="1" dirty="0">
              <a:latin typeface="Twentieth Century"/>
            </a:endParaRPr>
          </a:p>
          <a:p>
            <a:pPr algn="just"/>
            <a:endParaRPr lang="fr-FR" sz="2400" b="1" dirty="0">
              <a:latin typeface="Twentieth Century"/>
            </a:endParaRPr>
          </a:p>
          <a:p>
            <a:pPr algn="just"/>
            <a:endParaRPr lang="fr-FR" sz="2400" b="1" dirty="0">
              <a:latin typeface="Twentieth Century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A26479-8196-432F-BC0D-C9F2D2D71D60}"/>
              </a:ext>
            </a:extLst>
          </p:cNvPr>
          <p:cNvSpPr/>
          <p:nvPr/>
        </p:nvSpPr>
        <p:spPr>
          <a:xfrm>
            <a:off x="1433945" y="2043593"/>
            <a:ext cx="6774873" cy="3960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latin typeface="Twentieth Century"/>
              </a:rPr>
              <a:t>If (kondisi1) {</a:t>
            </a:r>
          </a:p>
          <a:p>
            <a:r>
              <a:rPr lang="fr-FR" sz="2400" b="1" dirty="0" err="1">
                <a:latin typeface="Twentieth Century"/>
              </a:rPr>
              <a:t>Statement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jika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kondisi</a:t>
            </a:r>
            <a:r>
              <a:rPr lang="fr-FR" sz="2400" b="1" dirty="0">
                <a:latin typeface="Twentieth Century"/>
              </a:rPr>
              <a:t> 1 </a:t>
            </a:r>
            <a:r>
              <a:rPr lang="fr-FR" sz="2400" b="1" dirty="0" err="1">
                <a:latin typeface="Twentieth Century"/>
              </a:rPr>
              <a:t>benar</a:t>
            </a:r>
            <a:endParaRPr lang="fr-FR" sz="2400" b="1" dirty="0">
              <a:latin typeface="Twentieth Century"/>
            </a:endParaRPr>
          </a:p>
          <a:p>
            <a:endParaRPr lang="fr-FR" sz="2400" b="1" dirty="0">
              <a:latin typeface="Twentieth Century"/>
            </a:endParaRPr>
          </a:p>
          <a:p>
            <a:r>
              <a:rPr lang="fr-FR" sz="2400" b="1" dirty="0">
                <a:latin typeface="Twentieth Century"/>
              </a:rPr>
              <a:t>} </a:t>
            </a:r>
            <a:r>
              <a:rPr lang="fr-FR" sz="2400" b="1" dirty="0" err="1">
                <a:latin typeface="Twentieth Century"/>
              </a:rPr>
              <a:t>else</a:t>
            </a:r>
            <a:r>
              <a:rPr lang="fr-FR" sz="2400" b="1" dirty="0">
                <a:latin typeface="Twentieth Century"/>
              </a:rPr>
              <a:t> if (kondisi2) {</a:t>
            </a:r>
          </a:p>
          <a:p>
            <a:r>
              <a:rPr lang="fr-FR" sz="2400" b="1" dirty="0" err="1">
                <a:latin typeface="Twentieth Century"/>
              </a:rPr>
              <a:t>Statement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jika</a:t>
            </a:r>
            <a:r>
              <a:rPr lang="fr-FR" sz="2400" b="1" dirty="0">
                <a:latin typeface="Twentieth Century"/>
              </a:rPr>
              <a:t> kondisi1 </a:t>
            </a:r>
            <a:r>
              <a:rPr lang="fr-FR" sz="2400" b="1" dirty="0" err="1">
                <a:latin typeface="Twentieth Century"/>
              </a:rPr>
              <a:t>salah</a:t>
            </a:r>
            <a:endParaRPr lang="fr-FR" sz="2400" b="1" dirty="0">
              <a:latin typeface="Twentieth Century"/>
            </a:endParaRPr>
          </a:p>
          <a:p>
            <a:endParaRPr lang="fr-FR" sz="2400" b="1" dirty="0">
              <a:latin typeface="Twentieth Century"/>
            </a:endParaRPr>
          </a:p>
          <a:p>
            <a:r>
              <a:rPr lang="fr-FR" sz="2400" b="1" dirty="0">
                <a:latin typeface="Twentieth Century"/>
              </a:rPr>
              <a:t>} </a:t>
            </a:r>
            <a:r>
              <a:rPr lang="fr-FR" sz="2400" b="1" dirty="0" err="1">
                <a:latin typeface="Twentieth Century"/>
              </a:rPr>
              <a:t>else</a:t>
            </a:r>
            <a:r>
              <a:rPr lang="fr-FR" sz="2400" b="1" dirty="0">
                <a:latin typeface="Twentieth Century"/>
              </a:rPr>
              <a:t> {</a:t>
            </a:r>
          </a:p>
          <a:p>
            <a:r>
              <a:rPr lang="fr-FR" sz="2400" b="1" dirty="0" err="1">
                <a:latin typeface="Twentieth Century"/>
              </a:rPr>
              <a:t>Statement</a:t>
            </a:r>
            <a:r>
              <a:rPr lang="fr-FR" sz="2400" b="1" dirty="0">
                <a:latin typeface="Twentieth Century"/>
              </a:rPr>
              <a:t> </a:t>
            </a:r>
            <a:r>
              <a:rPr lang="fr-FR" sz="2400" b="1" dirty="0" err="1">
                <a:latin typeface="Twentieth Century"/>
              </a:rPr>
              <a:t>jika</a:t>
            </a:r>
            <a:r>
              <a:rPr lang="fr-FR" sz="2400" b="1" dirty="0">
                <a:latin typeface="Twentieth Century"/>
              </a:rPr>
              <a:t> kondisi1 dan kondisi2 </a:t>
            </a:r>
            <a:r>
              <a:rPr lang="fr-FR" sz="2400" b="1" dirty="0" err="1">
                <a:latin typeface="Twentieth Century"/>
              </a:rPr>
              <a:t>salah</a:t>
            </a:r>
            <a:endParaRPr lang="fr-FR" sz="2400" b="1" dirty="0">
              <a:latin typeface="Twentieth Century"/>
            </a:endParaRPr>
          </a:p>
          <a:p>
            <a:r>
              <a:rPr lang="fr-FR" sz="2400" b="1" dirty="0">
                <a:latin typeface="Twentieth Century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80884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506846" y="419051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TIGA KONDISI </a:t>
            </a:r>
            <a:r>
              <a:rPr lang="en-US" dirty="0" err="1"/>
              <a:t>atau</a:t>
            </a:r>
            <a:r>
              <a:rPr lang="en-US" dirty="0"/>
              <a:t> LEBIH (IF)</a:t>
            </a:r>
          </a:p>
        </p:txBody>
      </p:sp>
      <p:sp>
        <p:nvSpPr>
          <p:cNvPr id="6" name="Google Shape;272;p5">
            <a:extLst>
              <a:ext uri="{FF2B5EF4-FFF2-40B4-BE49-F238E27FC236}">
                <a16:creationId xmlns:a16="http://schemas.microsoft.com/office/drawing/2014/main" id="{DCF7E257-1203-489C-90C4-FCAC5696CBF5}"/>
              </a:ext>
            </a:extLst>
          </p:cNvPr>
          <p:cNvSpPr txBox="1">
            <a:spLocks/>
          </p:cNvSpPr>
          <p:nvPr/>
        </p:nvSpPr>
        <p:spPr>
          <a:xfrm>
            <a:off x="838200" y="1157631"/>
            <a:ext cx="10515600" cy="5493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2400" dirty="0" err="1">
                <a:latin typeface="Twentieth Century"/>
              </a:rPr>
              <a:t>Apabila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hanya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terdiri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satu</a:t>
            </a:r>
            <a:r>
              <a:rPr lang="fr-FR" sz="2400" dirty="0">
                <a:latin typeface="Twentieth Century"/>
              </a:rPr>
              <a:t> </a:t>
            </a:r>
            <a:r>
              <a:rPr lang="fr-FR" sz="2400" dirty="0" err="1">
                <a:latin typeface="Twentieth Century"/>
              </a:rPr>
              <a:t>statement</a:t>
            </a:r>
            <a:endParaRPr lang="fr-FR" sz="2400" dirty="0">
              <a:latin typeface="Twentieth Century"/>
            </a:endParaRPr>
          </a:p>
          <a:p>
            <a:pPr algn="just"/>
            <a:endParaRPr lang="fr-FR" sz="2400" dirty="0">
              <a:latin typeface="Twentieth Century"/>
            </a:endParaRPr>
          </a:p>
          <a:p>
            <a:pPr algn="just"/>
            <a:r>
              <a:rPr lang="fr-FR" sz="2400" dirty="0">
                <a:latin typeface="Twentieth Century"/>
              </a:rPr>
              <a:t>	</a:t>
            </a:r>
            <a:endParaRPr lang="fr-FR" sz="2400" b="1" dirty="0">
              <a:latin typeface="Twentieth Century"/>
            </a:endParaRPr>
          </a:p>
          <a:p>
            <a:pPr algn="just"/>
            <a:endParaRPr lang="fr-FR" sz="2400" b="1" dirty="0">
              <a:latin typeface="Twentieth Century"/>
            </a:endParaRPr>
          </a:p>
          <a:p>
            <a:pPr algn="just"/>
            <a:endParaRPr lang="fr-FR" sz="2400" b="1" dirty="0">
              <a:latin typeface="Twentieth Century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A26479-8196-432F-BC0D-C9F2D2D71D60}"/>
              </a:ext>
            </a:extLst>
          </p:cNvPr>
          <p:cNvSpPr/>
          <p:nvPr/>
        </p:nvSpPr>
        <p:spPr>
          <a:xfrm>
            <a:off x="1392382" y="1586285"/>
            <a:ext cx="7232073" cy="5104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800" b="1" dirty="0">
                <a:latin typeface="Twentieth Century"/>
              </a:rPr>
              <a:t>If (kondisi1) {</a:t>
            </a:r>
          </a:p>
          <a:p>
            <a:r>
              <a:rPr lang="fr-FR" sz="1800" b="1" dirty="0">
                <a:latin typeface="Twentieth Century"/>
              </a:rPr>
              <a:t>//</a:t>
            </a:r>
            <a:r>
              <a:rPr lang="fr-FR" sz="1800" b="1" dirty="0" err="1">
                <a:latin typeface="Twentieth Century"/>
              </a:rPr>
              <a:t>Statement</a:t>
            </a:r>
            <a:r>
              <a:rPr lang="fr-FR" sz="1800" b="1" dirty="0">
                <a:latin typeface="Twentieth Century"/>
              </a:rPr>
              <a:t> yang akan </a:t>
            </a:r>
            <a:r>
              <a:rPr lang="fr-FR" sz="1800" b="1" dirty="0" err="1">
                <a:latin typeface="Twentieth Century"/>
              </a:rPr>
              <a:t>dilakukan</a:t>
            </a:r>
            <a:r>
              <a:rPr lang="fr-FR" sz="1800" b="1" dirty="0">
                <a:latin typeface="Twentieth Century"/>
              </a:rPr>
              <a:t> </a:t>
            </a:r>
            <a:r>
              <a:rPr lang="fr-FR" sz="1800" b="1" dirty="0" err="1">
                <a:latin typeface="Twentieth Century"/>
              </a:rPr>
              <a:t>jika</a:t>
            </a:r>
            <a:r>
              <a:rPr lang="fr-FR" sz="1800" b="1" dirty="0">
                <a:latin typeface="Twentieth Century"/>
              </a:rPr>
              <a:t> </a:t>
            </a:r>
            <a:r>
              <a:rPr lang="fr-FR" sz="1800" b="1" dirty="0" err="1">
                <a:latin typeface="Twentieth Century"/>
              </a:rPr>
              <a:t>kondisi</a:t>
            </a:r>
            <a:r>
              <a:rPr lang="fr-FR" sz="1800" b="1" dirty="0">
                <a:latin typeface="Twentieth Century"/>
              </a:rPr>
              <a:t> 1 </a:t>
            </a:r>
            <a:r>
              <a:rPr lang="fr-FR" sz="1800" b="1" dirty="0" err="1">
                <a:latin typeface="Twentieth Century"/>
              </a:rPr>
              <a:t>benar</a:t>
            </a:r>
            <a:endParaRPr lang="fr-FR" sz="1800" b="1" dirty="0">
              <a:latin typeface="Twentieth Century"/>
            </a:endParaRPr>
          </a:p>
          <a:p>
            <a:r>
              <a:rPr lang="fr-FR" sz="1800" b="1" dirty="0">
                <a:latin typeface="Twentieth Century"/>
              </a:rPr>
              <a:t>Statement1;</a:t>
            </a:r>
          </a:p>
          <a:p>
            <a:r>
              <a:rPr lang="fr-FR" sz="1800" b="1" dirty="0">
                <a:latin typeface="Twentieth Century"/>
              </a:rPr>
              <a:t>Statement2;</a:t>
            </a:r>
          </a:p>
          <a:p>
            <a:r>
              <a:rPr lang="fr-FR" sz="1800" b="1" dirty="0">
                <a:latin typeface="Twentieth Century"/>
              </a:rPr>
              <a:t>….</a:t>
            </a:r>
          </a:p>
          <a:p>
            <a:endParaRPr lang="fr-FR" sz="1800" b="1" dirty="0">
              <a:latin typeface="Twentieth Century"/>
            </a:endParaRPr>
          </a:p>
          <a:p>
            <a:r>
              <a:rPr lang="fr-FR" sz="1800" b="1" dirty="0">
                <a:latin typeface="Twentieth Century"/>
              </a:rPr>
              <a:t>} </a:t>
            </a:r>
            <a:r>
              <a:rPr lang="fr-FR" sz="1800" b="1" dirty="0" err="1">
                <a:latin typeface="Twentieth Century"/>
              </a:rPr>
              <a:t>else</a:t>
            </a:r>
            <a:r>
              <a:rPr lang="fr-FR" sz="1800" b="1" dirty="0">
                <a:latin typeface="Twentieth Century"/>
              </a:rPr>
              <a:t> if (kondisi2) {</a:t>
            </a:r>
          </a:p>
          <a:p>
            <a:r>
              <a:rPr lang="fr-FR" sz="1800" b="1" dirty="0">
                <a:latin typeface="Twentieth Century"/>
              </a:rPr>
              <a:t>//</a:t>
            </a:r>
            <a:r>
              <a:rPr lang="fr-FR" sz="1800" b="1" dirty="0" err="1">
                <a:latin typeface="Twentieth Century"/>
              </a:rPr>
              <a:t>Statement</a:t>
            </a:r>
            <a:r>
              <a:rPr lang="fr-FR" sz="1800" b="1" dirty="0">
                <a:latin typeface="Twentieth Century"/>
              </a:rPr>
              <a:t> yang akan </a:t>
            </a:r>
            <a:r>
              <a:rPr lang="fr-FR" sz="1800" b="1" dirty="0" err="1">
                <a:latin typeface="Twentieth Century"/>
              </a:rPr>
              <a:t>dilakukan</a:t>
            </a:r>
            <a:r>
              <a:rPr lang="fr-FR" sz="1800" b="1" dirty="0">
                <a:latin typeface="Twentieth Century"/>
              </a:rPr>
              <a:t> </a:t>
            </a:r>
            <a:r>
              <a:rPr lang="fr-FR" sz="1800" b="1" dirty="0" err="1">
                <a:latin typeface="Twentieth Century"/>
              </a:rPr>
              <a:t>jika</a:t>
            </a:r>
            <a:r>
              <a:rPr lang="fr-FR" sz="1800" b="1" dirty="0">
                <a:latin typeface="Twentieth Century"/>
              </a:rPr>
              <a:t> </a:t>
            </a:r>
            <a:r>
              <a:rPr lang="fr-FR" sz="1800" b="1" dirty="0" err="1">
                <a:latin typeface="Twentieth Century"/>
              </a:rPr>
              <a:t>kondisi</a:t>
            </a:r>
            <a:r>
              <a:rPr lang="fr-FR" sz="1800" b="1" dirty="0">
                <a:latin typeface="Twentieth Century"/>
              </a:rPr>
              <a:t> 1 </a:t>
            </a:r>
            <a:r>
              <a:rPr lang="fr-FR" sz="1800" b="1" dirty="0" err="1">
                <a:latin typeface="Twentieth Century"/>
              </a:rPr>
              <a:t>salah</a:t>
            </a:r>
            <a:endParaRPr lang="fr-FR" sz="1800" b="1" dirty="0">
              <a:latin typeface="Twentieth Century"/>
            </a:endParaRPr>
          </a:p>
          <a:p>
            <a:r>
              <a:rPr lang="fr-FR" sz="1800" b="1" dirty="0">
                <a:latin typeface="Twentieth Century"/>
              </a:rPr>
              <a:t>Statement1;</a:t>
            </a:r>
          </a:p>
          <a:p>
            <a:r>
              <a:rPr lang="fr-FR" sz="1800" b="1" dirty="0">
                <a:latin typeface="Twentieth Century"/>
              </a:rPr>
              <a:t>Statement2;</a:t>
            </a:r>
          </a:p>
          <a:p>
            <a:r>
              <a:rPr lang="fr-FR" sz="1800" b="1" dirty="0">
                <a:latin typeface="Twentieth Century"/>
              </a:rPr>
              <a:t>….</a:t>
            </a:r>
          </a:p>
          <a:p>
            <a:endParaRPr lang="fr-FR" sz="1800" b="1" dirty="0">
              <a:latin typeface="Twentieth Century"/>
            </a:endParaRPr>
          </a:p>
          <a:p>
            <a:r>
              <a:rPr lang="fr-FR" sz="1800" b="1" dirty="0">
                <a:latin typeface="Twentieth Century"/>
              </a:rPr>
              <a:t>} </a:t>
            </a:r>
            <a:r>
              <a:rPr lang="fr-FR" sz="1800" b="1" dirty="0" err="1">
                <a:latin typeface="Twentieth Century"/>
              </a:rPr>
              <a:t>else</a:t>
            </a:r>
            <a:r>
              <a:rPr lang="fr-FR" sz="1800" b="1" dirty="0">
                <a:latin typeface="Twentieth Century"/>
              </a:rPr>
              <a:t> {</a:t>
            </a:r>
          </a:p>
          <a:p>
            <a:r>
              <a:rPr lang="fr-FR" sz="1800" b="1" dirty="0">
                <a:latin typeface="Twentieth Century"/>
              </a:rPr>
              <a:t>//</a:t>
            </a:r>
            <a:r>
              <a:rPr lang="fr-FR" sz="1800" b="1" dirty="0" err="1">
                <a:latin typeface="Twentieth Century"/>
              </a:rPr>
              <a:t>Statement</a:t>
            </a:r>
            <a:r>
              <a:rPr lang="fr-FR" sz="1800" b="1" dirty="0">
                <a:latin typeface="Twentieth Century"/>
              </a:rPr>
              <a:t> yang akan </a:t>
            </a:r>
            <a:r>
              <a:rPr lang="fr-FR" sz="1800" b="1" dirty="0" err="1">
                <a:latin typeface="Twentieth Century"/>
              </a:rPr>
              <a:t>dilakukan</a:t>
            </a:r>
            <a:r>
              <a:rPr lang="fr-FR" sz="1800" b="1" dirty="0">
                <a:latin typeface="Twentieth Century"/>
              </a:rPr>
              <a:t> </a:t>
            </a:r>
            <a:r>
              <a:rPr lang="fr-FR" sz="1800" b="1" dirty="0" err="1">
                <a:latin typeface="Twentieth Century"/>
              </a:rPr>
              <a:t>jika</a:t>
            </a:r>
            <a:r>
              <a:rPr lang="fr-FR" sz="1800" b="1" dirty="0">
                <a:latin typeface="Twentieth Century"/>
              </a:rPr>
              <a:t> </a:t>
            </a:r>
            <a:r>
              <a:rPr lang="fr-FR" sz="1800" b="1" dirty="0" err="1">
                <a:latin typeface="Twentieth Century"/>
              </a:rPr>
              <a:t>kondisi</a:t>
            </a:r>
            <a:r>
              <a:rPr lang="fr-FR" sz="1800" b="1" dirty="0">
                <a:latin typeface="Twentieth Century"/>
              </a:rPr>
              <a:t> 1 dan </a:t>
            </a:r>
            <a:r>
              <a:rPr lang="fr-FR" sz="1800" b="1" dirty="0" err="1">
                <a:latin typeface="Twentieth Century"/>
              </a:rPr>
              <a:t>kondisi</a:t>
            </a:r>
            <a:r>
              <a:rPr lang="fr-FR" sz="1800" b="1" dirty="0">
                <a:latin typeface="Twentieth Century"/>
              </a:rPr>
              <a:t> 2 </a:t>
            </a:r>
            <a:r>
              <a:rPr lang="fr-FR" sz="1800" b="1" dirty="0" err="1">
                <a:latin typeface="Twentieth Century"/>
              </a:rPr>
              <a:t>salah</a:t>
            </a:r>
            <a:endParaRPr lang="fr-FR" sz="1800" b="1" dirty="0">
              <a:latin typeface="Twentieth Century"/>
            </a:endParaRPr>
          </a:p>
          <a:p>
            <a:r>
              <a:rPr lang="fr-FR" sz="1800" b="1" dirty="0">
                <a:latin typeface="Twentieth Century"/>
              </a:rPr>
              <a:t>Statement1;</a:t>
            </a:r>
          </a:p>
          <a:p>
            <a:r>
              <a:rPr lang="fr-FR" sz="1800" b="1" dirty="0">
                <a:latin typeface="Twentieth Century"/>
              </a:rPr>
              <a:t>Statement2;</a:t>
            </a:r>
          </a:p>
          <a:p>
            <a:r>
              <a:rPr lang="fr-FR" sz="1800" b="1" dirty="0">
                <a:latin typeface="Twentieth Century"/>
              </a:rPr>
              <a:t>….</a:t>
            </a:r>
          </a:p>
          <a:p>
            <a:r>
              <a:rPr lang="fr-FR" sz="1800" b="1" dirty="0">
                <a:latin typeface="Twentieth Century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4925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>
            <a:spLocks noGrp="1"/>
          </p:cNvSpPr>
          <p:nvPr>
            <p:ph type="title" idx="4294967295"/>
          </p:nvPr>
        </p:nvSpPr>
        <p:spPr>
          <a:xfrm>
            <a:off x="713718" y="354529"/>
            <a:ext cx="107313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/>
              <a:t>DUA KONDISI (IF)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196811-338F-4457-A25E-CA04200A1520}"/>
              </a:ext>
            </a:extLst>
          </p:cNvPr>
          <p:cNvSpPr txBox="1">
            <a:spLocks/>
          </p:cNvSpPr>
          <p:nvPr/>
        </p:nvSpPr>
        <p:spPr>
          <a:xfrm>
            <a:off x="713718" y="1399359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3AC123-51C7-4EC5-BAE5-19E7EDE61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36" y="1671784"/>
            <a:ext cx="5908327" cy="43133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B6E3CF-2228-4C1A-9426-756F44FE3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1491" y="2876016"/>
            <a:ext cx="3686689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232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SWITCH</a:t>
            </a:r>
          </a:p>
        </p:txBody>
      </p:sp>
      <p:sp>
        <p:nvSpPr>
          <p:cNvPr id="6" name="Google Shape;272;p5">
            <a:extLst>
              <a:ext uri="{FF2B5EF4-FFF2-40B4-BE49-F238E27FC236}">
                <a16:creationId xmlns:a16="http://schemas.microsoft.com/office/drawing/2014/main" id="{DCF7E257-1203-489C-90C4-FCAC5696CBF5}"/>
              </a:ext>
            </a:extLst>
          </p:cNvPr>
          <p:cNvSpPr txBox="1">
            <a:spLocks/>
          </p:cNvSpPr>
          <p:nvPr/>
        </p:nvSpPr>
        <p:spPr>
          <a:xfrm>
            <a:off x="821568" y="1399358"/>
            <a:ext cx="10515600" cy="510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fr-FR" sz="2400" dirty="0">
              <a:latin typeface="Twentieth Century"/>
            </a:endParaRPr>
          </a:p>
          <a:p>
            <a:pPr algn="just"/>
            <a:r>
              <a:rPr lang="fr-FR" sz="2400" dirty="0">
                <a:latin typeface="Twentieth Century"/>
              </a:rPr>
              <a:t>	</a:t>
            </a:r>
            <a:endParaRPr lang="fr-FR" sz="2400" b="1" dirty="0">
              <a:latin typeface="Twentieth Century"/>
            </a:endParaRPr>
          </a:p>
          <a:p>
            <a:pPr algn="just"/>
            <a:endParaRPr lang="fr-FR" sz="2400" b="1" dirty="0">
              <a:latin typeface="Twentieth Century"/>
            </a:endParaRPr>
          </a:p>
          <a:p>
            <a:pPr algn="just"/>
            <a:endParaRPr lang="fr-FR" sz="2400" b="1" dirty="0">
              <a:latin typeface="Twentieth Century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A26479-8196-432F-BC0D-C9F2D2D71D60}"/>
              </a:ext>
            </a:extLst>
          </p:cNvPr>
          <p:cNvSpPr/>
          <p:nvPr/>
        </p:nvSpPr>
        <p:spPr>
          <a:xfrm>
            <a:off x="1127756" y="1921398"/>
            <a:ext cx="9903223" cy="42532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74320" lvl="1" indent="0">
              <a:buNone/>
            </a:pPr>
            <a:r>
              <a:rPr lang="en-US" altLang="zh-TW" sz="1800" b="1" dirty="0">
                <a:latin typeface="Twentieth Century"/>
                <a:ea typeface="PMingLiU" charset="-120"/>
              </a:rPr>
              <a:t>Switch (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ekspresi</a:t>
            </a:r>
            <a:r>
              <a:rPr lang="en-US" altLang="zh-TW" sz="1800" b="1" dirty="0">
                <a:latin typeface="Twentieth Century"/>
                <a:ea typeface="PMingLiU" charset="-120"/>
              </a:rPr>
              <a:t>) {</a:t>
            </a:r>
          </a:p>
          <a:p>
            <a:pPr marL="274320" lvl="1" indent="0">
              <a:buNone/>
            </a:pPr>
            <a:r>
              <a:rPr lang="en-US" altLang="zh-TW" sz="1800" b="1" dirty="0">
                <a:latin typeface="Twentieth Century"/>
                <a:ea typeface="PMingLiU" charset="-120"/>
              </a:rPr>
              <a:t>Case nilai1:</a:t>
            </a:r>
          </a:p>
          <a:p>
            <a:pPr marL="274320" lvl="1" indent="0">
              <a:buNone/>
            </a:pPr>
            <a:r>
              <a:rPr lang="en-US" altLang="zh-TW" sz="1800" b="1" dirty="0">
                <a:latin typeface="Twentieth Century"/>
                <a:ea typeface="PMingLiU" charset="-120"/>
              </a:rPr>
              <a:t>//statement yang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akan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dilakukan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bila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ekspresi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sama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dengan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nilai</a:t>
            </a:r>
            <a:r>
              <a:rPr lang="en-US" altLang="zh-TW" sz="1800" b="1" dirty="0">
                <a:latin typeface="Twentieth Century"/>
                <a:ea typeface="PMingLiU" charset="-120"/>
              </a:rPr>
              <a:t> 1</a:t>
            </a:r>
          </a:p>
          <a:p>
            <a:pPr marL="274320" lvl="1" indent="0">
              <a:buNone/>
            </a:pPr>
            <a:r>
              <a:rPr lang="en-US" altLang="zh-TW" sz="1800" b="1" dirty="0">
                <a:latin typeface="Twentieth Century"/>
                <a:ea typeface="PMingLiU" charset="-120"/>
              </a:rPr>
              <a:t>break;</a:t>
            </a:r>
          </a:p>
          <a:p>
            <a:pPr marL="274320" lvl="1" indent="0">
              <a:buNone/>
            </a:pPr>
            <a:r>
              <a:rPr lang="en-US" altLang="zh-TW" sz="1800" b="1" dirty="0">
                <a:latin typeface="Twentieth Century"/>
                <a:ea typeface="PMingLiU" charset="-120"/>
              </a:rPr>
              <a:t>Case nilai2:</a:t>
            </a:r>
          </a:p>
          <a:p>
            <a:pPr marL="274320" lvl="1" indent="0">
              <a:buNone/>
            </a:pPr>
            <a:r>
              <a:rPr lang="en-US" altLang="zh-TW" sz="1800" b="1" dirty="0">
                <a:latin typeface="Twentieth Century"/>
                <a:ea typeface="PMingLiU" charset="-120"/>
              </a:rPr>
              <a:t>//statement yang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akan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dilakukan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bila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ekspresi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sama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dengan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nilai</a:t>
            </a:r>
            <a:r>
              <a:rPr lang="en-US" altLang="zh-TW" sz="1800" b="1" dirty="0">
                <a:latin typeface="Twentieth Century"/>
                <a:ea typeface="PMingLiU" charset="-120"/>
              </a:rPr>
              <a:t> 2</a:t>
            </a:r>
          </a:p>
          <a:p>
            <a:pPr marL="274320" lvl="1" indent="0">
              <a:buNone/>
            </a:pPr>
            <a:r>
              <a:rPr lang="en-US" altLang="zh-TW" sz="1800" b="1" dirty="0">
                <a:latin typeface="Twentieth Century"/>
                <a:ea typeface="PMingLiU" charset="-120"/>
              </a:rPr>
              <a:t>break;</a:t>
            </a:r>
          </a:p>
          <a:p>
            <a:pPr marL="274320" lvl="1" indent="0">
              <a:buNone/>
            </a:pPr>
            <a:r>
              <a:rPr lang="en-US" altLang="zh-TW" sz="1800" b="1" dirty="0">
                <a:latin typeface="Twentieth Century"/>
                <a:ea typeface="PMingLiU" charset="-120"/>
              </a:rPr>
              <a:t>…</a:t>
            </a:r>
          </a:p>
          <a:p>
            <a:pPr marL="274320" lvl="1" indent="0">
              <a:buNone/>
            </a:pPr>
            <a:r>
              <a:rPr lang="en-US" altLang="zh-TW" sz="1800" b="1" dirty="0">
                <a:latin typeface="Twentieth Century"/>
                <a:ea typeface="PMingLiU" charset="-120"/>
              </a:rPr>
              <a:t>Case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nilaiN</a:t>
            </a:r>
            <a:r>
              <a:rPr lang="en-US" altLang="zh-TW" sz="1800" b="1" dirty="0">
                <a:latin typeface="Twentieth Century"/>
                <a:ea typeface="PMingLiU" charset="-120"/>
              </a:rPr>
              <a:t>:</a:t>
            </a:r>
          </a:p>
          <a:p>
            <a:pPr marL="274320" lvl="1" indent="0">
              <a:buNone/>
            </a:pPr>
            <a:r>
              <a:rPr lang="en-US" altLang="zh-TW" sz="1800" b="1" dirty="0">
                <a:latin typeface="Twentieth Century"/>
                <a:ea typeface="PMingLiU" charset="-120"/>
              </a:rPr>
              <a:t>//statement yang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akan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dilakukan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bila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ekspresi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sama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dengan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nilai</a:t>
            </a:r>
            <a:r>
              <a:rPr lang="en-US" altLang="zh-TW" sz="1800" b="1" dirty="0">
                <a:latin typeface="Twentieth Century"/>
                <a:ea typeface="PMingLiU" charset="-120"/>
              </a:rPr>
              <a:t> N</a:t>
            </a:r>
          </a:p>
          <a:p>
            <a:pPr marL="274320" lvl="1" indent="0">
              <a:buNone/>
            </a:pPr>
            <a:r>
              <a:rPr lang="en-US" altLang="zh-TW" sz="1800" b="1" dirty="0">
                <a:latin typeface="Twentieth Century"/>
                <a:ea typeface="PMingLiU" charset="-120"/>
              </a:rPr>
              <a:t>break;</a:t>
            </a:r>
          </a:p>
          <a:p>
            <a:pPr marL="274320" lvl="1" indent="0">
              <a:buNone/>
            </a:pPr>
            <a:r>
              <a:rPr lang="en-US" altLang="zh-TW" sz="1800" b="1" dirty="0">
                <a:latin typeface="Twentieth Century"/>
                <a:ea typeface="PMingLiU" charset="-120"/>
              </a:rPr>
              <a:t>default:</a:t>
            </a:r>
          </a:p>
          <a:p>
            <a:pPr marL="274320" lvl="1" indent="0">
              <a:buNone/>
            </a:pPr>
            <a:r>
              <a:rPr lang="en-US" altLang="zh-TW" sz="1800" b="1" dirty="0">
                <a:latin typeface="Twentieth Century"/>
                <a:ea typeface="PMingLiU" charset="-120"/>
              </a:rPr>
              <a:t>/* Statement yang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akan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dilakukan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bila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semua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nilai</a:t>
            </a:r>
            <a:r>
              <a:rPr lang="en-US" altLang="zh-TW" sz="1800" b="1" dirty="0">
                <a:latin typeface="Twentieth Century"/>
                <a:ea typeface="PMingLiU" charset="-120"/>
              </a:rPr>
              <a:t> yang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didefinisikan</a:t>
            </a:r>
            <a:r>
              <a:rPr lang="en-US" altLang="zh-TW" sz="1800" b="1" dirty="0">
                <a:latin typeface="Twentieth Century"/>
                <a:ea typeface="PMingLiU" charset="-120"/>
              </a:rPr>
              <a:t> di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atas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tidak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ada</a:t>
            </a:r>
            <a:r>
              <a:rPr lang="en-US" altLang="zh-TW" sz="1800" b="1" dirty="0">
                <a:latin typeface="Twentieth Century"/>
                <a:ea typeface="PMingLiU" charset="-120"/>
              </a:rPr>
              <a:t> yang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sama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dengan</a:t>
            </a:r>
            <a:r>
              <a:rPr lang="en-US" altLang="zh-TW" sz="1800" b="1" dirty="0">
                <a:latin typeface="Twentieth Century"/>
                <a:ea typeface="PMingLiU" charset="-120"/>
              </a:rPr>
              <a:t> </a:t>
            </a:r>
            <a:r>
              <a:rPr lang="en-US" altLang="zh-TW" sz="1800" b="1" dirty="0" err="1">
                <a:latin typeface="Twentieth Century"/>
                <a:ea typeface="PMingLiU" charset="-120"/>
              </a:rPr>
              <a:t>ekspresi</a:t>
            </a:r>
            <a:r>
              <a:rPr lang="en-US" altLang="zh-TW" sz="1800" b="1" dirty="0">
                <a:latin typeface="Twentieth Century"/>
                <a:ea typeface="PMingLiU" charset="-120"/>
              </a:rPr>
              <a:t> */</a:t>
            </a:r>
          </a:p>
          <a:p>
            <a:pPr marL="274320" lvl="1" indent="0">
              <a:buNone/>
            </a:pPr>
            <a:r>
              <a:rPr lang="en-US" altLang="zh-TW" sz="1800" b="1" dirty="0">
                <a:latin typeface="Twentieth Century"/>
                <a:ea typeface="PMingLiU" charset="-120"/>
              </a:rPr>
              <a:t>}</a:t>
            </a:r>
            <a:endParaRPr lang="fr-FR" sz="1800" b="1" dirty="0">
              <a:latin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1474515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"/>
          <p:cNvSpPr txBox="1">
            <a:spLocks noGrp="1"/>
          </p:cNvSpPr>
          <p:nvPr>
            <p:ph type="body" idx="1"/>
          </p:nvPr>
        </p:nvSpPr>
        <p:spPr>
          <a:xfrm>
            <a:off x="251791" y="1874408"/>
            <a:ext cx="4373269" cy="373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 b="1" dirty="0">
                <a:latin typeface="Twentieth Century"/>
                <a:ea typeface="Twentieth Century"/>
                <a:cs typeface="Twentieth Century"/>
                <a:sym typeface="Twentieth Century"/>
              </a:rPr>
              <a:t>SWITCH</a:t>
            </a:r>
            <a:endParaRPr lang="en-US" sz="2800" dirty="0"/>
          </a:p>
          <a:p>
            <a:pPr marL="0" lvl="0" indent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ID" sz="1800" dirty="0">
                <a:latin typeface="Twentieth Century"/>
                <a:ea typeface="Twentieth Century"/>
                <a:cs typeface="Twentieth Century"/>
                <a:sym typeface="Twentieth Century"/>
              </a:rPr>
              <a:t>Cara lain </a:t>
            </a:r>
            <a:r>
              <a:rPr lang="en-ID" sz="18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ID" sz="18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ID" sz="18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membuat</a:t>
            </a:r>
            <a:r>
              <a:rPr lang="en-ID" sz="18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ID" sz="18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cabang</a:t>
            </a:r>
            <a:r>
              <a:rPr lang="en-ID" sz="18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ID" sz="18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adalah</a:t>
            </a:r>
            <a:r>
              <a:rPr lang="en-ID" sz="18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ID" sz="18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dengan</a:t>
            </a:r>
            <a:r>
              <a:rPr lang="en-ID" sz="18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ID" sz="18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menggunakan</a:t>
            </a:r>
            <a:r>
              <a:rPr lang="en-ID" sz="1800" dirty="0">
                <a:latin typeface="Twentieth Century"/>
                <a:ea typeface="Twentieth Century"/>
                <a:cs typeface="Twentieth Century"/>
                <a:sym typeface="Twentieth Century"/>
              </a:rPr>
              <a:t> kata </a:t>
            </a:r>
            <a:r>
              <a:rPr lang="en-ID" sz="18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kunci</a:t>
            </a:r>
            <a:r>
              <a:rPr lang="en-ID" sz="1800" dirty="0">
                <a:latin typeface="Twentieth Century"/>
                <a:ea typeface="Twentieth Century"/>
                <a:cs typeface="Twentieth Century"/>
                <a:sym typeface="Twentieth Century"/>
              </a:rPr>
              <a:t> switch. Switch </a:t>
            </a:r>
            <a:r>
              <a:rPr lang="en-ID" sz="18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mengkonstruksikan</a:t>
            </a:r>
            <a:r>
              <a:rPr lang="en-ID" sz="18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ID" sz="18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cabang</a:t>
            </a:r>
            <a:r>
              <a:rPr lang="en-ID" sz="18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ID" sz="18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ID" sz="18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ID" sz="18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beberapa</a:t>
            </a:r>
            <a:r>
              <a:rPr lang="en-ID" sz="18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ID" sz="18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kondisi</a:t>
            </a:r>
            <a:r>
              <a:rPr lang="en-ID" sz="18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ID" sz="18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dari</a:t>
            </a:r>
            <a:r>
              <a:rPr lang="en-ID" sz="18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ID" sz="18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nilai</a:t>
            </a:r>
            <a:endParaRPr lang="en-ID" sz="18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ID" sz="18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Tipe</a:t>
            </a:r>
            <a:r>
              <a:rPr lang="en-ID" sz="1800" dirty="0">
                <a:latin typeface="Twentieth Century"/>
                <a:ea typeface="Twentieth Century"/>
                <a:cs typeface="Twentieth Century"/>
                <a:sym typeface="Twentieth Century"/>
              </a:rPr>
              <a:t> data </a:t>
            </a:r>
            <a:r>
              <a:rPr lang="en-ID" sz="18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untuk</a:t>
            </a:r>
            <a:r>
              <a:rPr lang="en-ID" sz="1800" dirty="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ID" sz="18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ekspresi</a:t>
            </a:r>
            <a:r>
              <a:rPr lang="en-ID" sz="1800" dirty="0">
                <a:latin typeface="Twentieth Century"/>
                <a:ea typeface="Twentieth Century"/>
                <a:cs typeface="Twentieth Century"/>
                <a:sym typeface="Twentieth Century"/>
              </a:rPr>
              <a:t> yang </a:t>
            </a:r>
            <a:r>
              <a:rPr lang="en-ID" sz="1800" dirty="0" err="1">
                <a:latin typeface="Twentieth Century"/>
                <a:ea typeface="Twentieth Century"/>
                <a:cs typeface="Twentieth Century"/>
                <a:sym typeface="Twentieth Century"/>
              </a:rPr>
              <a:t>diizinkan</a:t>
            </a:r>
            <a:r>
              <a:rPr lang="en-ID" sz="1800" dirty="0">
                <a:latin typeface="Twentieth Century"/>
                <a:ea typeface="Twentieth Century"/>
                <a:cs typeface="Twentieth Century"/>
                <a:sym typeface="Twentieth Century"/>
              </a:rPr>
              <a:t>: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ID" sz="1800" dirty="0">
                <a:latin typeface="Twentieth Century"/>
                <a:ea typeface="Twentieth Century"/>
                <a:cs typeface="Twentieth Century"/>
                <a:sym typeface="Twentieth Century"/>
              </a:rPr>
              <a:t>Byte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ID" sz="1800" dirty="0">
                <a:latin typeface="Twentieth Century"/>
                <a:ea typeface="Twentieth Century"/>
                <a:cs typeface="Twentieth Century"/>
                <a:sym typeface="Twentieth Century"/>
              </a:rPr>
              <a:t>Short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ID" sz="1800" dirty="0">
                <a:latin typeface="Twentieth Century"/>
                <a:ea typeface="Twentieth Century"/>
                <a:cs typeface="Twentieth Century"/>
                <a:sym typeface="Twentieth Century"/>
              </a:rPr>
              <a:t>Int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ID" sz="1800" dirty="0">
                <a:latin typeface="Twentieth Century"/>
                <a:ea typeface="Twentieth Century"/>
                <a:cs typeface="Twentieth Century"/>
                <a:sym typeface="Twentieth Century"/>
              </a:rPr>
              <a:t>Char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lang="en-ID" sz="18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ID" sz="18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Boolean </a:t>
            </a:r>
            <a:r>
              <a:rPr lang="en-ID" sz="1800" dirty="0" err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tidak</a:t>
            </a:r>
            <a:r>
              <a:rPr lang="en-ID" sz="18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ID" sz="1800" dirty="0" err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dizinkan</a:t>
            </a:r>
            <a:r>
              <a:rPr lang="en-ID" sz="18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ID" sz="1800" dirty="0" err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seperti</a:t>
            </a:r>
            <a:r>
              <a:rPr lang="en-ID" sz="18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ID" sz="1800" dirty="0" err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halnya</a:t>
            </a:r>
            <a:r>
              <a:rPr lang="en-ID" sz="18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pada Pascal (statement case of)</a:t>
            </a:r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sz="2800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F128228-0BBF-4DBE-9F86-574589490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75" y="1245184"/>
            <a:ext cx="4425950" cy="4359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1029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>
            <a:spLocks noGrp="1"/>
          </p:cNvSpPr>
          <p:nvPr>
            <p:ph type="title" idx="4294967295"/>
          </p:nvPr>
        </p:nvSpPr>
        <p:spPr>
          <a:xfrm>
            <a:off x="713718" y="354529"/>
            <a:ext cx="107313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/>
              <a:t>SWITCH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196811-338F-4457-A25E-CA04200A1520}"/>
              </a:ext>
            </a:extLst>
          </p:cNvPr>
          <p:cNvSpPr txBox="1">
            <a:spLocks/>
          </p:cNvSpPr>
          <p:nvPr/>
        </p:nvSpPr>
        <p:spPr>
          <a:xfrm>
            <a:off x="713718" y="1399359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D6430E-E789-4E31-A91B-F520965AA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18" y="1303058"/>
            <a:ext cx="5725308" cy="42518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BE07CD-7532-4669-8CE6-3690320D8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925" y="1396700"/>
            <a:ext cx="4028365" cy="19019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8B273B-2949-4A79-B980-B1E561DAFFDB}"/>
              </a:ext>
            </a:extLst>
          </p:cNvPr>
          <p:cNvSpPr txBox="1"/>
          <p:nvPr/>
        </p:nvSpPr>
        <p:spPr>
          <a:xfrm>
            <a:off x="713718" y="5882537"/>
            <a:ext cx="103425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dirty="0" err="1">
                <a:latin typeface="Twentieth Century"/>
              </a:rPr>
              <a:t>Untuk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menghindari</a:t>
            </a:r>
            <a:r>
              <a:rPr lang="en-ID" sz="1800" dirty="0">
                <a:latin typeface="Twentieth Century"/>
              </a:rPr>
              <a:t> program </a:t>
            </a:r>
            <a:r>
              <a:rPr lang="en-ID" sz="1800" dirty="0" err="1">
                <a:latin typeface="Twentieth Century"/>
              </a:rPr>
              <a:t>mengeksekusi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pernyataan</a:t>
            </a:r>
            <a:r>
              <a:rPr lang="en-ID" sz="1800" dirty="0">
                <a:latin typeface="Twentieth Century"/>
              </a:rPr>
              <a:t> pada case </a:t>
            </a:r>
            <a:r>
              <a:rPr lang="en-ID" sz="1800" dirty="0" err="1">
                <a:latin typeface="Twentieth Century"/>
              </a:rPr>
              <a:t>berikutnya</a:t>
            </a:r>
            <a:r>
              <a:rPr lang="en-ID" sz="1800" dirty="0">
                <a:latin typeface="Twentieth Century"/>
              </a:rPr>
              <a:t>, </a:t>
            </a:r>
            <a:r>
              <a:rPr lang="en-ID" sz="1800" dirty="0" err="1">
                <a:latin typeface="Twentieth Century"/>
              </a:rPr>
              <a:t>kita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menggunakan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pernyataan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b="1" dirty="0">
                <a:latin typeface="Twentieth Century"/>
              </a:rPr>
              <a:t>break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sebagai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pernyataan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akhir</a:t>
            </a:r>
            <a:r>
              <a:rPr lang="en-ID" sz="1800" dirty="0">
                <a:latin typeface="Twentieth Century"/>
              </a:rPr>
              <a:t> pada </a:t>
            </a:r>
            <a:r>
              <a:rPr lang="en-ID" sz="1800" dirty="0" err="1">
                <a:latin typeface="Twentieth Century"/>
              </a:rPr>
              <a:t>setiap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blok</a:t>
            </a:r>
            <a:r>
              <a:rPr lang="en-ID" sz="1800" dirty="0">
                <a:latin typeface="Twentieth Century"/>
              </a:rPr>
              <a:t> case.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347E00-E504-437B-A67F-7C7D08B4136F}"/>
              </a:ext>
            </a:extLst>
          </p:cNvPr>
          <p:cNvSpPr txBox="1"/>
          <p:nvPr/>
        </p:nvSpPr>
        <p:spPr>
          <a:xfrm>
            <a:off x="7027924" y="3654094"/>
            <a:ext cx="402836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dirty="0" err="1">
                <a:latin typeface="Twentieth Century"/>
              </a:rPr>
              <a:t>Dalam</a:t>
            </a:r>
            <a:r>
              <a:rPr lang="en-ID" sz="1600" dirty="0">
                <a:latin typeface="Twentieth Century"/>
              </a:rPr>
              <a:t> Java, statemen break </a:t>
            </a:r>
            <a:r>
              <a:rPr lang="en-ID" sz="1600" dirty="0" err="1">
                <a:latin typeface="Twentieth Century"/>
              </a:rPr>
              <a:t>mempunyai</a:t>
            </a:r>
            <a:r>
              <a:rPr lang="en-ID" sz="1600" dirty="0">
                <a:latin typeface="Twentieth Century"/>
              </a:rPr>
              <a:t> </a:t>
            </a:r>
            <a:r>
              <a:rPr lang="en-ID" sz="1600" dirty="0" err="1">
                <a:latin typeface="Twentieth Century"/>
              </a:rPr>
              <a:t>tiga</a:t>
            </a:r>
            <a:r>
              <a:rPr lang="en-ID" sz="1600" dirty="0">
                <a:latin typeface="Twentieth Century"/>
              </a:rPr>
              <a:t> </a:t>
            </a:r>
            <a:r>
              <a:rPr lang="en-ID" sz="1600" dirty="0" err="1">
                <a:latin typeface="Twentieth Century"/>
              </a:rPr>
              <a:t>kegunaan</a:t>
            </a:r>
            <a:r>
              <a:rPr lang="en-ID" sz="1600" dirty="0">
                <a:latin typeface="Twentieth Century"/>
              </a:rPr>
              <a:t>, </a:t>
            </a:r>
            <a:r>
              <a:rPr lang="en-ID" sz="1600" dirty="0" err="1">
                <a:latin typeface="Twentieth Century"/>
              </a:rPr>
              <a:t>yaitu</a:t>
            </a:r>
            <a:r>
              <a:rPr lang="en-ID" sz="1600" dirty="0">
                <a:latin typeface="Twentieth Century"/>
              </a:rPr>
              <a:t>:. </a:t>
            </a:r>
          </a:p>
          <a:p>
            <a:pPr marL="342900" indent="-342900">
              <a:buAutoNum type="alphaLcPeriod"/>
            </a:pPr>
            <a:r>
              <a:rPr lang="en-ID" sz="1600" dirty="0" err="1">
                <a:latin typeface="Twentieth Century"/>
              </a:rPr>
              <a:t>Membatasi</a:t>
            </a:r>
            <a:r>
              <a:rPr lang="en-ID" sz="1600" dirty="0">
                <a:latin typeface="Twentieth Century"/>
              </a:rPr>
              <a:t> (terminates) </a:t>
            </a:r>
            <a:r>
              <a:rPr lang="en-ID" sz="1600" dirty="0" err="1">
                <a:latin typeface="Twentieth Century"/>
              </a:rPr>
              <a:t>sebuah</a:t>
            </a:r>
            <a:r>
              <a:rPr lang="en-ID" sz="1600" dirty="0">
                <a:latin typeface="Twentieth Century"/>
              </a:rPr>
              <a:t> </a:t>
            </a:r>
            <a:r>
              <a:rPr lang="en-ID" sz="1600" dirty="0" err="1">
                <a:latin typeface="Twentieth Century"/>
              </a:rPr>
              <a:t>urutan</a:t>
            </a:r>
            <a:r>
              <a:rPr lang="en-ID" sz="1600" dirty="0">
                <a:latin typeface="Twentieth Century"/>
              </a:rPr>
              <a:t> statemen </a:t>
            </a:r>
            <a:r>
              <a:rPr lang="en-ID" sz="1600" dirty="0" err="1">
                <a:latin typeface="Twentieth Century"/>
              </a:rPr>
              <a:t>dalamstatemenswitch</a:t>
            </a:r>
            <a:r>
              <a:rPr lang="en-ID" sz="1600" dirty="0">
                <a:latin typeface="Twentieth Century"/>
              </a:rPr>
              <a:t>. </a:t>
            </a:r>
          </a:p>
          <a:p>
            <a:pPr marL="342900" indent="-342900">
              <a:buAutoNum type="alphaLcPeriod"/>
            </a:pPr>
            <a:r>
              <a:rPr lang="en-ID" sz="1600" dirty="0" err="1">
                <a:latin typeface="Twentieth Century"/>
              </a:rPr>
              <a:t>Dapat</a:t>
            </a:r>
            <a:r>
              <a:rPr lang="en-ID" sz="1600" dirty="0">
                <a:latin typeface="Twentieth Century"/>
              </a:rPr>
              <a:t> </a:t>
            </a:r>
            <a:r>
              <a:rPr lang="en-ID" sz="1600" dirty="0" err="1">
                <a:latin typeface="Twentieth Century"/>
              </a:rPr>
              <a:t>digunakan</a:t>
            </a:r>
            <a:r>
              <a:rPr lang="en-ID" sz="1600" dirty="0">
                <a:latin typeface="Twentieth Century"/>
              </a:rPr>
              <a:t> </a:t>
            </a:r>
            <a:r>
              <a:rPr lang="en-ID" sz="1600" dirty="0" err="1">
                <a:latin typeface="Twentieth Century"/>
              </a:rPr>
              <a:t>untuk</a:t>
            </a:r>
            <a:r>
              <a:rPr lang="en-ID" sz="1600" dirty="0">
                <a:latin typeface="Twentieth Century"/>
              </a:rPr>
              <a:t> </a:t>
            </a:r>
            <a:r>
              <a:rPr lang="en-ID" sz="1600" dirty="0" err="1">
                <a:latin typeface="Twentieth Century"/>
              </a:rPr>
              <a:t>keluar</a:t>
            </a:r>
            <a:r>
              <a:rPr lang="en-ID" sz="1600" dirty="0">
                <a:latin typeface="Twentieth Century"/>
              </a:rPr>
              <a:t> </a:t>
            </a:r>
            <a:r>
              <a:rPr lang="en-ID" sz="1600" dirty="0" err="1">
                <a:latin typeface="Twentieth Century"/>
              </a:rPr>
              <a:t>dari</a:t>
            </a:r>
            <a:r>
              <a:rPr lang="en-ID" sz="1600" dirty="0">
                <a:latin typeface="Twentieth Century"/>
              </a:rPr>
              <a:t> </a:t>
            </a:r>
            <a:r>
              <a:rPr lang="en-ID" sz="1600" dirty="0" err="1">
                <a:latin typeface="Twentieth Century"/>
              </a:rPr>
              <a:t>sebuah</a:t>
            </a:r>
            <a:r>
              <a:rPr lang="en-ID" sz="1600" dirty="0">
                <a:latin typeface="Twentieth Century"/>
              </a:rPr>
              <a:t> loop.  </a:t>
            </a:r>
          </a:p>
          <a:p>
            <a:pPr marL="342900" indent="-342900">
              <a:buAutoNum type="alphaLcPeriod"/>
            </a:pPr>
            <a:r>
              <a:rPr lang="en-ID" sz="1600" dirty="0" err="1">
                <a:latin typeface="Twentieth Century"/>
              </a:rPr>
              <a:t>Dapat</a:t>
            </a:r>
            <a:r>
              <a:rPr lang="en-ID" sz="1600" dirty="0">
                <a:latin typeface="Twentieth Century"/>
              </a:rPr>
              <a:t> </a:t>
            </a:r>
            <a:r>
              <a:rPr lang="en-ID" sz="1600" dirty="0" err="1">
                <a:latin typeface="Twentieth Century"/>
              </a:rPr>
              <a:t>digunakan</a:t>
            </a:r>
            <a:r>
              <a:rPr lang="en-ID" sz="1600" dirty="0">
                <a:latin typeface="Twentieth Century"/>
              </a:rPr>
              <a:t> </a:t>
            </a:r>
            <a:r>
              <a:rPr lang="en-ID" sz="1600" dirty="0" err="1">
                <a:latin typeface="Twentieth Century"/>
              </a:rPr>
              <a:t>sebagai</a:t>
            </a:r>
            <a:r>
              <a:rPr lang="en-ID" sz="1600" dirty="0">
                <a:latin typeface="Twentieth Century"/>
              </a:rPr>
              <a:t> </a:t>
            </a:r>
            <a:r>
              <a:rPr lang="en-ID" sz="1600" dirty="0" err="1">
                <a:latin typeface="Twentieth Century"/>
              </a:rPr>
              <a:t>sebuah</a:t>
            </a:r>
            <a:r>
              <a:rPr lang="en-ID" sz="1600" dirty="0">
                <a:latin typeface="Twentieth Century"/>
              </a:rPr>
              <a:t> </a:t>
            </a:r>
            <a:r>
              <a:rPr lang="en-ID" sz="1600" dirty="0" err="1">
                <a:latin typeface="Twentieth Century"/>
              </a:rPr>
              <a:t>pengganti</a:t>
            </a:r>
            <a:r>
              <a:rPr lang="en-ID" sz="1600" dirty="0">
                <a:latin typeface="Twentieth Century"/>
              </a:rPr>
              <a:t> </a:t>
            </a:r>
            <a:r>
              <a:rPr lang="en-ID" sz="1600" dirty="0" err="1">
                <a:latin typeface="Twentieth Century"/>
              </a:rPr>
              <a:t>bentuk</a:t>
            </a:r>
            <a:r>
              <a:rPr lang="en-ID" sz="1600" dirty="0">
                <a:latin typeface="Twentieth Century"/>
              </a:rPr>
              <a:t> </a:t>
            </a:r>
            <a:r>
              <a:rPr lang="en-ID" sz="1600" dirty="0" err="1">
                <a:latin typeface="Twentieth Century"/>
              </a:rPr>
              <a:t>dari</a:t>
            </a:r>
            <a:r>
              <a:rPr lang="en-ID" sz="1600" dirty="0">
                <a:latin typeface="Twentieth Century"/>
              </a:rPr>
              <a:t> </a:t>
            </a:r>
            <a:r>
              <a:rPr lang="en-ID" sz="1600" dirty="0" err="1">
                <a:latin typeface="Twentieth Century"/>
              </a:rPr>
              <a:t>goto</a:t>
            </a:r>
            <a:endParaRPr lang="en-ID" sz="1600" dirty="0">
              <a:latin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122039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>
            <a:spLocks noGrp="1"/>
          </p:cNvSpPr>
          <p:nvPr>
            <p:ph type="title" idx="4294967295"/>
          </p:nvPr>
        </p:nvSpPr>
        <p:spPr>
          <a:xfrm>
            <a:off x="713718" y="354529"/>
            <a:ext cx="107313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/>
              <a:t>SWITCH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196811-338F-4457-A25E-CA04200A1520}"/>
              </a:ext>
            </a:extLst>
          </p:cNvPr>
          <p:cNvSpPr txBox="1">
            <a:spLocks/>
          </p:cNvSpPr>
          <p:nvPr/>
        </p:nvSpPr>
        <p:spPr>
          <a:xfrm>
            <a:off x="713718" y="1399359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8B273B-2949-4A79-B980-B1E561DAFFDB}"/>
              </a:ext>
            </a:extLst>
          </p:cNvPr>
          <p:cNvSpPr txBox="1"/>
          <p:nvPr/>
        </p:nvSpPr>
        <p:spPr>
          <a:xfrm>
            <a:off x="746982" y="1496291"/>
            <a:ext cx="103425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b="1" dirty="0" err="1">
                <a:latin typeface="Twentieth Century"/>
              </a:rPr>
              <a:t>Menggunakan</a:t>
            </a:r>
            <a:r>
              <a:rPr lang="en-ID" sz="1800" b="1" dirty="0">
                <a:latin typeface="Twentieth Century"/>
              </a:rPr>
              <a:t> Break </a:t>
            </a:r>
            <a:r>
              <a:rPr lang="en-ID" sz="1800" b="1" dirty="0" err="1">
                <a:latin typeface="Twentieth Century"/>
              </a:rPr>
              <a:t>Sebagai</a:t>
            </a:r>
            <a:r>
              <a:rPr lang="en-ID" sz="1800" b="1" dirty="0">
                <a:latin typeface="Twentieth Century"/>
              </a:rPr>
              <a:t> </a:t>
            </a:r>
            <a:r>
              <a:rPr lang="en-ID" sz="1800" b="1" dirty="0" err="1">
                <a:latin typeface="Twentieth Century"/>
              </a:rPr>
              <a:t>bentuk</a:t>
            </a:r>
            <a:r>
              <a:rPr lang="en-ID" sz="1800" b="1" dirty="0">
                <a:latin typeface="Twentieth Century"/>
              </a:rPr>
              <a:t> </a:t>
            </a:r>
            <a:r>
              <a:rPr lang="en-ID" sz="1800" b="1" dirty="0" err="1">
                <a:latin typeface="Twentieth Century"/>
              </a:rPr>
              <a:t>Goto</a:t>
            </a:r>
            <a:endParaRPr lang="en-ID" sz="1800" b="1" dirty="0">
              <a:latin typeface="Twentieth Century"/>
            </a:endParaRPr>
          </a:p>
          <a:p>
            <a:r>
              <a:rPr lang="en-ID" sz="1800" dirty="0">
                <a:latin typeface="Twentieth Century"/>
              </a:rPr>
              <a:t>Pada </a:t>
            </a:r>
            <a:r>
              <a:rPr lang="en-ID" sz="1800" dirty="0" err="1">
                <a:latin typeface="Twentieth Century"/>
              </a:rPr>
              <a:t>bahasa</a:t>
            </a:r>
            <a:r>
              <a:rPr lang="en-ID" sz="1800" dirty="0">
                <a:latin typeface="Twentieth Century"/>
              </a:rPr>
              <a:t> Java, </a:t>
            </a:r>
            <a:r>
              <a:rPr lang="en-ID" sz="1800" dirty="0" err="1">
                <a:latin typeface="Twentieth Century"/>
              </a:rPr>
              <a:t>tidak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mempunyai</a:t>
            </a:r>
            <a:r>
              <a:rPr lang="en-ID" sz="1800" dirty="0">
                <a:latin typeface="Twentieth Century"/>
              </a:rPr>
              <a:t> statemen </a:t>
            </a:r>
            <a:r>
              <a:rPr lang="en-ID" sz="1800" dirty="0" err="1">
                <a:latin typeface="Twentieth Century"/>
              </a:rPr>
              <a:t>goto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seperti</a:t>
            </a:r>
            <a:r>
              <a:rPr lang="en-ID" sz="1800" dirty="0">
                <a:latin typeface="Twentieth Century"/>
              </a:rPr>
              <a:t> pada </a:t>
            </a:r>
            <a:r>
              <a:rPr lang="en-ID" sz="1800" dirty="0" err="1">
                <a:latin typeface="Twentieth Century"/>
              </a:rPr>
              <a:t>bahasa</a:t>
            </a:r>
            <a:r>
              <a:rPr lang="en-ID" sz="1800" dirty="0">
                <a:latin typeface="Twentieth Century"/>
              </a:rPr>
              <a:t> lain, </a:t>
            </a:r>
            <a:r>
              <a:rPr lang="en-ID" sz="1800" dirty="0" err="1">
                <a:latin typeface="Twentieth Century"/>
              </a:rPr>
              <a:t>tetapi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sebagai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penggantinya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menggunakanstatemenbreak</a:t>
            </a:r>
            <a:r>
              <a:rPr lang="en-ID" sz="1800" dirty="0">
                <a:latin typeface="Twentieth Century"/>
              </a:rPr>
              <a:t>. Break </a:t>
            </a:r>
            <a:r>
              <a:rPr lang="en-ID" sz="1800" dirty="0" err="1">
                <a:latin typeface="Twentieth Century"/>
              </a:rPr>
              <a:t>digunakan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ketika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kita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ingin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keluar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dari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satu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ataulebih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blok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kode</a:t>
            </a:r>
            <a:r>
              <a:rPr lang="en-ID" sz="1800" dirty="0">
                <a:latin typeface="Twentieth Century"/>
              </a:rPr>
              <a:t>.</a:t>
            </a:r>
          </a:p>
          <a:p>
            <a:endParaRPr lang="en-ID" sz="1800" b="1" dirty="0">
              <a:latin typeface="Twentieth Century"/>
            </a:endParaRPr>
          </a:p>
          <a:p>
            <a:r>
              <a:rPr lang="en-ID" sz="1800" b="1" dirty="0">
                <a:latin typeface="Twentieth Century"/>
              </a:rPr>
              <a:t>Statemen Return</a:t>
            </a:r>
          </a:p>
          <a:p>
            <a:r>
              <a:rPr lang="en-ID" sz="1800" dirty="0">
                <a:latin typeface="Twentieth Century"/>
              </a:rPr>
              <a:t>Statemen </a:t>
            </a:r>
            <a:r>
              <a:rPr lang="en-ID" sz="1800" dirty="0" err="1">
                <a:latin typeface="Twentieth Century"/>
              </a:rPr>
              <a:t>kontrol</a:t>
            </a:r>
            <a:r>
              <a:rPr lang="en-ID" sz="1800" dirty="0">
                <a:latin typeface="Twentieth Century"/>
              </a:rPr>
              <a:t> return </a:t>
            </a:r>
            <a:r>
              <a:rPr lang="en-ID" sz="1800" dirty="0" err="1">
                <a:latin typeface="Twentieth Century"/>
              </a:rPr>
              <a:t>digunakan</a:t>
            </a:r>
            <a:r>
              <a:rPr lang="en-ID" sz="1800" dirty="0">
                <a:latin typeface="Twentieth Century"/>
              </a:rPr>
              <a:t>/</a:t>
            </a:r>
            <a:r>
              <a:rPr lang="en-ID" sz="1800" dirty="0" err="1">
                <a:latin typeface="Twentieth Century"/>
              </a:rPr>
              <a:t>biasanya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secaraeksplisit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mereturn</a:t>
            </a:r>
            <a:r>
              <a:rPr lang="en-ID" sz="1800" dirty="0">
                <a:latin typeface="Twentieth Century"/>
              </a:rPr>
              <a:t> (</a:t>
            </a:r>
            <a:r>
              <a:rPr lang="en-ID" sz="1800" dirty="0" err="1">
                <a:latin typeface="Twentieth Century"/>
              </a:rPr>
              <a:t>mengembalikan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sebuah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nilai</a:t>
            </a:r>
            <a:r>
              <a:rPr lang="en-ID" sz="1800" dirty="0">
                <a:latin typeface="Twentieth Century"/>
              </a:rPr>
              <a:t>) </a:t>
            </a:r>
            <a:r>
              <a:rPr lang="en-ID" sz="1800" dirty="0" err="1">
                <a:latin typeface="Twentieth Century"/>
              </a:rPr>
              <a:t>dari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sebuah</a:t>
            </a:r>
            <a:r>
              <a:rPr lang="en-ID" sz="1800" dirty="0">
                <a:latin typeface="Twentieth Century"/>
              </a:rPr>
              <a:t> </a:t>
            </a:r>
            <a:r>
              <a:rPr lang="en-ID" sz="1800" dirty="0" err="1">
                <a:latin typeface="Twentieth Century"/>
              </a:rPr>
              <a:t>metode</a:t>
            </a:r>
            <a:r>
              <a:rPr lang="en-ID" sz="1800" dirty="0">
                <a:latin typeface="Twentieth Century"/>
              </a:rPr>
              <a:t>.</a:t>
            </a:r>
          </a:p>
          <a:p>
            <a:endParaRPr lang="en-ID" sz="1800" dirty="0">
              <a:latin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6432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>
            <a:spLocks noGrp="1"/>
          </p:cNvSpPr>
          <p:nvPr>
            <p:ph type="title" idx="4294967295"/>
          </p:nvPr>
        </p:nvSpPr>
        <p:spPr>
          <a:xfrm>
            <a:off x="713718" y="354529"/>
            <a:ext cx="107313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</a:pPr>
            <a:r>
              <a:rPr lang="en-US" dirty="0"/>
              <a:t>SWITCH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196811-338F-4457-A25E-CA04200A1520}"/>
              </a:ext>
            </a:extLst>
          </p:cNvPr>
          <p:cNvSpPr txBox="1">
            <a:spLocks/>
          </p:cNvSpPr>
          <p:nvPr/>
        </p:nvSpPr>
        <p:spPr>
          <a:xfrm>
            <a:off x="713718" y="1399359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E368B1-92EB-474F-BD6F-97F317F29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782" y="1454727"/>
            <a:ext cx="4963218" cy="46488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AC296B-6D87-440D-8C56-48ED2E3DE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262" y="2593942"/>
            <a:ext cx="3922573" cy="167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606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QUIZ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F93C91-9EA8-40D1-93A0-8A358B2139B6}"/>
              </a:ext>
            </a:extLst>
          </p:cNvPr>
          <p:cNvSpPr txBox="1">
            <a:spLocks/>
          </p:cNvSpPr>
          <p:nvPr/>
        </p:nvSpPr>
        <p:spPr>
          <a:xfrm>
            <a:off x="713718" y="1675131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15" name="Google Shape;272;p5">
            <a:extLst>
              <a:ext uri="{FF2B5EF4-FFF2-40B4-BE49-F238E27FC236}">
                <a16:creationId xmlns:a16="http://schemas.microsoft.com/office/drawing/2014/main" id="{3810C9C1-D6F9-4702-859A-7C58DCA6EE95}"/>
              </a:ext>
            </a:extLst>
          </p:cNvPr>
          <p:cNvSpPr txBox="1">
            <a:spLocks/>
          </p:cNvSpPr>
          <p:nvPr/>
        </p:nvSpPr>
        <p:spPr>
          <a:xfrm>
            <a:off x="821568" y="1675131"/>
            <a:ext cx="10515600" cy="4658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GB" sz="2400" dirty="0">
              <a:latin typeface="Twentieth Century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400" dirty="0" err="1">
                <a:latin typeface="Twentieth Century"/>
              </a:rPr>
              <a:t>Buatlah</a:t>
            </a:r>
            <a:r>
              <a:rPr lang="en-GB" sz="2400" dirty="0">
                <a:latin typeface="Twentieth Century"/>
              </a:rPr>
              <a:t> program </a:t>
            </a:r>
            <a:r>
              <a:rPr lang="en-GB" sz="2400" dirty="0" err="1">
                <a:latin typeface="Twentieth Century"/>
              </a:rPr>
              <a:t>menentukan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bilangan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terbesar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diantara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dua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bilangan</a:t>
            </a:r>
            <a:r>
              <a:rPr lang="en-GB" sz="2400" dirty="0">
                <a:latin typeface="Twentieth Century"/>
              </a:rPr>
              <a:t> (if else)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400" dirty="0" err="1">
                <a:latin typeface="Twentieth Century"/>
              </a:rPr>
              <a:t>Buatlah</a:t>
            </a:r>
            <a:r>
              <a:rPr lang="en-GB" sz="2400" dirty="0">
                <a:latin typeface="Twentieth Century"/>
              </a:rPr>
              <a:t> program </a:t>
            </a:r>
            <a:r>
              <a:rPr lang="en-GB" sz="2400" dirty="0" err="1">
                <a:latin typeface="Twentieth Century"/>
              </a:rPr>
              <a:t>menentukan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bilangan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ganjil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atau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genap</a:t>
            </a:r>
            <a:r>
              <a:rPr lang="en-GB" sz="2400" dirty="0">
                <a:latin typeface="Twentieth Century"/>
              </a:rPr>
              <a:t> (if else)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400" dirty="0" err="1">
                <a:latin typeface="Twentieth Century"/>
              </a:rPr>
              <a:t>Buatlah</a:t>
            </a:r>
            <a:r>
              <a:rPr lang="en-GB" sz="2400" dirty="0">
                <a:latin typeface="Twentieth Century"/>
              </a:rPr>
              <a:t> program </a:t>
            </a:r>
            <a:r>
              <a:rPr lang="en-GB" sz="2400" dirty="0" err="1">
                <a:latin typeface="Twentieth Century"/>
              </a:rPr>
              <a:t>pemberian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Diskon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dengan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jumlah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pembelian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tertentu</a:t>
            </a:r>
            <a:r>
              <a:rPr lang="en-GB" sz="2400" dirty="0">
                <a:latin typeface="Twentieth Century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400" dirty="0" err="1">
                <a:latin typeface="Twentieth Century"/>
              </a:rPr>
              <a:t>Buatlah</a:t>
            </a:r>
            <a:r>
              <a:rPr lang="en-GB" sz="2400" dirty="0">
                <a:latin typeface="Twentieth Century"/>
              </a:rPr>
              <a:t> program </a:t>
            </a:r>
            <a:r>
              <a:rPr lang="en-GB" sz="2400" dirty="0" err="1">
                <a:latin typeface="Twentieth Century"/>
              </a:rPr>
              <a:t>penentuan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nama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hari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dengan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memberikan</a:t>
            </a:r>
            <a:r>
              <a:rPr lang="en-GB" sz="2400" dirty="0">
                <a:latin typeface="Twentieth Century"/>
              </a:rPr>
              <a:t> symbol </a:t>
            </a:r>
            <a:r>
              <a:rPr lang="en-GB" sz="2400" dirty="0" err="1">
                <a:latin typeface="Twentieth Century"/>
              </a:rPr>
              <a:t>kode</a:t>
            </a:r>
            <a:endParaRPr lang="en-GB" sz="2400" dirty="0">
              <a:latin typeface="Twentieth Century"/>
            </a:endParaRPr>
          </a:p>
          <a:p>
            <a:pPr algn="just">
              <a:lnSpc>
                <a:spcPct val="150000"/>
              </a:lnSpc>
            </a:pPr>
            <a:r>
              <a:rPr lang="en-GB" sz="2400" dirty="0">
                <a:latin typeface="Twentieth Century"/>
              </a:rPr>
              <a:t>       0 = </a:t>
            </a:r>
            <a:r>
              <a:rPr lang="en-GB" sz="2400" dirty="0" err="1">
                <a:latin typeface="Twentieth Century"/>
              </a:rPr>
              <a:t>minggu</a:t>
            </a:r>
            <a:r>
              <a:rPr lang="en-GB" sz="2400" dirty="0">
                <a:latin typeface="Twentieth Century"/>
              </a:rPr>
              <a:t>, 1 = </a:t>
            </a:r>
            <a:r>
              <a:rPr lang="en-GB" sz="2400" dirty="0" err="1">
                <a:latin typeface="Twentieth Century"/>
              </a:rPr>
              <a:t>senin</a:t>
            </a:r>
            <a:r>
              <a:rPr lang="en-GB" sz="2400" dirty="0">
                <a:latin typeface="Twentieth Century"/>
              </a:rPr>
              <a:t>, 2= </a:t>
            </a:r>
            <a:r>
              <a:rPr lang="en-GB" sz="2400" dirty="0" err="1">
                <a:latin typeface="Twentieth Century"/>
              </a:rPr>
              <a:t>selasa</a:t>
            </a:r>
            <a:r>
              <a:rPr lang="en-GB" sz="2400" dirty="0">
                <a:latin typeface="Twentieth Century"/>
              </a:rPr>
              <a:t>, 3=rabu,4=kamis,5=</a:t>
            </a:r>
            <a:r>
              <a:rPr lang="en-GB" sz="2400" dirty="0" err="1">
                <a:latin typeface="Twentieth Century"/>
              </a:rPr>
              <a:t>jumat</a:t>
            </a:r>
            <a:r>
              <a:rPr lang="en-GB" sz="2400" dirty="0">
                <a:latin typeface="Twentieth Century"/>
              </a:rPr>
              <a:t>, 6=</a:t>
            </a:r>
            <a:r>
              <a:rPr lang="en-GB" sz="2400" dirty="0" err="1">
                <a:latin typeface="Twentieth Century"/>
              </a:rPr>
              <a:t>sabtu</a:t>
            </a:r>
            <a:r>
              <a:rPr lang="en-GB" sz="2400" dirty="0">
                <a:latin typeface="Twentieth Century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GB" sz="2400" dirty="0">
                <a:latin typeface="Twentieth Century"/>
              </a:rPr>
              <a:t>       (if </a:t>
            </a:r>
            <a:r>
              <a:rPr lang="en-GB" sz="2400" dirty="0" err="1">
                <a:latin typeface="Twentieth Century"/>
              </a:rPr>
              <a:t>bertingkat</a:t>
            </a:r>
            <a:r>
              <a:rPr lang="en-GB" sz="2400" dirty="0">
                <a:latin typeface="Twentieth Century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5597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>
            <a:spLocks noGrp="1"/>
          </p:cNvSpPr>
          <p:nvPr>
            <p:ph type="title"/>
          </p:nvPr>
        </p:nvSpPr>
        <p:spPr>
          <a:xfrm>
            <a:off x="419615" y="854043"/>
            <a:ext cx="10312400" cy="7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</a:pPr>
            <a:r>
              <a:rPr lang="en-US" dirty="0"/>
              <a:t>TASK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F93C91-9EA8-40D1-93A0-8A358B2139B6}"/>
              </a:ext>
            </a:extLst>
          </p:cNvPr>
          <p:cNvSpPr txBox="1">
            <a:spLocks/>
          </p:cNvSpPr>
          <p:nvPr/>
        </p:nvSpPr>
        <p:spPr>
          <a:xfrm>
            <a:off x="713718" y="1675131"/>
            <a:ext cx="10731300" cy="396235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sz="2000" dirty="0">
              <a:latin typeface="Twentieth Century"/>
            </a:endParaRPr>
          </a:p>
        </p:txBody>
      </p:sp>
      <p:sp>
        <p:nvSpPr>
          <p:cNvPr id="15" name="Google Shape;272;p5">
            <a:extLst>
              <a:ext uri="{FF2B5EF4-FFF2-40B4-BE49-F238E27FC236}">
                <a16:creationId xmlns:a16="http://schemas.microsoft.com/office/drawing/2014/main" id="{3810C9C1-D6F9-4702-859A-7C58DCA6EE95}"/>
              </a:ext>
            </a:extLst>
          </p:cNvPr>
          <p:cNvSpPr txBox="1">
            <a:spLocks/>
          </p:cNvSpPr>
          <p:nvPr/>
        </p:nvSpPr>
        <p:spPr>
          <a:xfrm>
            <a:off x="821568" y="1675131"/>
            <a:ext cx="10515600" cy="4658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GB" sz="2400" dirty="0">
              <a:latin typeface="Twentieth Century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400" dirty="0" err="1">
                <a:latin typeface="Twentieth Century"/>
              </a:rPr>
              <a:t>Lanjutkan</a:t>
            </a:r>
            <a:r>
              <a:rPr lang="en-GB" sz="2400" dirty="0">
                <a:latin typeface="Twentieth Century"/>
              </a:rPr>
              <a:t> program yang </a:t>
            </a:r>
            <a:r>
              <a:rPr lang="en-GB" sz="2400" dirty="0" err="1">
                <a:latin typeface="Twentieth Century"/>
              </a:rPr>
              <a:t>sudah</a:t>
            </a:r>
            <a:r>
              <a:rPr lang="en-GB" sz="2400" dirty="0">
                <a:latin typeface="Twentieth Century"/>
              </a:rPr>
              <a:t> masing” </a:t>
            </a:r>
            <a:r>
              <a:rPr lang="en-GB" sz="2400" dirty="0" err="1">
                <a:latin typeface="Twentieth Century"/>
              </a:rPr>
              <a:t>mahasiswa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tentukan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permasalahan</a:t>
            </a:r>
            <a:r>
              <a:rPr lang="en-GB" sz="2400" dirty="0">
                <a:latin typeface="Twentieth Century"/>
              </a:rPr>
              <a:t> pada </a:t>
            </a:r>
            <a:r>
              <a:rPr lang="en-GB" sz="2400" dirty="0" err="1">
                <a:latin typeface="Twentieth Century"/>
              </a:rPr>
              <a:t>pertemuan</a:t>
            </a:r>
            <a:r>
              <a:rPr lang="en-GB" sz="2400" dirty="0">
                <a:latin typeface="Twentieth Century"/>
              </a:rPr>
              <a:t> 2 , </a:t>
            </a:r>
            <a:r>
              <a:rPr lang="en-GB" sz="2400" dirty="0" err="1">
                <a:latin typeface="Twentieth Century"/>
              </a:rPr>
              <a:t>untuk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menambahkan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b="1" dirty="0">
                <a:latin typeface="Twentieth Century"/>
              </a:rPr>
              <a:t>Control Statement </a:t>
            </a:r>
          </a:p>
          <a:p>
            <a:pPr algn="just">
              <a:lnSpc>
                <a:spcPct val="150000"/>
              </a:lnSpc>
            </a:pPr>
            <a:r>
              <a:rPr lang="en-GB" sz="2400" b="1" dirty="0">
                <a:latin typeface="Twentieth Century"/>
              </a:rPr>
              <a:t>	(</a:t>
            </a:r>
            <a:r>
              <a:rPr lang="en-GB" sz="2400" dirty="0" err="1">
                <a:latin typeface="Twentieth Century"/>
              </a:rPr>
              <a:t>setiap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mahasiswa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berbeda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disesuaikan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tahap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awal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dirty="0" err="1">
                <a:latin typeface="Twentieth Century"/>
              </a:rPr>
              <a:t>projek</a:t>
            </a:r>
            <a:r>
              <a:rPr lang="en-GB" sz="2400" dirty="0">
                <a:latin typeface="Twentieth Century"/>
              </a:rPr>
              <a:t> </a:t>
            </a:r>
            <a:r>
              <a:rPr lang="en-GB" sz="2400" b="1" dirty="0">
                <a:latin typeface="Twentieth Century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72775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9"/>
          <p:cNvSpPr txBox="1">
            <a:spLocks noGrp="1"/>
          </p:cNvSpPr>
          <p:nvPr>
            <p:ph type="ctrTitle"/>
          </p:nvPr>
        </p:nvSpPr>
        <p:spPr>
          <a:xfrm>
            <a:off x="2333732" y="2541902"/>
            <a:ext cx="3048000" cy="1768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</a:pPr>
            <a:r>
              <a:rPr lang="en-US"/>
              <a:t>Terima</a:t>
            </a:r>
            <a:br>
              <a:rPr lang="en-US"/>
            </a:br>
            <a:r>
              <a:rPr lang="en-US"/>
              <a:t>Kasih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3576</TotalTime>
  <Words>1025</Words>
  <Application>Microsoft Office PowerPoint</Application>
  <PresentationFormat>Widescreen</PresentationFormat>
  <Paragraphs>200</Paragraphs>
  <Slides>33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Book Antiqua</vt:lpstr>
      <vt:lpstr>Calibri</vt:lpstr>
      <vt:lpstr>Freestyle Script</vt:lpstr>
      <vt:lpstr>inherit</vt:lpstr>
      <vt:lpstr>Twentieth Century</vt:lpstr>
      <vt:lpstr>Wingdings</vt:lpstr>
      <vt:lpstr>1_Office Theme</vt:lpstr>
      <vt:lpstr>OBJECT ORIENTED PROGRAMMING</vt:lpstr>
      <vt:lpstr>PowerPoint Presentation</vt:lpstr>
      <vt:lpstr>PowerPoint Presentation</vt:lpstr>
      <vt:lpstr>College Contract</vt:lpstr>
      <vt:lpstr>Assessment</vt:lpstr>
      <vt:lpstr>PowerPoint Presentation</vt:lpstr>
      <vt:lpstr>PowerPoint Presentation</vt:lpstr>
      <vt:lpstr>PowerPoint Presentation</vt:lpstr>
      <vt:lpstr>PowerPoint Presentation</vt:lpstr>
      <vt:lpstr>CONTROL STATEMENT</vt:lpstr>
      <vt:lpstr>PEMILIHAN / PERCABANGAN</vt:lpstr>
      <vt:lpstr>STATEMENT IF</vt:lpstr>
      <vt:lpstr>PowerPoint Presentation</vt:lpstr>
      <vt:lpstr>SATU KONDISI (IF)</vt:lpstr>
      <vt:lpstr>SATU KONDISI (IF)</vt:lpstr>
      <vt:lpstr>SATU KONDISI (IF)</vt:lpstr>
      <vt:lpstr>PowerPoint Presentation</vt:lpstr>
      <vt:lpstr>DUA KONDISI (IF)</vt:lpstr>
      <vt:lpstr>DUA KONDISI (IF)</vt:lpstr>
      <vt:lpstr>DUA KONDISI (IF)</vt:lpstr>
      <vt:lpstr>DUA KONDISI (IF)</vt:lpstr>
      <vt:lpstr>PowerPoint Presentation</vt:lpstr>
      <vt:lpstr>TIGA KONDISI atau LEBIH (IF)</vt:lpstr>
      <vt:lpstr>TIGA KONDISI atau LEBIH (IF)</vt:lpstr>
      <vt:lpstr>DUA KONDISI (IF)</vt:lpstr>
      <vt:lpstr>SWITCH</vt:lpstr>
      <vt:lpstr>PowerPoint Presentation</vt:lpstr>
      <vt:lpstr>SWITCH</vt:lpstr>
      <vt:lpstr>SWITCH</vt:lpstr>
      <vt:lpstr>SWITCH</vt:lpstr>
      <vt:lpstr>QUIZ</vt:lpstr>
      <vt:lpstr>TASK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Architecture</dc:title>
  <dc:creator>Hanifah intania</dc:creator>
  <cp:lastModifiedBy>Dewi Setiowati</cp:lastModifiedBy>
  <cp:revision>173</cp:revision>
  <dcterms:created xsi:type="dcterms:W3CDTF">2023-08-25T16:23:35Z</dcterms:created>
  <dcterms:modified xsi:type="dcterms:W3CDTF">2025-08-08T11:57:07Z</dcterms:modified>
</cp:coreProperties>
</file>