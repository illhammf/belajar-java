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95" r:id="rId3"/>
    <p:sldId id="309" r:id="rId4"/>
    <p:sldId id="2029" r:id="rId5"/>
    <p:sldId id="2030" r:id="rId6"/>
    <p:sldId id="2031" r:id="rId7"/>
    <p:sldId id="259" r:id="rId8"/>
    <p:sldId id="2033" r:id="rId9"/>
    <p:sldId id="2038" r:id="rId10"/>
    <p:sldId id="2032" r:id="rId11"/>
    <p:sldId id="263" r:id="rId12"/>
    <p:sldId id="2119" r:id="rId13"/>
    <p:sldId id="2101" r:id="rId14"/>
    <p:sldId id="2084" r:id="rId15"/>
    <p:sldId id="2039" r:id="rId16"/>
    <p:sldId id="2102" r:id="rId17"/>
    <p:sldId id="2120" r:id="rId18"/>
    <p:sldId id="2103" r:id="rId19"/>
    <p:sldId id="2104" r:id="rId20"/>
    <p:sldId id="2121" r:id="rId21"/>
    <p:sldId id="2105" r:id="rId22"/>
    <p:sldId id="2106" r:id="rId23"/>
    <p:sldId id="2107" r:id="rId24"/>
    <p:sldId id="2108" r:id="rId25"/>
    <p:sldId id="2110" r:id="rId26"/>
    <p:sldId id="2111" r:id="rId27"/>
    <p:sldId id="2112" r:id="rId28"/>
    <p:sldId id="2113" r:id="rId29"/>
    <p:sldId id="2116" r:id="rId30"/>
    <p:sldId id="2114" r:id="rId31"/>
    <p:sldId id="2115" r:id="rId32"/>
    <p:sldId id="2082" r:id="rId33"/>
    <p:sldId id="294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h9EuQyagaA6UgANiLgm97Yp5Do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6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448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1578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9340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1561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9829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5694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3534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6057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0284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2929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87224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33900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1075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9222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0016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71778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23786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41061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82466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62809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18616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93589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2">
  <p:cSld name="Cover 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" name="Google Shape;20;p41"/>
          <p:cNvSpPr>
            <a:spLocks noGrp="1"/>
          </p:cNvSpPr>
          <p:nvPr>
            <p:ph type="pic" idx="2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</p:sp>
      <p:sp>
        <p:nvSpPr>
          <p:cNvPr id="21" name="Google Shape;21;p41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  <a:defRPr sz="5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1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41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1"/>
          <p:cNvSpPr/>
          <p:nvPr/>
        </p:nvSpPr>
        <p:spPr>
          <a:xfrm>
            <a:off x="588970" y="3975211"/>
            <a:ext cx="1659545" cy="4571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" name="Google Shape;25;p41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6" name="Google Shape;26;p41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27" name="Google Shape;27;p41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8" name="Google Shape;28;p41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en Pengampu">
  <p:cSld name="Dosen Pengampu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3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2"/>
          <p:cNvSpPr>
            <a:spLocks noGrp="1"/>
          </p:cNvSpPr>
          <p:nvPr>
            <p:ph type="pic" idx="2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  <a:noFill/>
          <a:ln>
            <a:noFill/>
          </a:ln>
        </p:spPr>
      </p:sp>
      <p:sp>
        <p:nvSpPr>
          <p:cNvPr id="33" name="Google Shape;33;p42"/>
          <p:cNvSpPr txBox="1">
            <a:spLocks noGrp="1"/>
          </p:cNvSpPr>
          <p:nvPr>
            <p:ph type="body" idx="1"/>
          </p:nvPr>
        </p:nvSpPr>
        <p:spPr>
          <a:xfrm>
            <a:off x="5154979" y="2275496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  <a:defRPr b="1">
                <a:solidFill>
                  <a:srgbClr val="0E60AC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2"/>
          <p:cNvSpPr txBox="1"/>
          <p:nvPr/>
        </p:nvSpPr>
        <p:spPr>
          <a:xfrm>
            <a:off x="5164108" y="1988095"/>
            <a:ext cx="3127989" cy="27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000"/>
              <a:buFont typeface="Twentieth Century"/>
              <a:buNone/>
            </a:pPr>
            <a:r>
              <a:rPr lang="en-US" sz="20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Dosen Koordinator:</a:t>
            </a:r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body" idx="3"/>
          </p:nvPr>
        </p:nvSpPr>
        <p:spPr>
          <a:xfrm>
            <a:off x="5154979" y="3176643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  <a:defRPr b="1">
                <a:solidFill>
                  <a:srgbClr val="0E60AC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2"/>
          <p:cNvSpPr txBox="1"/>
          <p:nvPr/>
        </p:nvSpPr>
        <p:spPr>
          <a:xfrm>
            <a:off x="5164108" y="2889242"/>
            <a:ext cx="3127989" cy="27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000"/>
              <a:buFont typeface="Twentieth Century"/>
              <a:buNone/>
            </a:pPr>
            <a:r>
              <a:rPr lang="en-US" sz="20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NID:</a:t>
            </a:r>
            <a:endParaRPr/>
          </a:p>
        </p:txBody>
      </p:sp>
      <p:sp>
        <p:nvSpPr>
          <p:cNvPr id="37" name="Google Shape;37;p42"/>
          <p:cNvSpPr txBox="1">
            <a:spLocks noGrp="1"/>
          </p:cNvSpPr>
          <p:nvPr>
            <p:ph type="body" idx="4"/>
          </p:nvPr>
        </p:nvSpPr>
        <p:spPr>
          <a:xfrm>
            <a:off x="5154979" y="4077790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  <a:defRPr b="1">
                <a:solidFill>
                  <a:srgbClr val="0E60AC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2"/>
          <p:cNvSpPr txBox="1"/>
          <p:nvPr/>
        </p:nvSpPr>
        <p:spPr>
          <a:xfrm>
            <a:off x="5164108" y="3790389"/>
            <a:ext cx="3127989" cy="27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000"/>
              <a:buFont typeface="Twentieth Century"/>
              <a:buNone/>
            </a:pPr>
            <a:r>
              <a:rPr lang="en-US" sz="20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E-mail:</a:t>
            </a:r>
            <a:endParaRPr/>
          </a:p>
        </p:txBody>
      </p:sp>
      <p:grpSp>
        <p:nvGrpSpPr>
          <p:cNvPr id="39" name="Google Shape;39;p42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40" name="Google Shape;40;p42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41" name="Google Shape;41;p42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k (Sebelum UAS)">
  <p:cSld name="Topik (Sebelum UAS)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4"/>
          <p:cNvSpPr/>
          <p:nvPr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1" name="Google Shape;71;p44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4"/>
          <p:cNvSpPr txBox="1"/>
          <p:nvPr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8</a:t>
            </a:r>
            <a:endParaRPr/>
          </a:p>
        </p:txBody>
      </p:sp>
      <p:sp>
        <p:nvSpPr>
          <p:cNvPr id="73" name="Google Shape;73;p44"/>
          <p:cNvSpPr/>
          <p:nvPr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4" name="Google Shape;74;p44"/>
          <p:cNvSpPr txBox="1">
            <a:spLocks noGrp="1"/>
          </p:cNvSpPr>
          <p:nvPr>
            <p:ph type="body" idx="2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4"/>
          <p:cNvSpPr txBox="1"/>
          <p:nvPr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9</a:t>
            </a:r>
            <a:endParaRPr/>
          </a:p>
        </p:txBody>
      </p:sp>
      <p:sp>
        <p:nvSpPr>
          <p:cNvPr id="76" name="Google Shape;76;p44"/>
          <p:cNvSpPr/>
          <p:nvPr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" name="Google Shape;77;p44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44"/>
          <p:cNvSpPr txBox="1"/>
          <p:nvPr/>
        </p:nvSpPr>
        <p:spPr>
          <a:xfrm>
            <a:off x="6387656" y="1962504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10</a:t>
            </a:r>
            <a:endParaRPr/>
          </a:p>
        </p:txBody>
      </p:sp>
      <p:sp>
        <p:nvSpPr>
          <p:cNvPr id="79" name="Google Shape;79;p44"/>
          <p:cNvSpPr/>
          <p:nvPr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0" name="Google Shape;80;p44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/>
          <p:nvPr/>
        </p:nvSpPr>
        <p:spPr>
          <a:xfrm>
            <a:off x="9179561" y="1962504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11</a:t>
            </a:r>
            <a:endParaRPr/>
          </a:p>
        </p:txBody>
      </p:sp>
      <p:sp>
        <p:nvSpPr>
          <p:cNvPr id="82" name="Google Shape;82;p44"/>
          <p:cNvSpPr/>
          <p:nvPr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3" name="Google Shape;83;p44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44"/>
          <p:cNvSpPr txBox="1"/>
          <p:nvPr/>
        </p:nvSpPr>
        <p:spPr>
          <a:xfrm>
            <a:off x="801277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12</a:t>
            </a:r>
            <a:endParaRPr/>
          </a:p>
        </p:txBody>
      </p:sp>
      <p:sp>
        <p:nvSpPr>
          <p:cNvPr id="85" name="Google Shape;85;p44"/>
          <p:cNvSpPr/>
          <p:nvPr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6" name="Google Shape;86;p44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4"/>
          <p:cNvSpPr txBox="1"/>
          <p:nvPr/>
        </p:nvSpPr>
        <p:spPr>
          <a:xfrm>
            <a:off x="3593182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13</a:t>
            </a:r>
            <a:endParaRPr/>
          </a:p>
        </p:txBody>
      </p:sp>
      <p:sp>
        <p:nvSpPr>
          <p:cNvPr id="88" name="Google Shape;88;p44"/>
          <p:cNvSpPr/>
          <p:nvPr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9" name="Google Shape;89;p44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4"/>
          <p:cNvSpPr txBox="1"/>
          <p:nvPr/>
        </p:nvSpPr>
        <p:spPr>
          <a:xfrm>
            <a:off x="6387656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14</a:t>
            </a:r>
            <a:endParaRPr/>
          </a:p>
        </p:txBody>
      </p:sp>
      <p:sp>
        <p:nvSpPr>
          <p:cNvPr id="91" name="Google Shape;91;p44"/>
          <p:cNvSpPr/>
          <p:nvPr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2" name="Google Shape;92;p44"/>
          <p:cNvSpPr txBox="1"/>
          <p:nvPr/>
        </p:nvSpPr>
        <p:spPr>
          <a:xfrm>
            <a:off x="9179561" y="4139355"/>
            <a:ext cx="164660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Ujian Akhir</a:t>
            </a:r>
            <a:endParaRPr sz="2400" b="1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Semester</a:t>
            </a:r>
            <a:endParaRPr/>
          </a:p>
        </p:txBody>
      </p:sp>
      <p:sp>
        <p:nvSpPr>
          <p:cNvPr id="93" name="Google Shape;93;p44"/>
          <p:cNvSpPr/>
          <p:nvPr/>
        </p:nvSpPr>
        <p:spPr>
          <a:xfrm>
            <a:off x="571756" y="1068393"/>
            <a:ext cx="3911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Topik Sebelum UAS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ndahuluan">
  <p:cSld name="Pendahuluan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45"/>
          <p:cNvGrpSpPr/>
          <p:nvPr/>
        </p:nvGrpSpPr>
        <p:grpSpPr>
          <a:xfrm>
            <a:off x="838200" y="1071592"/>
            <a:ext cx="5999349" cy="794408"/>
            <a:chOff x="838200" y="544975"/>
            <a:chExt cx="5999349" cy="794408"/>
          </a:xfrm>
        </p:grpSpPr>
        <p:sp>
          <p:nvSpPr>
            <p:cNvPr id="97" name="Google Shape;97;p45"/>
            <p:cNvSpPr/>
            <p:nvPr/>
          </p:nvSpPr>
          <p:spPr>
            <a:xfrm>
              <a:off x="1282045" y="716437"/>
              <a:ext cx="5555504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8" name="Google Shape;98;p45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9" name="Google Shape;99;p45"/>
            <p:cNvSpPr/>
            <p:nvPr/>
          </p:nvSpPr>
          <p:spPr>
            <a:xfrm>
              <a:off x="1654410" y="569942"/>
              <a:ext cx="3273525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Pendahuluan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00" name="Google Shape;100;p4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83077" y="544975"/>
              <a:ext cx="665176" cy="7623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45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ujuan Pembelajaran">
  <p:cSld name="Tujuan Pembelajara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" name="Google Shape;104;p46"/>
          <p:cNvGrpSpPr/>
          <p:nvPr/>
        </p:nvGrpSpPr>
        <p:grpSpPr>
          <a:xfrm>
            <a:off x="753475" y="1125069"/>
            <a:ext cx="6438605" cy="769441"/>
            <a:chOff x="753475" y="569942"/>
            <a:chExt cx="6438605" cy="769441"/>
          </a:xfrm>
        </p:grpSpPr>
        <p:sp>
          <p:nvSpPr>
            <p:cNvPr id="105" name="Google Shape;105;p46"/>
            <p:cNvSpPr/>
            <p:nvPr/>
          </p:nvSpPr>
          <p:spPr>
            <a:xfrm>
              <a:off x="1282044" y="716437"/>
              <a:ext cx="5910035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" name="Google Shape;106;p46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7" name="Google Shape;107;p46"/>
            <p:cNvSpPr/>
            <p:nvPr/>
          </p:nvSpPr>
          <p:spPr>
            <a:xfrm>
              <a:off x="1654410" y="569942"/>
              <a:ext cx="5537670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Capaian Pembelajaran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08" name="Google Shape;108;p4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53475" y="649446"/>
              <a:ext cx="791900" cy="632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46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8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8"/>
          <p:cNvSpPr txBox="1"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nutup">
  <p:cSld name="Penutup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0" descr="Business people  clapping their hands at the meeting Premium Photo"/>
          <p:cNvPicPr preferRelativeResize="0"/>
          <p:nvPr/>
        </p:nvPicPr>
        <p:blipFill rotWithShape="1">
          <a:blip r:embed="rId2">
            <a:alphaModFix/>
          </a:blip>
          <a:srcRect r="8529"/>
          <a:stretch/>
        </p:blipFill>
        <p:spPr>
          <a:xfrm>
            <a:off x="2790216" y="-5350"/>
            <a:ext cx="9401784" cy="686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0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9" name="Google Shape;129;p50"/>
          <p:cNvSpPr/>
          <p:nvPr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0" name="Google Shape;130;p50"/>
          <p:cNvSpPr txBox="1">
            <a:spLocks noGrp="1"/>
          </p:cNvSpPr>
          <p:nvPr>
            <p:ph type="ctrTitle"/>
          </p:nvPr>
        </p:nvSpPr>
        <p:spPr>
          <a:xfrm>
            <a:off x="2333732" y="2541902"/>
            <a:ext cx="3048000" cy="176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1" name="Google Shape;131;p50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32" name="Google Shape;132;p50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33" name="Google Shape;133;p50"/>
            <p:cNvPicPr preferRelativeResize="0"/>
            <p:nvPr/>
          </p:nvPicPr>
          <p:blipFill rotWithShape="1">
            <a:blip r:embed="rId3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1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6" name="Google Shape;136;p51"/>
          <p:cNvSpPr>
            <a:spLocks noGrp="1"/>
          </p:cNvSpPr>
          <p:nvPr>
            <p:ph type="pic" idx="2"/>
          </p:nvPr>
        </p:nvSpPr>
        <p:spPr>
          <a:xfrm>
            <a:off x="0" y="1105260"/>
            <a:ext cx="4509370" cy="464642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1"/>
          <p:cNvSpPr txBox="1">
            <a:spLocks noGrp="1"/>
          </p:cNvSpPr>
          <p:nvPr>
            <p:ph type="title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  <a:defRPr sz="5400" b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1"/>
          <p:cNvSpPr txBox="1">
            <a:spLocks noGrp="1"/>
          </p:cNvSpPr>
          <p:nvPr>
            <p:ph type="body" idx="1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400"/>
              <a:buNone/>
              <a:defRPr sz="2400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51"/>
          <p:cNvSpPr txBox="1">
            <a:spLocks noGrp="1"/>
          </p:cNvSpPr>
          <p:nvPr>
            <p:ph type="body" idx="3"/>
          </p:nvPr>
        </p:nvSpPr>
        <p:spPr>
          <a:xfrm>
            <a:off x="4968465" y="403445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7C30"/>
              </a:buClr>
              <a:buSzPts val="2800"/>
              <a:buNone/>
              <a:defRPr sz="2800" b="1">
                <a:solidFill>
                  <a:srgbClr val="EC7C3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51"/>
          <p:cNvSpPr/>
          <p:nvPr/>
        </p:nvSpPr>
        <p:spPr>
          <a:xfrm>
            <a:off x="4968465" y="3811581"/>
            <a:ext cx="1659545" cy="45719"/>
          </a:xfrm>
          <a:prstGeom prst="roundRect">
            <a:avLst>
              <a:gd name="adj" fmla="val 16667"/>
            </a:avLst>
          </a:prstGeom>
          <a:solidFill>
            <a:srgbClr val="EC7C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2" name="Google Shape;142;p51"/>
          <p:cNvSpPr txBox="1">
            <a:spLocks noGrp="1"/>
          </p:cNvSpPr>
          <p:nvPr>
            <p:ph type="body" idx="4"/>
          </p:nvPr>
        </p:nvSpPr>
        <p:spPr>
          <a:xfrm>
            <a:off x="4968464" y="110526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7C30"/>
              </a:buClr>
              <a:buSzPts val="2800"/>
              <a:buNone/>
              <a:defRPr sz="2800" b="1">
                <a:solidFill>
                  <a:srgbClr val="EC7C3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43" name="Google Shape;143;p51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44" name="Google Shape;144;p51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45" name="Google Shape;145;p51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omponen Penilaian">
  <p:cSld name="Komponen Penilaian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52"/>
          <p:cNvGrpSpPr/>
          <p:nvPr/>
        </p:nvGrpSpPr>
        <p:grpSpPr>
          <a:xfrm>
            <a:off x="838200" y="1125069"/>
            <a:ext cx="5999349" cy="769441"/>
            <a:chOff x="838200" y="569942"/>
            <a:chExt cx="5999349" cy="769441"/>
          </a:xfrm>
        </p:grpSpPr>
        <p:sp>
          <p:nvSpPr>
            <p:cNvPr id="149" name="Google Shape;149;p52"/>
            <p:cNvSpPr/>
            <p:nvPr/>
          </p:nvSpPr>
          <p:spPr>
            <a:xfrm>
              <a:off x="1282045" y="716437"/>
              <a:ext cx="5555504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0" name="Google Shape;150;p52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1" name="Google Shape;151;p52"/>
            <p:cNvSpPr/>
            <p:nvPr/>
          </p:nvSpPr>
          <p:spPr>
            <a:xfrm>
              <a:off x="1654410" y="569942"/>
              <a:ext cx="5068760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Komponen Penilaian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52" name="Google Shape;152;p5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21012" y="616587"/>
              <a:ext cx="589305" cy="67542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3"/>
          <p:cNvSpPr txBox="1">
            <a:spLocks noGrp="1"/>
          </p:cNvSpPr>
          <p:nvPr>
            <p:ph type="title"/>
          </p:nvPr>
        </p:nvSpPr>
        <p:spPr>
          <a:xfrm>
            <a:off x="831850" y="1389699"/>
            <a:ext cx="10515600" cy="161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3"/>
          <p:cNvSpPr txBox="1">
            <a:spLocks noGrp="1"/>
          </p:cNvSpPr>
          <p:nvPr>
            <p:ph type="body" idx="1"/>
          </p:nvPr>
        </p:nvSpPr>
        <p:spPr>
          <a:xfrm>
            <a:off x="831850" y="3185341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400"/>
              <a:buNone/>
              <a:defRPr sz="2400">
                <a:solidFill>
                  <a:srgbClr val="031629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2000"/>
              <a:buNone/>
              <a:defRPr sz="2000">
                <a:solidFill>
                  <a:srgbClr val="8E8E8E"/>
                </a:solidFill>
              </a:defRPr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800"/>
              <a:buNone/>
              <a:defRPr sz="1800">
                <a:solidFill>
                  <a:srgbClr val="8E8E8E"/>
                </a:solidFill>
              </a:defRPr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"/>
          <p:cNvSpPr txBox="1"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5"/>
          <p:cNvSpPr txBox="1">
            <a:spLocks noGrp="1"/>
          </p:cNvSpPr>
          <p:nvPr>
            <p:ph type="body" idx="1"/>
          </p:nvPr>
        </p:nvSpPr>
        <p:spPr>
          <a:xfrm>
            <a:off x="839788" y="1772239"/>
            <a:ext cx="5157787" cy="65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800"/>
              <a:buNone/>
              <a:defRPr sz="2800" b="1">
                <a:solidFill>
                  <a:srgbClr val="0E60AC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5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55"/>
          <p:cNvSpPr txBox="1">
            <a:spLocks noGrp="1"/>
          </p:cNvSpPr>
          <p:nvPr>
            <p:ph type="body" idx="3"/>
          </p:nvPr>
        </p:nvSpPr>
        <p:spPr>
          <a:xfrm>
            <a:off x="6172200" y="1772239"/>
            <a:ext cx="5183188" cy="65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800"/>
              <a:buNone/>
              <a:defRPr sz="2800" b="1">
                <a:solidFill>
                  <a:srgbClr val="0E60AC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6" name="Google Shape;166;p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5"/>
          <p:cNvSpPr txBox="1"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6"/>
          <p:cNvSpPr txBox="1">
            <a:spLocks noGrp="1"/>
          </p:cNvSpPr>
          <p:nvPr>
            <p:ph type="title"/>
          </p:nvPr>
        </p:nvSpPr>
        <p:spPr>
          <a:xfrm>
            <a:off x="838200" y="960120"/>
            <a:ext cx="10515600" cy="193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1">
  <p:cSld name="Picture with Caption 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7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4" name="Google Shape;174;p57"/>
          <p:cNvSpPr>
            <a:spLocks noGrp="1"/>
          </p:cNvSpPr>
          <p:nvPr>
            <p:ph type="pic" idx="2"/>
          </p:nvPr>
        </p:nvSpPr>
        <p:spPr>
          <a:xfrm>
            <a:off x="5183188" y="1107481"/>
            <a:ext cx="5900448" cy="4800705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7"/>
          <p:cNvSpPr txBox="1">
            <a:spLocks noGrp="1"/>
          </p:cNvSpPr>
          <p:nvPr>
            <p:ph type="title"/>
          </p:nvPr>
        </p:nvSpPr>
        <p:spPr>
          <a:xfrm>
            <a:off x="802081" y="886379"/>
            <a:ext cx="3751066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  <a:defRPr sz="3200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7"/>
          <p:cNvSpPr txBox="1">
            <a:spLocks noGrp="1"/>
          </p:cNvSpPr>
          <p:nvPr>
            <p:ph type="body" idx="1"/>
          </p:nvPr>
        </p:nvSpPr>
        <p:spPr>
          <a:xfrm>
            <a:off x="802081" y="2264241"/>
            <a:ext cx="3751066" cy="36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grpSp>
        <p:nvGrpSpPr>
          <p:cNvPr id="178" name="Google Shape;178;p57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79" name="Google Shape;179;p57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80" name="Google Shape;180;p57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2">
  <p:cSld name="Picture with Caption 2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8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3" name="Google Shape;183;p58"/>
          <p:cNvSpPr/>
          <p:nvPr/>
        </p:nvSpPr>
        <p:spPr>
          <a:xfrm>
            <a:off x="1350627" y="973603"/>
            <a:ext cx="3777556" cy="26412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4" name="Google Shape;184;p58"/>
          <p:cNvSpPr>
            <a:spLocks noGrp="1"/>
          </p:cNvSpPr>
          <p:nvPr>
            <p:ph type="pic" idx="2"/>
          </p:nvPr>
        </p:nvSpPr>
        <p:spPr>
          <a:xfrm>
            <a:off x="1414021" y="1025025"/>
            <a:ext cx="3640619" cy="251816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58"/>
          <p:cNvSpPr txBox="1">
            <a:spLocks noGrp="1"/>
          </p:cNvSpPr>
          <p:nvPr>
            <p:ph type="title"/>
          </p:nvPr>
        </p:nvSpPr>
        <p:spPr>
          <a:xfrm>
            <a:off x="5817139" y="973603"/>
            <a:ext cx="3571959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>
                <a:solidFill>
                  <a:srgbClr val="0E60A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58"/>
          <p:cNvSpPr txBox="1">
            <a:spLocks noGrp="1"/>
          </p:cNvSpPr>
          <p:nvPr>
            <p:ph type="body" idx="1"/>
          </p:nvPr>
        </p:nvSpPr>
        <p:spPr>
          <a:xfrm>
            <a:off x="5817139" y="2351465"/>
            <a:ext cx="4740881" cy="380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>
                <a:solidFill>
                  <a:srgbClr val="031629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88" name="Google Shape;188;p58"/>
          <p:cNvSpPr/>
          <p:nvPr/>
        </p:nvSpPr>
        <p:spPr>
          <a:xfrm>
            <a:off x="1350627" y="3762265"/>
            <a:ext cx="3777556" cy="26412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9" name="Google Shape;189;p58"/>
          <p:cNvSpPr>
            <a:spLocks noGrp="1"/>
          </p:cNvSpPr>
          <p:nvPr>
            <p:ph type="pic" idx="3"/>
          </p:nvPr>
        </p:nvSpPr>
        <p:spPr>
          <a:xfrm>
            <a:off x="1414021" y="3813687"/>
            <a:ext cx="3640619" cy="251816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0" name="Google Shape;190;p58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91" name="Google Shape;191;p58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92" name="Google Shape;192;p58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5">
  <p:cSld name="Picture with Caption 5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9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5" name="Google Shape;195;p59"/>
          <p:cNvSpPr>
            <a:spLocks noGrp="1"/>
          </p:cNvSpPr>
          <p:nvPr>
            <p:ph type="pic" idx="2"/>
          </p:nvPr>
        </p:nvSpPr>
        <p:spPr>
          <a:xfrm>
            <a:off x="569929" y="886379"/>
            <a:ext cx="4888191" cy="5021807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59"/>
          <p:cNvSpPr txBox="1">
            <a:spLocks noGrp="1"/>
          </p:cNvSpPr>
          <p:nvPr>
            <p:ph type="body" idx="1"/>
          </p:nvPr>
        </p:nvSpPr>
        <p:spPr>
          <a:xfrm>
            <a:off x="5918477" y="2264241"/>
            <a:ext cx="5280565" cy="36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2000"/>
              <a:buNone/>
              <a:defRPr sz="2000">
                <a:solidFill>
                  <a:srgbClr val="083866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8" name="Google Shape;198;p59"/>
          <p:cNvSpPr txBox="1">
            <a:spLocks noGrp="1"/>
          </p:cNvSpPr>
          <p:nvPr>
            <p:ph type="title"/>
          </p:nvPr>
        </p:nvSpPr>
        <p:spPr>
          <a:xfrm>
            <a:off x="5918476" y="867524"/>
            <a:ext cx="3470621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>
                <a:solidFill>
                  <a:srgbClr val="0E60A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9" name="Google Shape;199;p59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200" name="Google Shape;200;p59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01" name="Google Shape;201;p59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Uraian Materi">
  <p:cSld name="Slide Uraian Materi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60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60"/>
          <p:cNvSpPr txBox="1"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3">
  <p:cSld name="Picture with Caption 3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1"/>
          <p:cNvSpPr>
            <a:spLocks noGrp="1"/>
          </p:cNvSpPr>
          <p:nvPr>
            <p:ph type="pic" idx="2"/>
          </p:nvPr>
        </p:nvSpPr>
        <p:spPr>
          <a:xfrm>
            <a:off x="770701" y="1762813"/>
            <a:ext cx="3356431" cy="3143468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1"/>
          <p:cNvSpPr>
            <a:spLocks noGrp="1"/>
          </p:cNvSpPr>
          <p:nvPr>
            <p:ph type="pic" idx="3"/>
          </p:nvPr>
        </p:nvSpPr>
        <p:spPr>
          <a:xfrm>
            <a:off x="4518071" y="1762813"/>
            <a:ext cx="3356431" cy="3143468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61"/>
          <p:cNvSpPr>
            <a:spLocks noGrp="1"/>
          </p:cNvSpPr>
          <p:nvPr>
            <p:ph type="pic" idx="4"/>
          </p:nvPr>
        </p:nvSpPr>
        <p:spPr>
          <a:xfrm>
            <a:off x="8265441" y="1762813"/>
            <a:ext cx="3356431" cy="3143468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61"/>
          <p:cNvSpPr txBox="1">
            <a:spLocks noGrp="1"/>
          </p:cNvSpPr>
          <p:nvPr>
            <p:ph type="body" idx="1"/>
          </p:nvPr>
        </p:nvSpPr>
        <p:spPr>
          <a:xfrm>
            <a:off x="770700" y="5090408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0">
                <a:solidFill>
                  <a:srgbClr val="031629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61"/>
          <p:cNvSpPr txBox="1">
            <a:spLocks noGrp="1"/>
          </p:cNvSpPr>
          <p:nvPr>
            <p:ph type="body" idx="5"/>
          </p:nvPr>
        </p:nvSpPr>
        <p:spPr>
          <a:xfrm>
            <a:off x="4518071" y="5090408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0">
                <a:solidFill>
                  <a:srgbClr val="031629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61"/>
          <p:cNvSpPr txBox="1">
            <a:spLocks noGrp="1"/>
          </p:cNvSpPr>
          <p:nvPr>
            <p:ph type="body" idx="6"/>
          </p:nvPr>
        </p:nvSpPr>
        <p:spPr>
          <a:xfrm>
            <a:off x="8265441" y="5090408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0">
                <a:solidFill>
                  <a:srgbClr val="031629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61"/>
          <p:cNvSpPr txBox="1">
            <a:spLocks noGrp="1"/>
          </p:cNvSpPr>
          <p:nvPr>
            <p:ph type="title"/>
          </p:nvPr>
        </p:nvSpPr>
        <p:spPr>
          <a:xfrm>
            <a:off x="770700" y="886120"/>
            <a:ext cx="85806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4">
  <p:cSld name="Picture with Caption 4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2"/>
          <p:cNvSpPr>
            <a:spLocks noGrp="1"/>
          </p:cNvSpPr>
          <p:nvPr>
            <p:ph type="pic" idx="2"/>
          </p:nvPr>
        </p:nvSpPr>
        <p:spPr>
          <a:xfrm>
            <a:off x="1930198" y="933253"/>
            <a:ext cx="8495847" cy="3664345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2"/>
          <p:cNvSpPr txBox="1">
            <a:spLocks noGrp="1"/>
          </p:cNvSpPr>
          <p:nvPr>
            <p:ph type="body" idx="1"/>
          </p:nvPr>
        </p:nvSpPr>
        <p:spPr>
          <a:xfrm>
            <a:off x="1930197" y="4751111"/>
            <a:ext cx="8495850" cy="145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0">
                <a:solidFill>
                  <a:srgbClr val="031629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sert Video">
  <p:cSld name="Insert Video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3"/>
          <p:cNvSpPr txBox="1">
            <a:spLocks noGrp="1"/>
          </p:cNvSpPr>
          <p:nvPr>
            <p:ph type="title"/>
          </p:nvPr>
        </p:nvSpPr>
        <p:spPr>
          <a:xfrm>
            <a:off x="2224726" y="404617"/>
            <a:ext cx="7117238" cy="701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63"/>
          <p:cNvSpPr>
            <a:spLocks noGrp="1"/>
          </p:cNvSpPr>
          <p:nvPr>
            <p:ph type="media" idx="2"/>
          </p:nvPr>
        </p:nvSpPr>
        <p:spPr>
          <a:xfrm>
            <a:off x="1576887" y="1319017"/>
            <a:ext cx="9184670" cy="516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None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tihan">
  <p:cSld name="Latihan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5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7" name="Google Shape;227;p65"/>
          <p:cNvGrpSpPr/>
          <p:nvPr/>
        </p:nvGrpSpPr>
        <p:grpSpPr>
          <a:xfrm>
            <a:off x="838200" y="1108530"/>
            <a:ext cx="5999349" cy="769441"/>
            <a:chOff x="838200" y="1108530"/>
            <a:chExt cx="5999349" cy="769441"/>
          </a:xfrm>
        </p:grpSpPr>
        <p:sp>
          <p:nvSpPr>
            <p:cNvPr id="228" name="Google Shape;228;p65"/>
            <p:cNvSpPr/>
            <p:nvPr/>
          </p:nvSpPr>
          <p:spPr>
            <a:xfrm>
              <a:off x="1282045" y="1255025"/>
              <a:ext cx="5555504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29" name="Google Shape;229;p65"/>
            <p:cNvSpPr/>
            <p:nvPr/>
          </p:nvSpPr>
          <p:spPr>
            <a:xfrm>
              <a:off x="838200" y="1123041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0" name="Google Shape;230;p65"/>
            <p:cNvSpPr/>
            <p:nvPr/>
          </p:nvSpPr>
          <p:spPr>
            <a:xfrm>
              <a:off x="1654410" y="1108530"/>
              <a:ext cx="1923988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Latihan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31" name="Google Shape;231;p6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17419" y="1120499"/>
              <a:ext cx="650450" cy="7455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ftar Pustaka">
  <p:cSld name="Daftar Pustaka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66"/>
          <p:cNvGrpSpPr/>
          <p:nvPr/>
        </p:nvGrpSpPr>
        <p:grpSpPr>
          <a:xfrm>
            <a:off x="838200" y="1096559"/>
            <a:ext cx="5999349" cy="769441"/>
            <a:chOff x="838200" y="569942"/>
            <a:chExt cx="5999349" cy="769441"/>
          </a:xfrm>
        </p:grpSpPr>
        <p:sp>
          <p:nvSpPr>
            <p:cNvPr id="235" name="Google Shape;235;p66"/>
            <p:cNvSpPr/>
            <p:nvPr/>
          </p:nvSpPr>
          <p:spPr>
            <a:xfrm>
              <a:off x="1282045" y="716437"/>
              <a:ext cx="5555504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6" name="Google Shape;236;p66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7" name="Google Shape;237;p66"/>
            <p:cNvSpPr/>
            <p:nvPr/>
          </p:nvSpPr>
          <p:spPr>
            <a:xfrm>
              <a:off x="1654410" y="569942"/>
              <a:ext cx="3640740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Daftar Pustaka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38" name="Google Shape;238;p6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98017" y="661014"/>
              <a:ext cx="606720" cy="629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p66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pik (Sebelum U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882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Tengah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1756" y="804529"/>
            <a:ext cx="38248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Topik</a:t>
            </a:r>
            <a:r>
              <a:rPr lang="en-US" sz="3600" b="1" dirty="0"/>
              <a:t> </a:t>
            </a:r>
            <a:r>
              <a:rPr lang="en-US" sz="3600" b="1" dirty="0" err="1"/>
              <a:t>Sebelum</a:t>
            </a:r>
            <a:r>
              <a:rPr lang="en-US" sz="3600" b="1" dirty="0"/>
              <a:t> UTS</a:t>
            </a:r>
          </a:p>
        </p:txBody>
      </p:sp>
    </p:spTree>
    <p:extLst>
      <p:ext uri="{BB962C8B-B14F-4D97-AF65-F5344CB8AC3E}">
        <p14:creationId xmlns:p14="http://schemas.microsoft.com/office/powerpoint/2010/main" val="214907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105706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97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24603" y="2217851"/>
            <a:ext cx="5529197" cy="1920647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 err="1"/>
              <a:t>Judul</a:t>
            </a:r>
            <a:br>
              <a:rPr lang="en-US" dirty="0"/>
            </a:br>
            <a:r>
              <a:rPr lang="en-US" dirty="0"/>
              <a:t>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499621"/>
            <a:ext cx="5316718" cy="585673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200849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1" name="Google Shape;11;p40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0" y="5470264"/>
            <a:ext cx="12110720" cy="140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0"/>
          <p:cNvSpPr txBox="1">
            <a:spLocks noGrp="1"/>
          </p:cNvSpPr>
          <p:nvPr>
            <p:ph type="title"/>
          </p:nvPr>
        </p:nvSpPr>
        <p:spPr>
          <a:xfrm>
            <a:off x="838200" y="922585"/>
            <a:ext cx="8547263" cy="70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  <a:defRPr sz="3600" b="1" i="0" u="none" strike="noStrike" cap="none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40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4" name="Google Shape;1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40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6" name="Google Shape;16;p40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7" name="Google Shape;17;p40"/>
            <p:cNvPicPr preferRelativeResize="0"/>
            <p:nvPr/>
          </p:nvPicPr>
          <p:blipFill rotWithShape="1">
            <a:blip r:embed="rId29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"/>
          <p:cNvSpPr txBox="1">
            <a:spLocks noGrp="1"/>
          </p:cNvSpPr>
          <p:nvPr>
            <p:ph type="title"/>
          </p:nvPr>
        </p:nvSpPr>
        <p:spPr>
          <a:xfrm>
            <a:off x="588969" y="1934409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</a:pPr>
            <a:r>
              <a:rPr lang="en-US" dirty="0"/>
              <a:t>OBJECT ORIENTED PROGRAMMING</a:t>
            </a:r>
          </a:p>
        </p:txBody>
      </p:sp>
      <p:sp>
        <p:nvSpPr>
          <p:cNvPr id="246" name="Google Shape;246;p1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GB" dirty="0"/>
              <a:t>Function and Parameter</a:t>
            </a:r>
          </a:p>
        </p:txBody>
      </p:sp>
      <p:sp>
        <p:nvSpPr>
          <p:cNvPr id="247" name="Google Shape;247;p1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 dirty="0" err="1"/>
              <a:t>Sesi</a:t>
            </a:r>
            <a:r>
              <a:rPr lang="en-US" dirty="0"/>
              <a:t> 4</a:t>
            </a:r>
            <a:endParaRPr dirty="0"/>
          </a:p>
        </p:txBody>
      </p:sp>
      <p:sp>
        <p:nvSpPr>
          <p:cNvPr id="248" name="Google Shape;248;p1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 dirty="0"/>
              <a:t>CSF308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endParaRPr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2C17D7AE-0F63-45B1-821C-2C0155C0201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0280" r="3028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5727C636-FCAD-4E0F-A617-467F1A8C6FD7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3156" r="13156"/>
          <a:stretch>
            <a:fillRect/>
          </a:stretch>
        </p:blipFill>
        <p:spPr>
          <a:xfrm>
            <a:off x="1746250" y="1843088"/>
            <a:ext cx="3063875" cy="30638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3" name="Google Shape;253;p2"/>
          <p:cNvSpPr txBox="1">
            <a:spLocks noGrp="1"/>
          </p:cNvSpPr>
          <p:nvPr>
            <p:ph type="body" idx="1"/>
          </p:nvPr>
        </p:nvSpPr>
        <p:spPr>
          <a:xfrm>
            <a:off x="5154979" y="2275496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</a:pP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Dewi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Setiowati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,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A.Md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.,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S.Pd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.,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M.Tr.Kom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dirty="0"/>
          </a:p>
        </p:txBody>
      </p:sp>
      <p:sp>
        <p:nvSpPr>
          <p:cNvPr id="254" name="Google Shape;254;p2"/>
          <p:cNvSpPr txBox="1">
            <a:spLocks noGrp="1"/>
          </p:cNvSpPr>
          <p:nvPr>
            <p:ph type="body" idx="3"/>
          </p:nvPr>
        </p:nvSpPr>
        <p:spPr>
          <a:xfrm>
            <a:off x="5154979" y="3176643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8413</a:t>
            </a:r>
            <a:endParaRPr/>
          </a:p>
        </p:txBody>
      </p:sp>
      <p:sp>
        <p:nvSpPr>
          <p:cNvPr id="255" name="Google Shape;255;p2"/>
          <p:cNvSpPr txBox="1">
            <a:spLocks noGrp="1"/>
          </p:cNvSpPr>
          <p:nvPr>
            <p:ph type="body" idx="4"/>
          </p:nvPr>
        </p:nvSpPr>
        <p:spPr>
          <a:xfrm>
            <a:off x="5154979" y="4077790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dewi.setiowati@esaunggul.ac.id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2BDC101-739F-4807-A2C0-8274E0457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7033"/>
            <a:ext cx="10515600" cy="49139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D" sz="2400" b="1" dirty="0">
                <a:solidFill>
                  <a:schemeClr val="bg2"/>
                </a:solidFill>
              </a:rPr>
              <a:t>VISI​</a:t>
            </a:r>
            <a:endParaRPr lang="en-ID" sz="24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perguruan</a:t>
            </a:r>
            <a:r>
              <a:rPr lang="en-ID" sz="2400" dirty="0"/>
              <a:t> </a:t>
            </a:r>
            <a:r>
              <a:rPr lang="en-ID" sz="2400" dirty="0" err="1"/>
              <a:t>tinggi</a:t>
            </a:r>
            <a:r>
              <a:rPr lang="en-ID" sz="2400" dirty="0"/>
              <a:t> </a:t>
            </a:r>
            <a:r>
              <a:rPr lang="en-ID" sz="2400" dirty="0" err="1"/>
              <a:t>kelas</a:t>
            </a:r>
            <a:r>
              <a:rPr lang="en-ID" sz="2400" dirty="0"/>
              <a:t> dunia </a:t>
            </a:r>
            <a:r>
              <a:rPr lang="en-ID" sz="2400" dirty="0" err="1"/>
              <a:t>berbasis</a:t>
            </a:r>
            <a:r>
              <a:rPr lang="en-ID" sz="2400" dirty="0"/>
              <a:t> </a:t>
            </a:r>
            <a:r>
              <a:rPr lang="en-ID" sz="2400" dirty="0" err="1"/>
              <a:t>intelektualitas</a:t>
            </a:r>
            <a:r>
              <a:rPr lang="en-ID" sz="2400" dirty="0"/>
              <a:t>, </a:t>
            </a:r>
            <a:r>
              <a:rPr lang="en-ID" sz="2400" dirty="0" err="1"/>
              <a:t>kreatifitas</a:t>
            </a:r>
            <a:r>
              <a:rPr lang="en-ID" sz="2400" dirty="0"/>
              <a:t> dan </a:t>
            </a:r>
            <a:r>
              <a:rPr lang="en-ID" sz="2400" dirty="0" err="1"/>
              <a:t>kewirausahaan</a:t>
            </a:r>
            <a:r>
              <a:rPr lang="en-ID" sz="2400" dirty="0"/>
              <a:t>, yang </a:t>
            </a:r>
            <a:r>
              <a:rPr lang="en-ID" sz="2400" dirty="0" err="1"/>
              <a:t>unggul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mutu</a:t>
            </a:r>
            <a:r>
              <a:rPr lang="en-ID" sz="2400" dirty="0"/>
              <a:t> </a:t>
            </a:r>
            <a:r>
              <a:rPr lang="en-ID" sz="2400" dirty="0" err="1"/>
              <a:t>pengelolaan</a:t>
            </a:r>
            <a:r>
              <a:rPr lang="en-ID" sz="2400" dirty="0"/>
              <a:t> dan </a:t>
            </a:r>
            <a:r>
              <a:rPr lang="en-ID" sz="2400" dirty="0" err="1"/>
              <a:t>hasil</a:t>
            </a:r>
            <a:r>
              <a:rPr lang="en-ID" sz="2400" dirty="0"/>
              <a:t> </a:t>
            </a:r>
            <a:r>
              <a:rPr lang="en-ID" sz="2400" dirty="0" err="1"/>
              <a:t>pelaksanaan</a:t>
            </a:r>
            <a:r>
              <a:rPr lang="en-ID" sz="2400" dirty="0"/>
              <a:t> </a:t>
            </a:r>
            <a:r>
              <a:rPr lang="en-ID" sz="2400" dirty="0" err="1"/>
              <a:t>Tridarma</a:t>
            </a:r>
            <a:r>
              <a:rPr lang="en-ID" sz="2400" dirty="0"/>
              <a:t> </a:t>
            </a:r>
            <a:r>
              <a:rPr lang="en-ID" sz="2400" dirty="0" err="1"/>
              <a:t>Perguruan</a:t>
            </a:r>
            <a:r>
              <a:rPr lang="en-ID" sz="2400" dirty="0"/>
              <a:t> Tinggi.​</a:t>
            </a:r>
          </a:p>
          <a:p>
            <a:pPr marL="0" indent="0">
              <a:buNone/>
            </a:pPr>
            <a:endParaRPr lang="en-ID" sz="2400" dirty="0"/>
          </a:p>
          <a:p>
            <a:pPr marL="0" indent="0" algn="ctr">
              <a:buNone/>
            </a:pPr>
            <a:r>
              <a:rPr lang="en-ID" sz="2400" b="1" dirty="0">
                <a:solidFill>
                  <a:schemeClr val="bg2"/>
                </a:solidFill>
              </a:rPr>
              <a:t>MISI</a:t>
            </a:r>
            <a:r>
              <a:rPr lang="en-ID" sz="2400" b="1" dirty="0">
                <a:solidFill>
                  <a:schemeClr val="accent6"/>
                </a:solidFill>
              </a:rPr>
              <a:t>​</a:t>
            </a:r>
            <a:endParaRPr lang="en-ID" sz="2400" dirty="0"/>
          </a:p>
          <a:p>
            <a:r>
              <a:rPr lang="en-ID" sz="2400" dirty="0" err="1"/>
              <a:t>Menyelenggarakan</a:t>
            </a:r>
            <a:r>
              <a:rPr lang="en-ID" sz="2400" dirty="0"/>
              <a:t> </a:t>
            </a:r>
            <a:r>
              <a:rPr lang="en-ID" sz="2400" dirty="0" err="1"/>
              <a:t>pendidikan</a:t>
            </a:r>
            <a:r>
              <a:rPr lang="en-ID" sz="2400" dirty="0"/>
              <a:t> </a:t>
            </a:r>
            <a:r>
              <a:rPr lang="en-ID" sz="2400" dirty="0" err="1"/>
              <a:t>tinggi</a:t>
            </a:r>
            <a:r>
              <a:rPr lang="en-ID" sz="2400" dirty="0"/>
              <a:t> yang </a:t>
            </a:r>
            <a:r>
              <a:rPr lang="en-ID" sz="2400" dirty="0" err="1"/>
              <a:t>bermutu</a:t>
            </a:r>
            <a:r>
              <a:rPr lang="en-ID" sz="2400" dirty="0"/>
              <a:t> dan </a:t>
            </a:r>
            <a:r>
              <a:rPr lang="en-ID" sz="2400" dirty="0" err="1"/>
              <a:t>relevan</a:t>
            </a:r>
            <a:r>
              <a:rPr lang="en-ID" sz="2400" dirty="0"/>
              <a:t>​</a:t>
            </a:r>
          </a:p>
          <a:p>
            <a:r>
              <a:rPr lang="en-ID" sz="2400" dirty="0" err="1"/>
              <a:t>Menciptakan</a:t>
            </a:r>
            <a:r>
              <a:rPr lang="en-ID" sz="2400" dirty="0"/>
              <a:t> </a:t>
            </a:r>
            <a:r>
              <a:rPr lang="en-ID" sz="2400" dirty="0" err="1"/>
              <a:t>suasana</a:t>
            </a:r>
            <a:r>
              <a:rPr lang="en-ID" sz="2400" dirty="0"/>
              <a:t> </a:t>
            </a:r>
            <a:r>
              <a:rPr lang="en-ID" sz="2400" dirty="0" err="1"/>
              <a:t>akademik</a:t>
            </a:r>
            <a:r>
              <a:rPr lang="en-ID" sz="2400" dirty="0"/>
              <a:t> yang </a:t>
            </a:r>
            <a:r>
              <a:rPr lang="en-ID" sz="2400" dirty="0" err="1"/>
              <a:t>kondusif</a:t>
            </a:r>
            <a:r>
              <a:rPr lang="en-ID" sz="2400" dirty="0"/>
              <a:t>​</a:t>
            </a:r>
          </a:p>
          <a:p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pelayanan</a:t>
            </a:r>
            <a:r>
              <a:rPr lang="en-ID" sz="2400" dirty="0"/>
              <a:t> prima </a:t>
            </a:r>
            <a:r>
              <a:rPr lang="en-ID" sz="2400" dirty="0" err="1"/>
              <a:t>kepada</a:t>
            </a:r>
            <a:r>
              <a:rPr lang="en-ID" sz="2400" dirty="0"/>
              <a:t> </a:t>
            </a:r>
            <a:r>
              <a:rPr lang="en-ID" sz="2400" dirty="0" err="1"/>
              <a:t>seluruh</a:t>
            </a:r>
            <a:r>
              <a:rPr lang="en-ID" sz="2400" dirty="0"/>
              <a:t> </a:t>
            </a:r>
            <a:r>
              <a:rPr lang="en-ID" sz="2400" dirty="0" err="1"/>
              <a:t>pemangku</a:t>
            </a:r>
            <a:r>
              <a:rPr lang="en-ID" sz="2400" dirty="0"/>
              <a:t> </a:t>
            </a:r>
            <a:r>
              <a:rPr lang="en-ID" sz="2400" dirty="0" err="1"/>
              <a:t>kepentingan</a:t>
            </a:r>
            <a:r>
              <a:rPr lang="en-ID" sz="2400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4619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81728" y="1011677"/>
            <a:ext cx="5382282" cy="73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College Contract</a:t>
            </a:r>
            <a:endParaRPr dirty="0"/>
          </a:p>
        </p:txBody>
      </p:sp>
      <p:sp>
        <p:nvSpPr>
          <p:cNvPr id="6" name="Google Shape;278;p6">
            <a:extLst>
              <a:ext uri="{FF2B5EF4-FFF2-40B4-BE49-F238E27FC236}">
                <a16:creationId xmlns:a16="http://schemas.microsoft.com/office/drawing/2014/main" id="{8E5C8D1D-465C-425B-A892-6223D508DE3A}"/>
              </a:ext>
            </a:extLst>
          </p:cNvPr>
          <p:cNvSpPr txBox="1">
            <a:spLocks/>
          </p:cNvSpPr>
          <p:nvPr/>
        </p:nvSpPr>
        <p:spPr>
          <a:xfrm>
            <a:off x="781728" y="1979702"/>
            <a:ext cx="10628544" cy="4313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CC9900"/>
              </a:buClr>
              <a:buSzPts val="1300"/>
              <a:buFont typeface="+mj-lt"/>
              <a:buAutoNum type="arabicPeriod"/>
            </a:pPr>
            <a:r>
              <a:rPr lang="en-GB" sz="2400" dirty="0">
                <a:solidFill>
                  <a:srgbClr val="1F2328"/>
                </a:solidFill>
              </a:rPr>
              <a:t>Students are required to attend or join the class on time with a maximum </a:t>
            </a:r>
            <a:r>
              <a:rPr lang="en-GB" sz="2400" b="1" dirty="0">
                <a:solidFill>
                  <a:srgbClr val="FF0000"/>
                </a:solidFill>
              </a:rPr>
              <a:t>delay of 15 minutes</a:t>
            </a:r>
            <a:r>
              <a:rPr lang="en-GB" sz="2400" dirty="0">
                <a:solidFill>
                  <a:srgbClr val="1F2328"/>
                </a:solidFill>
              </a:rPr>
              <a:t>.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CC9900"/>
              </a:buClr>
              <a:buSzPts val="1300"/>
              <a:buFont typeface="+mj-lt"/>
              <a:buAutoNum type="arabicPeriod"/>
            </a:pPr>
            <a:r>
              <a:rPr lang="en-GB" sz="2400" dirty="0">
                <a:solidFill>
                  <a:srgbClr val="1F2328"/>
                </a:solidFill>
              </a:rPr>
              <a:t>Every student's class is required to do a presence </a:t>
            </a:r>
            <a:r>
              <a:rPr lang="en-GB" sz="2400" b="1" dirty="0">
                <a:solidFill>
                  <a:schemeClr val="bg2"/>
                </a:solidFill>
              </a:rPr>
              <a:t>scan QR Code on SIAKAD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CC9900"/>
              </a:buClr>
              <a:buSzPts val="1300"/>
              <a:buFont typeface="+mj-lt"/>
              <a:buAutoNum type="arabicPeriod"/>
            </a:pPr>
            <a:r>
              <a:rPr lang="en-GB" sz="2400" dirty="0">
                <a:solidFill>
                  <a:srgbClr val="1F2328"/>
                </a:solidFill>
              </a:rPr>
              <a:t>Students should attend at least 80% of the scheduled lectures to be able to take the Final test.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CC9900"/>
              </a:buClr>
              <a:buSzPts val="1300"/>
              <a:buFont typeface="Twentieth Century"/>
              <a:buNone/>
            </a:pPr>
            <a:endParaRPr lang="en-US" sz="2400" dirty="0">
              <a:solidFill>
                <a:srgbClr val="1F2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39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81728" y="996554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Assessment</a:t>
            </a:r>
            <a:endParaRPr dirty="0"/>
          </a:p>
        </p:txBody>
      </p:sp>
      <p:sp>
        <p:nvSpPr>
          <p:cNvPr id="6" name="Google Shape;278;p6">
            <a:extLst>
              <a:ext uri="{FF2B5EF4-FFF2-40B4-BE49-F238E27FC236}">
                <a16:creationId xmlns:a16="http://schemas.microsoft.com/office/drawing/2014/main" id="{8E5C8D1D-465C-425B-A892-6223D508DE3A}"/>
              </a:ext>
            </a:extLst>
          </p:cNvPr>
          <p:cNvSpPr txBox="1">
            <a:spLocks/>
          </p:cNvSpPr>
          <p:nvPr/>
        </p:nvSpPr>
        <p:spPr>
          <a:xfrm>
            <a:off x="781728" y="2030966"/>
            <a:ext cx="10628544" cy="318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88900" indent="0" algn="just">
              <a:buNone/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Coursework evaluation will be weighted as follows:</a:t>
            </a:r>
          </a:p>
          <a:p>
            <a:pPr marL="88900" indent="0" algn="just">
              <a:buNone/>
            </a:pP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Mid-Term Examination 				 			10%</a:t>
            </a: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Final Examination 	 				 			10 %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Final Project									 50%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Others (class participation 10%,</a:t>
            </a:r>
            <a:r>
              <a:rPr lang="fi-FI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quiz 10%, practical assignments 10%)</a:t>
            </a:r>
            <a:r>
              <a:rPr lang="fi-FI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fi-FI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30 </a:t>
            </a: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Total  									100%</a:t>
            </a: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24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tx1"/>
                </a:solidFill>
              </a:rPr>
              <a:t>Introduction to Object Oriented Programming</a:t>
            </a:r>
          </a:p>
          <a:p>
            <a:br>
              <a:rPr lang="en-US" sz="1800" dirty="0"/>
            </a:br>
            <a:endParaRPr lang="en-US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0" u="none" strike="noStrike" dirty="0">
                <a:solidFill>
                  <a:schemeClr val="tx1"/>
                </a:solidFill>
                <a:effectLst/>
              </a:rPr>
              <a:t>Data Type, Variable, Method and Expression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ID" sz="1800" b="0" u="none" strike="noStrike" dirty="0">
                <a:solidFill>
                  <a:schemeClr val="tx1"/>
                </a:solidFill>
                <a:effectLst/>
              </a:rPr>
              <a:t>Control Statement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ID" sz="1800" b="0" u="none" strike="noStrike" dirty="0">
                <a:solidFill>
                  <a:srgbClr val="0070C0"/>
                </a:solidFill>
                <a:effectLst/>
              </a:rPr>
              <a:t>Function and Parameter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ID" sz="1800" b="0" i="1" u="none" strike="noStrike" dirty="0">
                <a:solidFill>
                  <a:srgbClr val="000000"/>
                </a:solidFill>
                <a:effectLst/>
              </a:rPr>
              <a:t>Encapsulation (Concept)</a:t>
            </a:r>
            <a:endParaRPr lang="en-US" sz="2000" i="1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0" i="1" u="none" strike="noStrike" dirty="0">
                <a:solidFill>
                  <a:srgbClr val="000000"/>
                </a:solidFill>
                <a:effectLst/>
              </a:rPr>
              <a:t> Implementation Encapsulations In Case Study</a:t>
            </a:r>
            <a:endParaRPr lang="en-US" sz="1900" i="1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ID" sz="1800" b="0" i="1" u="none" strike="noStrike" dirty="0">
                <a:solidFill>
                  <a:srgbClr val="000000"/>
                </a:solidFill>
                <a:effectLst/>
              </a:rPr>
              <a:t>Pointer and Memory Management</a:t>
            </a:r>
            <a:endParaRPr lang="en-US" sz="1900" i="1" dirty="0"/>
          </a:p>
        </p:txBody>
      </p:sp>
      <p:sp>
        <p:nvSpPr>
          <p:cNvPr id="9" name="Rectangle 8"/>
          <p:cNvSpPr/>
          <p:nvPr/>
        </p:nvSpPr>
        <p:spPr>
          <a:xfrm>
            <a:off x="9025935" y="1880160"/>
            <a:ext cx="2531165" cy="1588168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4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Inheritance Basic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4" name="Google Shape;274;p4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Polymorphism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5" name="Google Shape;275;p4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Exception Handling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6" name="Google Shape;276;p4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Standard Template Library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7" name="Google Shape;277;p4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Class Presentation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8" name="Google Shape;278;p4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Class Presentation and </a:t>
            </a:r>
            <a:r>
              <a:rPr lang="en-US" sz="1800" dirty="0" err="1">
                <a:solidFill>
                  <a:schemeClr val="tx1"/>
                </a:solidFill>
              </a:rPr>
              <a:t>Cource</a:t>
            </a:r>
            <a:r>
              <a:rPr lang="en-US" sz="1800" dirty="0">
                <a:solidFill>
                  <a:schemeClr val="tx1"/>
                </a:solidFill>
              </a:rPr>
              <a:t> Review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3D249-B2EC-4206-8FF3-9388C49AF8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560766" y="2394949"/>
            <a:ext cx="2243579" cy="932713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Inheritance Details</a:t>
            </a:r>
          </a:p>
          <a:p>
            <a:r>
              <a:rPr lang="en-US" sz="1800" dirty="0">
                <a:solidFill>
                  <a:schemeClr val="tx1"/>
                </a:solidFill>
              </a:rPr>
              <a:t>(Case Study)</a:t>
            </a:r>
            <a:endParaRPr lang="en-ID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200"/>
              <a:buNone/>
            </a:pPr>
            <a:r>
              <a:rPr lang="en-US" b="1" dirty="0"/>
              <a:t>Setelah </a:t>
            </a:r>
            <a:r>
              <a:rPr lang="en-US" b="1" dirty="0" err="1"/>
              <a:t>mempelajari</a:t>
            </a:r>
            <a:r>
              <a:rPr lang="en-US" b="1" dirty="0"/>
              <a:t> </a:t>
            </a:r>
            <a:r>
              <a:rPr lang="en-US" b="1" dirty="0" err="1"/>
              <a:t>materi</a:t>
            </a:r>
            <a:r>
              <a:rPr lang="en-US" b="1" dirty="0"/>
              <a:t> pada </a:t>
            </a:r>
            <a:r>
              <a:rPr lang="en-US" b="1" dirty="0" err="1"/>
              <a:t>pertemuan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, </a:t>
            </a:r>
            <a:r>
              <a:rPr lang="en-US" b="1" dirty="0" err="1"/>
              <a:t>diharapkan</a:t>
            </a:r>
            <a:r>
              <a:rPr lang="en-US" b="1" dirty="0"/>
              <a:t> </a:t>
            </a:r>
            <a:r>
              <a:rPr lang="en-US" b="1" dirty="0" err="1"/>
              <a:t>mahasiswa</a:t>
            </a:r>
            <a:r>
              <a:rPr lang="en-US" b="1" dirty="0"/>
              <a:t> :</a:t>
            </a:r>
            <a:endParaRPr dirty="0"/>
          </a:p>
          <a:p>
            <a:pPr marL="914400" lvl="1" indent="-457200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</a:pPr>
            <a:r>
              <a:rPr lang="en-US" dirty="0"/>
              <a:t>Mampu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i="1" dirty="0"/>
              <a:t>Function </a:t>
            </a:r>
            <a:r>
              <a:rPr lang="en-US" dirty="0"/>
              <a:t>dan</a:t>
            </a:r>
            <a:r>
              <a:rPr lang="en-US" i="1" dirty="0"/>
              <a:t> Parameter </a:t>
            </a:r>
          </a:p>
          <a:p>
            <a:pPr marL="914400" lvl="1" indent="-457200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</a:pPr>
            <a:r>
              <a:rPr lang="en-US" dirty="0"/>
              <a:t>Mampu </a:t>
            </a:r>
            <a:r>
              <a:rPr lang="en-US" dirty="0" err="1"/>
              <a:t>membuat</a:t>
            </a:r>
            <a:r>
              <a:rPr lang="en-US" dirty="0"/>
              <a:t> dan </a:t>
            </a:r>
            <a:r>
              <a:rPr lang="en-US" dirty="0" err="1"/>
              <a:t>mengimplementasikan</a:t>
            </a:r>
            <a:r>
              <a:rPr lang="en-US" dirty="0"/>
              <a:t> </a:t>
            </a:r>
            <a:r>
              <a:rPr lang="en-US" i="1" dirty="0"/>
              <a:t>Function</a:t>
            </a:r>
            <a:r>
              <a:rPr lang="en-US" dirty="0"/>
              <a:t> dan </a:t>
            </a:r>
            <a:r>
              <a:rPr lang="en-US" i="1" dirty="0"/>
              <a:t>Parameter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Java (NetBeans)</a:t>
            </a: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"/>
          <p:cNvSpPr/>
          <p:nvPr/>
        </p:nvSpPr>
        <p:spPr>
          <a:xfrm>
            <a:off x="914400" y="3768635"/>
            <a:ext cx="8046720" cy="1900645"/>
          </a:xfrm>
          <a:prstGeom prst="rect">
            <a:avLst/>
          </a:prstGeom>
          <a:solidFill>
            <a:srgbClr val="CDE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public type name ( parameter1, parameter2, ...)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{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		statements…;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}</a:t>
            </a:r>
            <a:endParaRPr sz="1800" dirty="0">
              <a:solidFill>
                <a:schemeClr val="tx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6" name="Google Shape;286;p5"/>
          <p:cNvSpPr txBox="1">
            <a:spLocks noGrp="1"/>
          </p:cNvSpPr>
          <p:nvPr>
            <p:ph type="body" idx="1"/>
          </p:nvPr>
        </p:nvSpPr>
        <p:spPr>
          <a:xfrm>
            <a:off x="914400" y="2120791"/>
            <a:ext cx="8046720" cy="1308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400" b="1" i="1" dirty="0">
                <a:solidFill>
                  <a:schemeClr val="dk1"/>
                </a:solidFill>
              </a:rPr>
              <a:t>Function and Parameter </a:t>
            </a:r>
            <a:r>
              <a:rPr lang="en-US" sz="2400" dirty="0" err="1">
                <a:solidFill>
                  <a:schemeClr val="dk1"/>
                </a:solidFill>
              </a:rPr>
              <a:t>adalah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nn-NO" sz="2400" dirty="0">
                <a:solidFill>
                  <a:schemeClr val="dk1"/>
                </a:solidFill>
              </a:rPr>
              <a:t>sekumpulan statements yang dieksekusi ketika dipanggil di bagian tertentu dalam program.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nn-NO" sz="20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3091" y="2770001"/>
            <a:ext cx="5529197" cy="178295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inherit"/>
              </a:rPr>
              <a:t>FUNCTION</a:t>
            </a:r>
            <a:endParaRPr kumimoji="0" lang="en-US" altLang="en-US" sz="480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CFA13097-461B-5BB9-C632-F5737CED446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1" b="4861"/>
          <a:stretch/>
        </p:blipFill>
        <p:spPr/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C2653707-A292-45E5-8049-09CA0005A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7728"/>
            <a:ext cx="65" cy="24174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73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 txBox="1">
            <a:spLocks noGrp="1"/>
          </p:cNvSpPr>
          <p:nvPr>
            <p:ph type="title"/>
          </p:nvPr>
        </p:nvSpPr>
        <p:spPr>
          <a:xfrm>
            <a:off x="856995" y="962016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7A8FE-1A9F-4D92-B49A-49BBBE0A3B42}"/>
              </a:ext>
            </a:extLst>
          </p:cNvPr>
          <p:cNvSpPr txBox="1"/>
          <p:nvPr/>
        </p:nvSpPr>
        <p:spPr>
          <a:xfrm>
            <a:off x="856995" y="1605219"/>
            <a:ext cx="10716696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Berikut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ini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adalah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cara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mendeklarasikan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sebuah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fungsi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dalam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bahasa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Java.</a:t>
            </a:r>
          </a:p>
        </p:txBody>
      </p:sp>
      <p:sp>
        <p:nvSpPr>
          <p:cNvPr id="4" name="Google Shape;285;p5">
            <a:extLst>
              <a:ext uri="{FF2B5EF4-FFF2-40B4-BE49-F238E27FC236}">
                <a16:creationId xmlns:a16="http://schemas.microsoft.com/office/drawing/2014/main" id="{19276B33-DF3C-49F3-BD2B-443DD73DE61E}"/>
              </a:ext>
            </a:extLst>
          </p:cNvPr>
          <p:cNvSpPr/>
          <p:nvPr/>
        </p:nvSpPr>
        <p:spPr>
          <a:xfrm>
            <a:off x="2191983" y="2524533"/>
            <a:ext cx="8046720" cy="1900645"/>
          </a:xfrm>
          <a:prstGeom prst="rect">
            <a:avLst/>
          </a:prstGeom>
          <a:solidFill>
            <a:srgbClr val="CDE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public type name ( parameter1, parameter2, ...)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{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		statements…;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}</a:t>
            </a:r>
            <a:endParaRPr sz="1800" dirty="0">
              <a:solidFill>
                <a:schemeClr val="tx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271EF-B51B-439C-A5B6-0C9968DF5182}"/>
              </a:ext>
            </a:extLst>
          </p:cNvPr>
          <p:cNvSpPr txBox="1"/>
          <p:nvPr/>
        </p:nvSpPr>
        <p:spPr>
          <a:xfrm>
            <a:off x="856995" y="4663710"/>
            <a:ext cx="107166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>
                <a:latin typeface="Twentieth Century"/>
              </a:rPr>
              <a:t>type</a:t>
            </a:r>
            <a:r>
              <a:rPr lang="en-ID" sz="2400" dirty="0">
                <a:latin typeface="Twentieth Century"/>
              </a:rPr>
              <a:t>: </a:t>
            </a:r>
            <a:r>
              <a:rPr lang="en-ID" sz="2400" dirty="0" err="1">
                <a:latin typeface="Twentieth Century"/>
              </a:rPr>
              <a:t>tipe</a:t>
            </a:r>
            <a:r>
              <a:rPr lang="en-ID" sz="2400" dirty="0">
                <a:latin typeface="Twentieth Century"/>
              </a:rPr>
              <a:t> data yang </a:t>
            </a:r>
            <a:r>
              <a:rPr lang="en-ID" sz="2400" dirty="0" err="1">
                <a:latin typeface="Twentieth Century"/>
              </a:rPr>
              <a:t>dikembalikan</a:t>
            </a:r>
            <a:r>
              <a:rPr lang="en-ID" sz="2400" dirty="0">
                <a:latin typeface="Twentieth Century"/>
              </a:rPr>
              <a:t> oleh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 </a:t>
            </a:r>
          </a:p>
          <a:p>
            <a:r>
              <a:rPr lang="en-ID" sz="2400" b="1" dirty="0">
                <a:latin typeface="Twentieth Century"/>
              </a:rPr>
              <a:t>name</a:t>
            </a:r>
            <a:r>
              <a:rPr lang="en-ID" sz="2400" dirty="0">
                <a:latin typeface="Twentieth Century"/>
              </a:rPr>
              <a:t>: identifier (</a:t>
            </a:r>
            <a:r>
              <a:rPr lang="en-ID" sz="2400" dirty="0" err="1">
                <a:latin typeface="Twentieth Century"/>
              </a:rPr>
              <a:t>nama</a:t>
            </a:r>
            <a:r>
              <a:rPr lang="en-ID" sz="2400" dirty="0">
                <a:latin typeface="Twentieth Century"/>
              </a:rPr>
              <a:t>) yang </a:t>
            </a:r>
            <a:r>
              <a:rPr lang="en-ID" sz="2400" dirty="0" err="1">
                <a:latin typeface="Twentieth Century"/>
              </a:rPr>
              <a:t>digunakan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untuk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memanggil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. </a:t>
            </a:r>
          </a:p>
          <a:p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parameters</a:t>
            </a:r>
            <a:r>
              <a:rPr lang="en-ID" sz="2400" dirty="0">
                <a:latin typeface="Twentieth Century"/>
              </a:rPr>
              <a:t> (as many as needed): </a:t>
            </a:r>
            <a:r>
              <a:rPr lang="en-ID" sz="2400" dirty="0" err="1">
                <a:latin typeface="Twentieth Century"/>
              </a:rPr>
              <a:t>variabel</a:t>
            </a:r>
            <a:r>
              <a:rPr lang="en-ID" sz="2400" dirty="0">
                <a:latin typeface="Twentieth Century"/>
              </a:rPr>
              <a:t> yang </a:t>
            </a:r>
            <a:r>
              <a:rPr lang="en-ID" sz="2400" dirty="0" err="1">
                <a:latin typeface="Twentieth Century"/>
              </a:rPr>
              <a:t>menerima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nilai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argument</a:t>
            </a:r>
          </a:p>
          <a:p>
            <a:r>
              <a:rPr lang="sv-SE" sz="2400" b="1" dirty="0">
                <a:solidFill>
                  <a:schemeClr val="tx1"/>
                </a:solidFill>
                <a:latin typeface="Twentieth Century"/>
              </a:rPr>
              <a:t>statements: </a:t>
            </a:r>
            <a:r>
              <a:rPr lang="sv-SE" sz="2400" dirty="0">
                <a:solidFill>
                  <a:schemeClr val="tx1"/>
                </a:solidFill>
                <a:latin typeface="Twentieth Century"/>
              </a:rPr>
              <a:t>implementasi/badan fungsi/baris perintah yang akan diproses. Statements dituliskan di dalam braces{ }</a:t>
            </a:r>
            <a:endParaRPr lang="en-ID" sz="2400" dirty="0">
              <a:solidFill>
                <a:schemeClr val="tx1"/>
              </a:solidFill>
              <a:latin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 txBox="1">
            <a:spLocks noGrp="1"/>
          </p:cNvSpPr>
          <p:nvPr>
            <p:ph type="title"/>
          </p:nvPr>
        </p:nvSpPr>
        <p:spPr>
          <a:xfrm>
            <a:off x="856995" y="962016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7A8FE-1A9F-4D92-B49A-49BBBE0A3B42}"/>
              </a:ext>
            </a:extLst>
          </p:cNvPr>
          <p:cNvSpPr txBox="1"/>
          <p:nvPr/>
        </p:nvSpPr>
        <p:spPr>
          <a:xfrm>
            <a:off x="856995" y="1605219"/>
            <a:ext cx="10716696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Berikut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ini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adalah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cara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mendeklarasikan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sebuah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fungsi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dalam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bahasa</a:t>
            </a:r>
            <a:r>
              <a:rPr lang="en-US" altLang="zh-TW" sz="2400" dirty="0">
                <a:solidFill>
                  <a:schemeClr val="tx1"/>
                </a:solidFill>
                <a:latin typeface="Twentieth Century"/>
                <a:ea typeface="PMingLiU" charset="-120"/>
              </a:rPr>
              <a:t> Java.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3B3026-9475-4DB2-B923-D62B1EE92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4140062" cy="13599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34953D-6851-4F13-940C-1A5CE412A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358" y="2343799"/>
            <a:ext cx="4367896" cy="400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11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3091" y="2770001"/>
            <a:ext cx="5529197" cy="178295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inherit"/>
              </a:rPr>
              <a:t>FUNCTION TYPE</a:t>
            </a:r>
            <a:endParaRPr kumimoji="0" lang="en-US" altLang="en-US" sz="480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CFA13097-461B-5BB9-C632-F5737CED446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1" b="4861"/>
          <a:stretch/>
        </p:blipFill>
        <p:spPr/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C2653707-A292-45E5-8049-09CA0005A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7728"/>
            <a:ext cx="65" cy="24174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86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251791" y="1874408"/>
            <a:ext cx="4373269" cy="37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1. FUNGSI yang </a:t>
            </a:r>
            <a:r>
              <a:rPr lang="en-US" sz="24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mengembalikan</a:t>
            </a: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nilai</a:t>
            </a: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(RETURNING VALUE)</a:t>
            </a:r>
            <a:endParaRPr lang="en-US" sz="2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lang="en-US" sz="2800"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sz="28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EF9BE-2FB5-4E34-8175-7E476A963AA6}"/>
              </a:ext>
            </a:extLst>
          </p:cNvPr>
          <p:cNvSpPr txBox="1"/>
          <p:nvPr/>
        </p:nvSpPr>
        <p:spPr>
          <a:xfrm>
            <a:off x="5296989" y="1397354"/>
            <a:ext cx="610035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400" b="1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 yang </a:t>
            </a:r>
            <a:r>
              <a:rPr lang="en-ID" sz="2400" dirty="0" err="1">
                <a:latin typeface="Twentieth Century"/>
              </a:rPr>
              <a:t>mengembalikan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nilai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akan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mengirimkan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nilai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sebagai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hasil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operasi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. </a:t>
            </a:r>
          </a:p>
          <a:p>
            <a:pPr algn="just"/>
            <a:endParaRPr lang="en-ID" sz="2400" dirty="0">
              <a:latin typeface="Twentieth Century"/>
            </a:endParaRPr>
          </a:p>
          <a:p>
            <a:pPr algn="just"/>
            <a:r>
              <a:rPr lang="en-ID" sz="2400" dirty="0" err="1">
                <a:latin typeface="Twentieth Century"/>
              </a:rPr>
              <a:t>Berlawanan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dengan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Parameter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merupakan</a:t>
            </a:r>
            <a:r>
              <a:rPr lang="en-ID" sz="2400" dirty="0">
                <a:latin typeface="Twentieth Century"/>
              </a:rPr>
              <a:t> input </a:t>
            </a:r>
            <a:r>
              <a:rPr lang="en-ID" sz="2400" dirty="0" err="1">
                <a:latin typeface="Twentieth Century"/>
              </a:rPr>
              <a:t>sebuah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, </a:t>
            </a:r>
            <a:r>
              <a:rPr lang="en-ID" sz="2400" dirty="0" err="1">
                <a:latin typeface="Twentieth Century"/>
              </a:rPr>
              <a:t>nilai</a:t>
            </a:r>
            <a:r>
              <a:rPr lang="en-ID" sz="2400" dirty="0">
                <a:latin typeface="Twentieth Century"/>
              </a:rPr>
              <a:t> yang </a:t>
            </a:r>
            <a:r>
              <a:rPr lang="en-ID" sz="2400" dirty="0" err="1">
                <a:latin typeface="Twentieth Century"/>
              </a:rPr>
              <a:t>dikembalikan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merupakan</a:t>
            </a:r>
            <a:r>
              <a:rPr lang="en-ID" sz="2400" dirty="0">
                <a:latin typeface="Twentieth Century"/>
              </a:rPr>
              <a:t> output </a:t>
            </a:r>
            <a:r>
              <a:rPr lang="en-ID" sz="2400" dirty="0" err="1">
                <a:latin typeface="Twentieth Century"/>
              </a:rPr>
              <a:t>dari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sebuah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.</a:t>
            </a:r>
          </a:p>
          <a:p>
            <a:pPr algn="just"/>
            <a:endParaRPr lang="en-ID" sz="2400" dirty="0">
              <a:latin typeface="Twentieth Century"/>
            </a:endParaRPr>
          </a:p>
          <a:p>
            <a:pPr algn="just"/>
            <a:r>
              <a:rPr lang="en-ID" sz="2400" dirty="0">
                <a:latin typeface="Twentieth Century"/>
              </a:rPr>
              <a:t>Pada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 yang </a:t>
            </a:r>
            <a:r>
              <a:rPr lang="en-ID" sz="2400" dirty="0" err="1">
                <a:latin typeface="Twentieth Century"/>
              </a:rPr>
              <a:t>mengembalikan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nilai</a:t>
            </a:r>
            <a:r>
              <a:rPr lang="en-ID" sz="2400" dirty="0">
                <a:latin typeface="Twentieth Century"/>
              </a:rPr>
              <a:t>, </a:t>
            </a:r>
            <a:r>
              <a:rPr lang="en-ID" sz="2400" dirty="0" err="1">
                <a:latin typeface="Twentieth Century"/>
              </a:rPr>
              <a:t>pemanggilan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terhadap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dapat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dituliskan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sebagai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bagian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dari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sebuah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ekspresi</a:t>
            </a:r>
            <a:r>
              <a:rPr lang="en-ID" sz="2400" dirty="0">
                <a:latin typeface="Twentieth Centur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807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DEKLARASI FUNCTION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21568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 err="1">
                <a:latin typeface="Twentieth Century"/>
              </a:rPr>
              <a:t>Contoh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Fungsi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untuk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menghitung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Luas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Segi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Empat</a:t>
            </a:r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r>
              <a:rPr lang="fr-FR" sz="2400" dirty="0" err="1">
                <a:latin typeface="Twentieth Century"/>
              </a:rPr>
              <a:t>Pada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contoh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berikut</a:t>
            </a:r>
            <a:r>
              <a:rPr lang="fr-FR" sz="2400" b="1" dirty="0">
                <a:latin typeface="Twentieth Century"/>
              </a:rPr>
              <a:t>, tipe </a:t>
            </a:r>
            <a:r>
              <a:rPr lang="fr-FR" sz="2400" b="1" dirty="0" err="1">
                <a:latin typeface="Twentieth Century"/>
              </a:rPr>
              <a:t>fungsi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adalah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float</a:t>
            </a:r>
            <a:r>
              <a:rPr lang="fr-FR" sz="2400" dirty="0">
                <a:latin typeface="Twentieth Century"/>
              </a:rPr>
              <a:t>, yang </a:t>
            </a:r>
            <a:r>
              <a:rPr lang="fr-FR" sz="2400" dirty="0" err="1">
                <a:latin typeface="Twentieth Century"/>
              </a:rPr>
              <a:t>menunjukkan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bahwa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nilai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kembalian</a:t>
            </a:r>
            <a:r>
              <a:rPr lang="fr-FR" sz="2400" dirty="0">
                <a:latin typeface="Twentieth Century"/>
              </a:rPr>
              <a:t> dari </a:t>
            </a:r>
            <a:r>
              <a:rPr lang="fr-FR" sz="2400" dirty="0" err="1">
                <a:latin typeface="Twentieth Century"/>
              </a:rPr>
              <a:t>fungsi</a:t>
            </a:r>
            <a:r>
              <a:rPr lang="fr-FR" sz="2400" dirty="0">
                <a:latin typeface="Twentieth Century"/>
              </a:rPr>
              <a:t> (</a:t>
            </a:r>
            <a:r>
              <a:rPr lang="fr-FR" sz="2400" dirty="0" err="1">
                <a:latin typeface="Twentieth Century"/>
              </a:rPr>
              <a:t>yaitu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hasil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solidFill>
                  <a:srgbClr val="0070C0"/>
                </a:solidFill>
                <a:latin typeface="Twentieth Century"/>
              </a:rPr>
              <a:t>perhitungan</a:t>
            </a:r>
            <a:r>
              <a:rPr lang="fr-FR" sz="2400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fr-FR" sz="2400" dirty="0" err="1">
                <a:solidFill>
                  <a:srgbClr val="0070C0"/>
                </a:solidFill>
                <a:latin typeface="Twentieth Century"/>
              </a:rPr>
              <a:t>luas</a:t>
            </a:r>
            <a:r>
              <a:rPr lang="fr-FR" sz="2400" dirty="0">
                <a:latin typeface="Twentieth Century"/>
              </a:rPr>
              <a:t>) </a:t>
            </a:r>
            <a:r>
              <a:rPr lang="fr-FR" sz="2400" dirty="0" err="1">
                <a:latin typeface="Twentieth Century"/>
              </a:rPr>
              <a:t>bertipe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float</a:t>
            </a:r>
            <a:r>
              <a:rPr lang="fr-FR" sz="2400" dirty="0">
                <a:latin typeface="Twentieth Century"/>
              </a:rPr>
              <a:t>.</a:t>
            </a: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r>
              <a:rPr lang="fr-FR" sz="2400" dirty="0">
                <a:latin typeface="Twentieth Century"/>
              </a:rPr>
              <a:t>	</a:t>
            </a:r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26479-8196-432F-BC0D-C9F2D2D71D60}"/>
              </a:ext>
            </a:extLst>
          </p:cNvPr>
          <p:cNvSpPr/>
          <p:nvPr/>
        </p:nvSpPr>
        <p:spPr>
          <a:xfrm>
            <a:off x="1407279" y="2137938"/>
            <a:ext cx="8337071" cy="2090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latin typeface="Twentieth Century"/>
              </a:rPr>
              <a:t>public static </a:t>
            </a:r>
            <a:r>
              <a:rPr lang="en-GB" sz="2400" b="1" dirty="0">
                <a:solidFill>
                  <a:srgbClr val="0070C0"/>
                </a:solidFill>
                <a:latin typeface="Twentieth Century"/>
              </a:rPr>
              <a:t>float</a:t>
            </a:r>
            <a:r>
              <a:rPr lang="en-GB" sz="2400" dirty="0">
                <a:latin typeface="Twentieth Century"/>
              </a:rPr>
              <a:t> area (float </a:t>
            </a:r>
            <a:r>
              <a:rPr lang="en-GB" sz="2400" b="1" dirty="0" err="1">
                <a:solidFill>
                  <a:srgbClr val="0070C0"/>
                </a:solidFill>
                <a:latin typeface="Twentieth Century"/>
              </a:rPr>
              <a:t>pLong</a:t>
            </a:r>
            <a:r>
              <a:rPr lang="en-GB" sz="2400" dirty="0">
                <a:latin typeface="Twentieth Century"/>
              </a:rPr>
              <a:t>, float </a:t>
            </a:r>
            <a:r>
              <a:rPr lang="en-GB" sz="2400" b="1" dirty="0" err="1">
                <a:solidFill>
                  <a:srgbClr val="0070C0"/>
                </a:solidFill>
                <a:latin typeface="Twentieth Century"/>
              </a:rPr>
              <a:t>pWidth</a:t>
            </a:r>
            <a:r>
              <a:rPr lang="en-GB" sz="2400" dirty="0">
                <a:latin typeface="Twentieth Century"/>
              </a:rPr>
              <a:t>)</a:t>
            </a:r>
          </a:p>
          <a:p>
            <a:r>
              <a:rPr lang="en-GB" sz="2400" dirty="0">
                <a:latin typeface="Twentieth Century"/>
              </a:rPr>
              <a:t>{</a:t>
            </a:r>
          </a:p>
          <a:p>
            <a:r>
              <a:rPr lang="en-GB" sz="2400" dirty="0">
                <a:latin typeface="Twentieth Century"/>
              </a:rPr>
              <a:t>	return </a:t>
            </a:r>
            <a:r>
              <a:rPr lang="en-GB" sz="2400" b="1" dirty="0" err="1">
                <a:solidFill>
                  <a:srgbClr val="0070C0"/>
                </a:solidFill>
                <a:latin typeface="Twentieth Century"/>
              </a:rPr>
              <a:t>pLong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b="1" dirty="0">
                <a:solidFill>
                  <a:srgbClr val="0070C0"/>
                </a:solidFill>
                <a:latin typeface="Twentieth Century"/>
              </a:rPr>
              <a:t>*</a:t>
            </a:r>
            <a:r>
              <a:rPr lang="en-GB" sz="2400" b="1" dirty="0">
                <a:latin typeface="Twentieth Century"/>
              </a:rPr>
              <a:t> </a:t>
            </a:r>
            <a:r>
              <a:rPr lang="en-GB" sz="2400" b="1" dirty="0" err="1">
                <a:solidFill>
                  <a:srgbClr val="0070C0"/>
                </a:solidFill>
                <a:latin typeface="Twentieth Century"/>
              </a:rPr>
              <a:t>pWidth</a:t>
            </a:r>
            <a:r>
              <a:rPr lang="en-GB" sz="2400" dirty="0">
                <a:latin typeface="Twentieth Century"/>
              </a:rPr>
              <a:t>;</a:t>
            </a:r>
          </a:p>
          <a:p>
            <a:r>
              <a:rPr lang="en-GB" sz="2400" dirty="0">
                <a:latin typeface="Twentieth Century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053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MEMANGGIL FUNCTION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38200" y="1670934"/>
            <a:ext cx="10515600" cy="465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b="1" dirty="0" err="1">
                <a:latin typeface="Twentieth Century"/>
              </a:rPr>
              <a:t>Pemanggilan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fungsi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dapat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dituliskan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sebagai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bagian</a:t>
            </a:r>
            <a:r>
              <a:rPr lang="fr-FR" sz="2400" dirty="0">
                <a:latin typeface="Twentieth Century"/>
              </a:rPr>
              <a:t> dari </a:t>
            </a:r>
            <a:r>
              <a:rPr lang="fr-FR" sz="2400" dirty="0" err="1">
                <a:latin typeface="Twentieth Century"/>
              </a:rPr>
              <a:t>sebuah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ekspresi</a:t>
            </a:r>
            <a:r>
              <a:rPr lang="fr-FR" sz="2400" dirty="0">
                <a:latin typeface="Twentieth Century"/>
              </a:rPr>
              <a:t>, </a:t>
            </a:r>
            <a:r>
              <a:rPr lang="fr-FR" sz="2400" dirty="0" err="1">
                <a:latin typeface="Twentieth Century"/>
              </a:rPr>
              <a:t>dimana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hasil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perhitungan</a:t>
            </a:r>
            <a:r>
              <a:rPr lang="fr-FR" sz="2400" b="1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luas</a:t>
            </a:r>
            <a:r>
              <a:rPr lang="fr-FR" sz="2400" b="1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fr-FR" sz="2400" dirty="0">
                <a:latin typeface="Twentieth Century"/>
              </a:rPr>
              <a:t>akan </a:t>
            </a:r>
            <a:r>
              <a:rPr lang="fr-FR" sz="2400" dirty="0" err="1">
                <a:latin typeface="Twentieth Century"/>
              </a:rPr>
              <a:t>dikembalikan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ke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pemanggilnya</a:t>
            </a:r>
            <a:r>
              <a:rPr lang="fr-FR" sz="2400" dirty="0">
                <a:latin typeface="Twentieth Century"/>
              </a:rPr>
              <a:t>, dan </a:t>
            </a:r>
            <a:r>
              <a:rPr lang="fr-FR" sz="2400" dirty="0" err="1">
                <a:latin typeface="Twentieth Century"/>
              </a:rPr>
              <a:t>nilai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nya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>
                <a:solidFill>
                  <a:schemeClr val="tx1"/>
                </a:solidFill>
                <a:latin typeface="Twentieth Century"/>
              </a:rPr>
              <a:t>di</a:t>
            </a:r>
            <a:r>
              <a:rPr lang="fr-FR" sz="2400" b="1" dirty="0">
                <a:solidFill>
                  <a:srgbClr val="0070C0"/>
                </a:solidFill>
                <a:latin typeface="Twentieth Century"/>
              </a:rPr>
              <a:t>-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assign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ke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variabel</a:t>
            </a:r>
            <a:r>
              <a:rPr lang="fr-FR" sz="2400" b="1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mLuas</a:t>
            </a:r>
            <a:r>
              <a:rPr lang="fr-FR" sz="2400" dirty="0" err="1">
                <a:latin typeface="Twentieth Century"/>
              </a:rPr>
              <a:t>.Pada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akhir</a:t>
            </a:r>
            <a:r>
              <a:rPr lang="fr-FR" sz="2400" dirty="0">
                <a:latin typeface="Twentieth Century"/>
              </a:rPr>
              <a:t> program, </a:t>
            </a:r>
            <a:r>
              <a:rPr lang="fr-FR" sz="2400" dirty="0" err="1">
                <a:latin typeface="Twentieth Century"/>
              </a:rPr>
              <a:t>maka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variabel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mLuas</a:t>
            </a:r>
            <a:r>
              <a:rPr lang="fr-FR" sz="2400" dirty="0">
                <a:latin typeface="Twentieth Century"/>
              </a:rPr>
              <a:t> akan </a:t>
            </a:r>
            <a:r>
              <a:rPr lang="fr-FR" sz="2400" dirty="0" err="1">
                <a:latin typeface="Twentieth Century"/>
              </a:rPr>
              <a:t>bernilai</a:t>
            </a:r>
            <a:r>
              <a:rPr lang="fr-FR" sz="2400" dirty="0">
                <a:latin typeface="Twentieth Century"/>
              </a:rPr>
              <a:t> 20.</a:t>
            </a: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r>
              <a:rPr lang="fr-FR" sz="2400" dirty="0">
                <a:latin typeface="Twentieth Century"/>
              </a:rPr>
              <a:t>	</a:t>
            </a:r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26479-8196-432F-BC0D-C9F2D2D71D60}"/>
              </a:ext>
            </a:extLst>
          </p:cNvPr>
          <p:cNvSpPr/>
          <p:nvPr/>
        </p:nvSpPr>
        <p:spPr>
          <a:xfrm>
            <a:off x="1407279" y="3003018"/>
            <a:ext cx="8337071" cy="2090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bg1"/>
                </a:solidFill>
                <a:latin typeface="Twentieth Century"/>
              </a:rPr>
              <a:t>public static </a:t>
            </a:r>
            <a:r>
              <a:rPr lang="en-GB" sz="2400" b="1" dirty="0">
                <a:solidFill>
                  <a:schemeClr val="bg1"/>
                </a:solidFill>
                <a:latin typeface="Twentieth Century"/>
              </a:rPr>
              <a:t> void main (String[] </a:t>
            </a:r>
            <a:r>
              <a:rPr lang="en-GB" sz="2400" b="1" dirty="0" err="1">
                <a:solidFill>
                  <a:schemeClr val="bg1"/>
                </a:solidFill>
                <a:latin typeface="Twentieth Century"/>
              </a:rPr>
              <a:t>args</a:t>
            </a:r>
            <a:r>
              <a:rPr lang="en-GB" sz="2400" b="1" dirty="0">
                <a:solidFill>
                  <a:schemeClr val="bg1"/>
                </a:solidFill>
                <a:latin typeface="Twentieth Century"/>
              </a:rPr>
              <a:t>)</a:t>
            </a:r>
            <a:endParaRPr lang="en-GB" sz="2400" dirty="0">
              <a:solidFill>
                <a:schemeClr val="bg1"/>
              </a:solidFill>
              <a:latin typeface="Twentieth Century"/>
            </a:endParaRPr>
          </a:p>
          <a:p>
            <a:r>
              <a:rPr lang="en-GB" sz="2400" dirty="0">
                <a:solidFill>
                  <a:schemeClr val="bg1"/>
                </a:solidFill>
                <a:latin typeface="Twentieth Century"/>
              </a:rPr>
              <a:t>{</a:t>
            </a:r>
          </a:p>
          <a:p>
            <a:r>
              <a:rPr lang="en-GB" sz="2400" dirty="0">
                <a:solidFill>
                  <a:schemeClr val="bg1"/>
                </a:solidFill>
                <a:latin typeface="Twentieth Century"/>
              </a:rPr>
              <a:t>	float </a:t>
            </a:r>
            <a:r>
              <a:rPr lang="en-GB" sz="2400" dirty="0" err="1">
                <a:solidFill>
                  <a:schemeClr val="bg1"/>
                </a:solidFill>
                <a:latin typeface="Twentieth Century"/>
              </a:rPr>
              <a:t>mLuas</a:t>
            </a:r>
            <a:r>
              <a:rPr lang="en-GB" sz="2400" dirty="0">
                <a:solidFill>
                  <a:schemeClr val="bg1"/>
                </a:solidFill>
                <a:latin typeface="Twentieth Century"/>
              </a:rPr>
              <a:t> = area(4,5);</a:t>
            </a:r>
          </a:p>
          <a:p>
            <a:r>
              <a:rPr lang="en-GB" sz="2400" dirty="0">
                <a:solidFill>
                  <a:schemeClr val="bg1"/>
                </a:solidFill>
                <a:latin typeface="Twentieth Century"/>
              </a:rPr>
              <a:t>	</a:t>
            </a:r>
            <a:r>
              <a:rPr lang="en-GB" sz="2400" dirty="0" err="1">
                <a:solidFill>
                  <a:schemeClr val="bg1"/>
                </a:solidFill>
                <a:latin typeface="Twentieth Century"/>
              </a:rPr>
              <a:t>System.out.println</a:t>
            </a:r>
            <a:r>
              <a:rPr lang="en-GB" sz="2400" dirty="0">
                <a:solidFill>
                  <a:schemeClr val="bg1"/>
                </a:solidFill>
                <a:latin typeface="Twentieth Century"/>
              </a:rPr>
              <a:t>("Output Luas: "+</a:t>
            </a:r>
            <a:r>
              <a:rPr lang="en-GB" sz="2400" dirty="0" err="1">
                <a:solidFill>
                  <a:schemeClr val="bg1"/>
                </a:solidFill>
                <a:latin typeface="Twentieth Century"/>
              </a:rPr>
              <a:t>luas</a:t>
            </a:r>
            <a:r>
              <a:rPr lang="en-GB" sz="2400" dirty="0">
                <a:solidFill>
                  <a:schemeClr val="bg1"/>
                </a:solidFill>
                <a:latin typeface="Twentieth Century"/>
              </a:rPr>
              <a:t>);</a:t>
            </a:r>
          </a:p>
          <a:p>
            <a:r>
              <a:rPr lang="en-GB" sz="2400" dirty="0">
                <a:solidFill>
                  <a:schemeClr val="bg1"/>
                </a:solidFill>
                <a:latin typeface="Twentieth Century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352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MEMANGGIL FUNCTION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38200" y="1670934"/>
            <a:ext cx="10515600" cy="465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b="1" dirty="0" err="1">
                <a:latin typeface="Twentieth Century"/>
              </a:rPr>
              <a:t>Pemanggilan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fungsi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dapat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dituliskan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sebagai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bagian</a:t>
            </a:r>
            <a:r>
              <a:rPr lang="fr-FR" sz="2400" dirty="0">
                <a:latin typeface="Twentieth Century"/>
              </a:rPr>
              <a:t> dari </a:t>
            </a:r>
            <a:r>
              <a:rPr lang="fr-FR" sz="2400" dirty="0" err="1">
                <a:latin typeface="Twentieth Century"/>
              </a:rPr>
              <a:t>sebuah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ekspresi</a:t>
            </a:r>
            <a:r>
              <a:rPr lang="fr-FR" sz="2400" dirty="0">
                <a:latin typeface="Twentieth Century"/>
              </a:rPr>
              <a:t>, </a:t>
            </a:r>
            <a:r>
              <a:rPr lang="fr-FR" sz="2400" dirty="0" err="1">
                <a:latin typeface="Twentieth Century"/>
              </a:rPr>
              <a:t>dimana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hasil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perhitungan</a:t>
            </a:r>
            <a:r>
              <a:rPr lang="fr-FR" sz="2400" b="1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luas</a:t>
            </a:r>
            <a:r>
              <a:rPr lang="fr-FR" sz="2400" b="1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fr-FR" sz="2400" dirty="0">
                <a:latin typeface="Twentieth Century"/>
              </a:rPr>
              <a:t>akan </a:t>
            </a:r>
            <a:r>
              <a:rPr lang="fr-FR" sz="2400" dirty="0" err="1">
                <a:latin typeface="Twentieth Century"/>
              </a:rPr>
              <a:t>dikembalikan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ke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pemanggilnya</a:t>
            </a:r>
            <a:r>
              <a:rPr lang="fr-FR" sz="2400" dirty="0">
                <a:latin typeface="Twentieth Century"/>
              </a:rPr>
              <a:t>, dan </a:t>
            </a:r>
            <a:r>
              <a:rPr lang="fr-FR" sz="2400" dirty="0" err="1">
                <a:latin typeface="Twentieth Century"/>
              </a:rPr>
              <a:t>nilai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nya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>
                <a:solidFill>
                  <a:schemeClr val="tx1"/>
                </a:solidFill>
                <a:latin typeface="Twentieth Century"/>
              </a:rPr>
              <a:t>di</a:t>
            </a:r>
            <a:r>
              <a:rPr lang="fr-FR" sz="2400" b="1" dirty="0">
                <a:solidFill>
                  <a:srgbClr val="0070C0"/>
                </a:solidFill>
                <a:latin typeface="Twentieth Century"/>
              </a:rPr>
              <a:t>-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assign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ke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variabel</a:t>
            </a:r>
            <a:r>
              <a:rPr lang="fr-FR" sz="2400" b="1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mLuas</a:t>
            </a:r>
            <a:r>
              <a:rPr lang="fr-FR" sz="2400" dirty="0" err="1">
                <a:latin typeface="Twentieth Century"/>
              </a:rPr>
              <a:t>.Pada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akhir</a:t>
            </a:r>
            <a:r>
              <a:rPr lang="fr-FR" sz="2400" dirty="0">
                <a:latin typeface="Twentieth Century"/>
              </a:rPr>
              <a:t> program, </a:t>
            </a:r>
            <a:r>
              <a:rPr lang="fr-FR" sz="2400" dirty="0" err="1">
                <a:latin typeface="Twentieth Century"/>
              </a:rPr>
              <a:t>maka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variabel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mLuas</a:t>
            </a:r>
            <a:r>
              <a:rPr lang="fr-FR" sz="2400" dirty="0">
                <a:latin typeface="Twentieth Century"/>
              </a:rPr>
              <a:t> akan </a:t>
            </a:r>
            <a:r>
              <a:rPr lang="fr-FR" sz="2400" dirty="0" err="1">
                <a:latin typeface="Twentieth Century"/>
              </a:rPr>
              <a:t>bernilai</a:t>
            </a:r>
            <a:r>
              <a:rPr lang="fr-FR" sz="2400" dirty="0">
                <a:latin typeface="Twentieth Century"/>
              </a:rPr>
              <a:t> 20.</a:t>
            </a: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r>
              <a:rPr lang="fr-FR" sz="2400" dirty="0">
                <a:latin typeface="Twentieth Century"/>
              </a:rPr>
              <a:t>	</a:t>
            </a:r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BCAA2A-6CD2-416B-9EC3-A64E6A99F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36532"/>
            <a:ext cx="4296375" cy="2867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B68BC9-4B03-40E2-BFBC-EBDA5005D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600" y="3908755"/>
            <a:ext cx="4130892" cy="136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3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251791" y="1874408"/>
            <a:ext cx="4373269" cy="37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2. FUNGSI yang </a:t>
            </a:r>
            <a:r>
              <a:rPr lang="en-US" sz="2400" b="1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tidak</a:t>
            </a: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mengembalikan</a:t>
            </a: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nilai</a:t>
            </a: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(void/non-RETURNING VALUE)</a:t>
            </a:r>
            <a:endParaRPr lang="en-US" sz="2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lang="en-US" sz="2800"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sz="28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EF9BE-2FB5-4E34-8175-7E476A963AA6}"/>
              </a:ext>
            </a:extLst>
          </p:cNvPr>
          <p:cNvSpPr txBox="1"/>
          <p:nvPr/>
        </p:nvSpPr>
        <p:spPr>
          <a:xfrm>
            <a:off x="5114109" y="971956"/>
            <a:ext cx="656408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400" b="1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 yang </a:t>
            </a:r>
            <a:r>
              <a:rPr lang="en-ID" sz="2400" dirty="0" err="1">
                <a:latin typeface="Twentieth Century"/>
              </a:rPr>
              <a:t>tidak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mengembalikan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nilai</a:t>
            </a:r>
            <a:r>
              <a:rPr lang="en-ID" sz="2400" dirty="0">
                <a:latin typeface="Twentieth Century"/>
              </a:rPr>
              <a:t>  </a:t>
            </a:r>
            <a:r>
              <a:rPr lang="en-ID" sz="2400" dirty="0" err="1">
                <a:latin typeface="Twentieth Century"/>
              </a:rPr>
              <a:t>dibuat</a:t>
            </a:r>
            <a:r>
              <a:rPr lang="en-ID" sz="2400" dirty="0">
                <a:latin typeface="Twentieth Century"/>
              </a:rPr>
              <a:t> dan </a:t>
            </a:r>
            <a:r>
              <a:rPr lang="en-ID" sz="2400" dirty="0" err="1">
                <a:latin typeface="Twentieth Century"/>
              </a:rPr>
              <a:t>digunakan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seperti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yangmengembalikan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nilai</a:t>
            </a:r>
            <a:r>
              <a:rPr lang="en-ID" sz="2400" dirty="0">
                <a:latin typeface="Twentieth Century"/>
              </a:rPr>
              <a:t>, </a:t>
            </a:r>
            <a:r>
              <a:rPr lang="en-ID" sz="2400" dirty="0" err="1">
                <a:latin typeface="Twentieth Century"/>
              </a:rPr>
              <a:t>namun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tersebut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tidak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mengembalikan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nilai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setelahdieksekusi</a:t>
            </a:r>
            <a:r>
              <a:rPr lang="en-ID" sz="2400" dirty="0">
                <a:latin typeface="Twentieth Century"/>
              </a:rPr>
              <a:t>.</a:t>
            </a:r>
          </a:p>
          <a:p>
            <a:pPr algn="just"/>
            <a:endParaRPr lang="en-ID" sz="2400" dirty="0">
              <a:latin typeface="Twentieth Century"/>
            </a:endParaRPr>
          </a:p>
          <a:p>
            <a:r>
              <a:rPr lang="en-ID" sz="2400" b="1" dirty="0" err="1">
                <a:latin typeface="Twentieth Century"/>
              </a:rPr>
              <a:t>Fungsi</a:t>
            </a:r>
            <a:r>
              <a:rPr lang="en-ID" sz="2400" b="1" dirty="0">
                <a:latin typeface="Twentieth Century"/>
              </a:rPr>
              <a:t> yang </a:t>
            </a:r>
            <a:r>
              <a:rPr lang="en-ID" sz="2400" b="1" dirty="0" err="1">
                <a:latin typeface="Twentieth Century"/>
              </a:rPr>
              <a:t>tidak</a:t>
            </a:r>
            <a:r>
              <a:rPr lang="en-ID" sz="2400" b="1" dirty="0">
                <a:latin typeface="Twentieth Century"/>
              </a:rPr>
              <a:t> </a:t>
            </a:r>
            <a:r>
              <a:rPr lang="en-ID" sz="2400" b="1" dirty="0" err="1">
                <a:latin typeface="Twentieth Century"/>
              </a:rPr>
              <a:t>mengembalikan</a:t>
            </a:r>
            <a:r>
              <a:rPr lang="en-ID" sz="2400" b="1" dirty="0">
                <a:latin typeface="Twentieth Century"/>
              </a:rPr>
              <a:t> </a:t>
            </a:r>
            <a:r>
              <a:rPr lang="en-ID" sz="2400" b="1" dirty="0" err="1">
                <a:latin typeface="Twentieth Century"/>
              </a:rPr>
              <a:t>nilai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menggunakan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keyword“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void</a:t>
            </a:r>
            <a:r>
              <a:rPr lang="en-ID" sz="2400" dirty="0" err="1">
                <a:latin typeface="Twentieth Century"/>
              </a:rPr>
              <a:t>”,dan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dikenal</a:t>
            </a:r>
            <a:r>
              <a:rPr lang="en-ID" sz="2400" dirty="0">
                <a:latin typeface="Twentieth Century"/>
              </a:rPr>
              <a:t> juga </a:t>
            </a:r>
            <a:r>
              <a:rPr lang="en-ID" sz="2400" dirty="0" err="1">
                <a:latin typeface="Twentieth Century"/>
              </a:rPr>
              <a:t>dengan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istilah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 void.</a:t>
            </a:r>
          </a:p>
          <a:p>
            <a:pPr algn="just"/>
            <a:endParaRPr lang="en-ID" sz="2400" dirty="0">
              <a:latin typeface="Twentieth Century"/>
            </a:endParaRPr>
          </a:p>
          <a:p>
            <a:pPr algn="just"/>
            <a:r>
              <a:rPr lang="en-ID" sz="2400" dirty="0" err="1">
                <a:latin typeface="Twentieth Century"/>
              </a:rPr>
              <a:t>Walaupun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tidak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dituliskan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return</a:t>
            </a:r>
            <a:r>
              <a:rPr lang="en-ID" sz="2400" dirty="0">
                <a:latin typeface="Twentieth Century"/>
              </a:rPr>
              <a:t> pada </a:t>
            </a:r>
            <a:r>
              <a:rPr lang="en-ID" sz="2400" dirty="0" err="1">
                <a:latin typeface="Twentieth Century"/>
              </a:rPr>
              <a:t>akhir</a:t>
            </a:r>
            <a:r>
              <a:rPr lang="en-ID" sz="2400" dirty="0">
                <a:latin typeface="Twentieth Century"/>
              </a:rPr>
              <a:t> badan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, </a:t>
            </a:r>
            <a:r>
              <a:rPr lang="en-ID" sz="2400" dirty="0" err="1">
                <a:latin typeface="Twentieth Century"/>
              </a:rPr>
              <a:t>kontrol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akan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mengembalikan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kepemanggilnya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secara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otomatis</a:t>
            </a:r>
            <a:r>
              <a:rPr lang="en-ID" sz="2400" dirty="0">
                <a:latin typeface="Twentieth Century"/>
              </a:rPr>
              <a:t> di </a:t>
            </a:r>
            <a:r>
              <a:rPr lang="en-ID" sz="2400" dirty="0" err="1">
                <a:latin typeface="Twentieth Century"/>
              </a:rPr>
              <a:t>akhir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. </a:t>
            </a:r>
            <a:r>
              <a:rPr lang="en-ID" sz="2400" b="1" dirty="0" err="1">
                <a:latin typeface="Twentieth Century"/>
              </a:rPr>
              <a:t>Fungsi</a:t>
            </a:r>
            <a:r>
              <a:rPr lang="en-ID" sz="2400" b="1" dirty="0">
                <a:latin typeface="Twentieth Century"/>
              </a:rPr>
              <a:t> void </a:t>
            </a:r>
            <a:r>
              <a:rPr lang="en-ID" sz="2400" dirty="0">
                <a:latin typeface="Twentieth Century"/>
              </a:rPr>
              <a:t>juga </a:t>
            </a:r>
            <a:r>
              <a:rPr lang="en-ID" sz="2400" dirty="0" err="1">
                <a:latin typeface="Twentieth Century"/>
              </a:rPr>
              <a:t>dapat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menerima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beberapa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parameter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seperti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 yang </a:t>
            </a:r>
            <a:r>
              <a:rPr lang="en-ID" sz="2400" dirty="0" err="1">
                <a:latin typeface="Twentieth Century"/>
              </a:rPr>
              <a:t>mengembalikan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.</a:t>
            </a:r>
          </a:p>
          <a:p>
            <a:pPr algn="just"/>
            <a:endParaRPr lang="en-ID" sz="2400" dirty="0"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403886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DEKLARASI FUNCTION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21568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 err="1">
                <a:latin typeface="Twentieth Century"/>
              </a:rPr>
              <a:t>contoh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deklarasi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fungsi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print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dalam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bahasa</a:t>
            </a:r>
            <a:r>
              <a:rPr lang="fr-FR" sz="2400" dirty="0">
                <a:latin typeface="Twentieth Century"/>
              </a:rPr>
              <a:t> Java </a:t>
            </a:r>
            <a:r>
              <a:rPr lang="fr-FR" sz="2400" dirty="0" err="1">
                <a:latin typeface="Twentieth Century"/>
              </a:rPr>
              <a:t>untuk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mencetak</a:t>
            </a:r>
            <a:r>
              <a:rPr lang="fr-FR" sz="2400" dirty="0">
                <a:latin typeface="Twentieth Century"/>
              </a:rPr>
              <a:t> “Hello World” </a:t>
            </a:r>
            <a:r>
              <a:rPr lang="fr-FR" sz="2400" dirty="0" err="1">
                <a:latin typeface="Twentieth Century"/>
              </a:rPr>
              <a:t>ke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layar</a:t>
            </a:r>
            <a:endParaRPr lang="fr-FR" sz="2400" dirty="0">
              <a:latin typeface="Twentieth Centur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26479-8196-432F-BC0D-C9F2D2D71D60}"/>
              </a:ext>
            </a:extLst>
          </p:cNvPr>
          <p:cNvSpPr/>
          <p:nvPr/>
        </p:nvSpPr>
        <p:spPr>
          <a:xfrm>
            <a:off x="1407279" y="2582075"/>
            <a:ext cx="8337071" cy="2090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latin typeface="Twentieth Century"/>
              </a:rPr>
              <a:t>public static void </a:t>
            </a:r>
            <a:r>
              <a:rPr lang="en-GB" sz="2400" dirty="0" err="1">
                <a:latin typeface="Twentieth Century"/>
              </a:rPr>
              <a:t>printHello</a:t>
            </a:r>
            <a:r>
              <a:rPr lang="en-GB" sz="2400" dirty="0">
                <a:latin typeface="Twentieth Century"/>
              </a:rPr>
              <a:t>(String </a:t>
            </a:r>
            <a:r>
              <a:rPr lang="en-GB" sz="2400" dirty="0" err="1">
                <a:latin typeface="Twentieth Century"/>
              </a:rPr>
              <a:t>pUsername</a:t>
            </a:r>
            <a:r>
              <a:rPr lang="en-GB" sz="2400" dirty="0">
                <a:latin typeface="Twentieth Century"/>
              </a:rPr>
              <a:t>)</a:t>
            </a:r>
          </a:p>
          <a:p>
            <a:r>
              <a:rPr lang="en-GB" sz="2400" dirty="0">
                <a:latin typeface="Twentieth Century"/>
              </a:rPr>
              <a:t>{</a:t>
            </a:r>
          </a:p>
          <a:p>
            <a:r>
              <a:rPr lang="en-GB" sz="2400" dirty="0">
                <a:latin typeface="Twentieth Century"/>
              </a:rPr>
              <a:t>		</a:t>
            </a:r>
            <a:r>
              <a:rPr lang="en-GB" sz="2400" dirty="0" err="1">
                <a:latin typeface="Twentieth Century"/>
              </a:rPr>
              <a:t>System.out.println</a:t>
            </a:r>
            <a:r>
              <a:rPr lang="en-GB" sz="2400" dirty="0">
                <a:latin typeface="Twentieth Century"/>
              </a:rPr>
              <a:t>(“hello world, ” + </a:t>
            </a:r>
            <a:r>
              <a:rPr lang="en-GB" sz="2400" dirty="0" err="1">
                <a:latin typeface="Twentieth Century"/>
              </a:rPr>
              <a:t>pUsername</a:t>
            </a:r>
            <a:r>
              <a:rPr lang="en-GB" sz="2400" dirty="0">
                <a:latin typeface="Twentieth Century"/>
              </a:rPr>
              <a:t>);</a:t>
            </a:r>
          </a:p>
          <a:p>
            <a:r>
              <a:rPr lang="en-GB" sz="2400" dirty="0">
                <a:latin typeface="Twentieth Century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958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MEMANGGIL FUNCTION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38200" y="1670934"/>
            <a:ext cx="10515600" cy="465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 err="1">
                <a:latin typeface="Twentieth Century"/>
              </a:rPr>
              <a:t>Karena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fungsi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void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tidak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mengembalikan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nilai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setelah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dieksekusi</a:t>
            </a:r>
            <a:r>
              <a:rPr lang="fr-FR" sz="2400" dirty="0">
                <a:latin typeface="Twentieth Century"/>
              </a:rPr>
              <a:t>.</a:t>
            </a:r>
          </a:p>
          <a:p>
            <a:pPr algn="just"/>
            <a:r>
              <a:rPr lang="fr-FR" sz="2400" dirty="0" err="1">
                <a:latin typeface="Twentieth Century"/>
              </a:rPr>
              <a:t>Pemanggilan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terhadap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fungsi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void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harus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berupa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statement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sendiri</a:t>
            </a:r>
            <a:r>
              <a:rPr lang="fr-FR" sz="2400" dirty="0">
                <a:latin typeface="Twentieth Century"/>
              </a:rPr>
              <a:t> yang </a:t>
            </a:r>
            <a:r>
              <a:rPr lang="fr-FR" sz="2400" dirty="0" err="1">
                <a:latin typeface="Twentieth Century"/>
              </a:rPr>
              <a:t>lengkap</a:t>
            </a:r>
            <a:endParaRPr lang="fr-FR" sz="2400" dirty="0">
              <a:latin typeface="Twentieth Centur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26479-8196-432F-BC0D-C9F2D2D71D60}"/>
              </a:ext>
            </a:extLst>
          </p:cNvPr>
          <p:cNvSpPr/>
          <p:nvPr/>
        </p:nvSpPr>
        <p:spPr>
          <a:xfrm>
            <a:off x="1407279" y="3003018"/>
            <a:ext cx="8337071" cy="2090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bg1"/>
                </a:solidFill>
                <a:latin typeface="Twentieth Century"/>
              </a:rPr>
              <a:t>public static void main(String[] </a:t>
            </a:r>
            <a:r>
              <a:rPr lang="en-GB" sz="2400" dirty="0" err="1">
                <a:solidFill>
                  <a:schemeClr val="bg1"/>
                </a:solidFill>
                <a:latin typeface="Twentieth Century"/>
              </a:rPr>
              <a:t>args</a:t>
            </a:r>
            <a:r>
              <a:rPr lang="en-GB" sz="2400" dirty="0">
                <a:solidFill>
                  <a:schemeClr val="bg1"/>
                </a:solidFill>
                <a:latin typeface="Twentieth Century"/>
              </a:rPr>
              <a:t>)</a:t>
            </a:r>
          </a:p>
          <a:p>
            <a:r>
              <a:rPr lang="en-GB" sz="2400" dirty="0">
                <a:solidFill>
                  <a:schemeClr val="bg1"/>
                </a:solidFill>
                <a:latin typeface="Twentieth Century"/>
              </a:rPr>
              <a:t>{</a:t>
            </a:r>
          </a:p>
          <a:p>
            <a:r>
              <a:rPr lang="en-GB" sz="2400" dirty="0">
                <a:solidFill>
                  <a:schemeClr val="bg1"/>
                </a:solidFill>
                <a:latin typeface="Twentieth Century"/>
              </a:rPr>
              <a:t>	</a:t>
            </a:r>
            <a:r>
              <a:rPr lang="en-GB" sz="2400" dirty="0" err="1">
                <a:solidFill>
                  <a:schemeClr val="bg1"/>
                </a:solidFill>
                <a:latin typeface="Twentieth Century"/>
              </a:rPr>
              <a:t>printhello</a:t>
            </a:r>
            <a:r>
              <a:rPr lang="en-GB" sz="2400" dirty="0">
                <a:solidFill>
                  <a:schemeClr val="bg1"/>
                </a:solidFill>
                <a:latin typeface="Twentieth Century"/>
              </a:rPr>
              <a:t>(“PBO”);</a:t>
            </a:r>
          </a:p>
          <a:p>
            <a:r>
              <a:rPr lang="en-GB" sz="2400" dirty="0">
                <a:solidFill>
                  <a:schemeClr val="bg1"/>
                </a:solidFill>
                <a:latin typeface="Twentieth Century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794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MEMANGGIL FUNCTION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38200" y="1670934"/>
            <a:ext cx="10515600" cy="465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 err="1">
                <a:latin typeface="Twentieth Century"/>
              </a:rPr>
              <a:t>Karena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fungsi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void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tidak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mengembalikan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nilai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setelah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dieksekusi</a:t>
            </a:r>
            <a:r>
              <a:rPr lang="fr-FR" sz="2400" dirty="0">
                <a:latin typeface="Twentieth Century"/>
              </a:rPr>
              <a:t>.</a:t>
            </a:r>
          </a:p>
          <a:p>
            <a:pPr algn="just"/>
            <a:r>
              <a:rPr lang="fr-FR" sz="2400" dirty="0" err="1">
                <a:latin typeface="Twentieth Century"/>
              </a:rPr>
              <a:t>Pemanggilan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terhadap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fungsi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void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harus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berupa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statement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sendiri</a:t>
            </a:r>
            <a:r>
              <a:rPr lang="fr-FR" sz="2400" dirty="0">
                <a:latin typeface="Twentieth Century"/>
              </a:rPr>
              <a:t> yang </a:t>
            </a:r>
            <a:r>
              <a:rPr lang="fr-FR" sz="2400" dirty="0" err="1">
                <a:latin typeface="Twentieth Century"/>
              </a:rPr>
              <a:t>lengkap</a:t>
            </a:r>
            <a:endParaRPr lang="fr-FR" sz="2400" dirty="0">
              <a:latin typeface="Twentieth Centur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80413-409D-49F5-9B7E-3BE5B4668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81" y="2701097"/>
            <a:ext cx="4915586" cy="2591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19789C-8272-4DA2-9578-B3596E2A8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418" y="3582282"/>
            <a:ext cx="3362794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4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251791" y="1874408"/>
            <a:ext cx="4373269" cy="37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3. DEKLARASI dan PEMANGILAN FUNGSI pada KELAS</a:t>
            </a:r>
            <a:endParaRPr lang="en-US" sz="2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lang="en-US" sz="2800"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sz="28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EF9BE-2FB5-4E34-8175-7E476A963AA6}"/>
              </a:ext>
            </a:extLst>
          </p:cNvPr>
          <p:cNvSpPr txBox="1"/>
          <p:nvPr/>
        </p:nvSpPr>
        <p:spPr>
          <a:xfrm>
            <a:off x="4983480" y="738611"/>
            <a:ext cx="656408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400" dirty="0">
                <a:latin typeface="Twentieth Century"/>
              </a:rPr>
              <a:t>Pada OOP </a:t>
            </a:r>
            <a:r>
              <a:rPr lang="en-ID" sz="2400" dirty="0" err="1">
                <a:latin typeface="Twentieth Century"/>
              </a:rPr>
              <a:t>fungsi-fungsi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didefinisikan</a:t>
            </a:r>
            <a:r>
              <a:rPr lang="en-ID" sz="2400" dirty="0">
                <a:latin typeface="Twentieth Century"/>
              </a:rPr>
              <a:t> di </a:t>
            </a:r>
            <a:r>
              <a:rPr lang="en-ID" sz="2400" dirty="0" err="1">
                <a:latin typeface="Twentieth Century"/>
              </a:rPr>
              <a:t>dalam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sebuah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kelas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bersama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dengan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datanya</a:t>
            </a:r>
            <a:r>
              <a:rPr lang="en-ID" sz="2400" dirty="0">
                <a:latin typeface="Twentieth Century"/>
              </a:rPr>
              <a:t>. </a:t>
            </a:r>
            <a:r>
              <a:rPr lang="en-ID" sz="2400" dirty="0" err="1">
                <a:latin typeface="Twentieth Century"/>
              </a:rPr>
              <a:t>Dengan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demikian</a:t>
            </a:r>
            <a:r>
              <a:rPr lang="en-ID" sz="2400" dirty="0">
                <a:latin typeface="Twentieth Century"/>
              </a:rPr>
              <a:t>, </a:t>
            </a:r>
            <a:r>
              <a:rPr lang="en-ID" sz="2400" dirty="0" err="1">
                <a:latin typeface="Twentieth Century"/>
              </a:rPr>
              <a:t>deklarasi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 pada OOP </a:t>
            </a:r>
            <a:r>
              <a:rPr lang="en-ID" sz="2400" dirty="0" err="1">
                <a:latin typeface="Twentieth Century"/>
              </a:rPr>
              <a:t>ditulis</a:t>
            </a:r>
            <a:r>
              <a:rPr lang="en-ID" sz="2400" dirty="0">
                <a:latin typeface="Twentieth Century"/>
              </a:rPr>
              <a:t> di </a:t>
            </a:r>
            <a:r>
              <a:rPr lang="en-ID" sz="2400" dirty="0" err="1">
                <a:latin typeface="Twentieth Century"/>
              </a:rPr>
              <a:t>dalam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sebuah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kelas</a:t>
            </a:r>
            <a:r>
              <a:rPr lang="en-ID" sz="2400" dirty="0">
                <a:latin typeface="Twentieth Century"/>
              </a:rPr>
              <a:t>, dan 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dipanggil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dengan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mengacu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 pada 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objek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 yang 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memiliki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definisi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en-ID" sz="2400" b="1" dirty="0" err="1">
                <a:solidFill>
                  <a:srgbClr val="0070C0"/>
                </a:solidFill>
                <a:latin typeface="Twentieth Century"/>
              </a:rPr>
              <a:t>fungsi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tersebut</a:t>
            </a:r>
            <a:r>
              <a:rPr lang="en-ID" sz="2400" dirty="0">
                <a:latin typeface="Twentieth Century"/>
              </a:rPr>
              <a:t>.</a:t>
            </a:r>
          </a:p>
          <a:p>
            <a:pPr algn="just"/>
            <a:endParaRPr lang="en-ID" sz="2400" dirty="0">
              <a:latin typeface="Twentieth Century"/>
            </a:endParaRPr>
          </a:p>
          <a:p>
            <a:pPr algn="just"/>
            <a:r>
              <a:rPr lang="en-ID" sz="2400" dirty="0">
                <a:latin typeface="Twentieth Century"/>
              </a:rPr>
              <a:t>OOP </a:t>
            </a:r>
            <a:r>
              <a:rPr lang="en-ID" sz="2400" dirty="0" err="1">
                <a:latin typeface="Twentieth Century"/>
              </a:rPr>
              <a:t>terdiri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atas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sekumpulan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objek</a:t>
            </a:r>
            <a:r>
              <a:rPr lang="en-ID" sz="2400" dirty="0">
                <a:latin typeface="Twentieth Century"/>
              </a:rPr>
              <a:t> yang </a:t>
            </a:r>
            <a:r>
              <a:rPr lang="en-ID" sz="2400" dirty="0" err="1">
                <a:latin typeface="Twentieth Century"/>
              </a:rPr>
              <a:t>saling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berkomunikasi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satu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dengan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lainnya</a:t>
            </a:r>
            <a:r>
              <a:rPr lang="en-ID" sz="2400" dirty="0">
                <a:latin typeface="Twentieth Century"/>
              </a:rPr>
              <a:t>. </a:t>
            </a:r>
            <a:r>
              <a:rPr lang="en-ID" sz="2400" dirty="0" err="1">
                <a:latin typeface="Twentieth Century"/>
              </a:rPr>
              <a:t>Komunikasi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antar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objek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dilakukan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dengan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saling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mengirimkan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pesan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yangdikenal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dengan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istilah</a:t>
            </a:r>
            <a:r>
              <a:rPr lang="en-ID" sz="2400" dirty="0">
                <a:latin typeface="Twentieth Century"/>
              </a:rPr>
              <a:t> “</a:t>
            </a:r>
            <a:r>
              <a:rPr lang="en-ID" sz="2400" b="1" dirty="0">
                <a:solidFill>
                  <a:srgbClr val="0070C0"/>
                </a:solidFill>
                <a:latin typeface="Twentieth Century"/>
              </a:rPr>
              <a:t>message passing</a:t>
            </a:r>
            <a:r>
              <a:rPr lang="en-ID" sz="2400" dirty="0">
                <a:latin typeface="Twentieth Century"/>
              </a:rPr>
              <a:t>”. </a:t>
            </a:r>
            <a:r>
              <a:rPr lang="en-ID" sz="2400" dirty="0" err="1">
                <a:latin typeface="Twentieth Century"/>
              </a:rPr>
              <a:t>Sebuah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pesan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untuk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sebuah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objek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merupakan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sebuah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permintaan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eksekusi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dari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prosedur</a:t>
            </a:r>
            <a:r>
              <a:rPr lang="en-ID" sz="2400" dirty="0">
                <a:latin typeface="Twentieth Century"/>
              </a:rPr>
              <a:t>, yang </a:t>
            </a:r>
            <a:r>
              <a:rPr lang="en-ID" sz="2400" dirty="0" err="1">
                <a:latin typeface="Twentieth Century"/>
              </a:rPr>
              <a:t>akan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memanggil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sebuahf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ungsi</a:t>
            </a:r>
            <a:r>
              <a:rPr lang="en-ID" sz="2400" dirty="0">
                <a:latin typeface="Twentieth Century"/>
              </a:rPr>
              <a:t> di</a:t>
            </a:r>
          </a:p>
          <a:p>
            <a:pPr algn="just"/>
            <a:r>
              <a:rPr lang="en-ID" sz="2400" dirty="0" err="1">
                <a:latin typeface="Twentieth Century"/>
              </a:rPr>
              <a:t>objek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penerima</a:t>
            </a:r>
            <a:r>
              <a:rPr lang="en-ID" sz="2400" dirty="0">
                <a:latin typeface="Twentieth Century"/>
              </a:rPr>
              <a:t> yang </a:t>
            </a:r>
            <a:r>
              <a:rPr lang="en-ID" sz="2400" dirty="0" err="1">
                <a:latin typeface="Twentieth Century"/>
              </a:rPr>
              <a:t>kemudian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akan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solidFill>
                  <a:srgbClr val="0070C0"/>
                </a:solidFill>
                <a:latin typeface="Twentieth Century"/>
              </a:rPr>
              <a:t>mengenerate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hasil</a:t>
            </a:r>
            <a:r>
              <a:rPr lang="en-ID" sz="2400" dirty="0">
                <a:latin typeface="Twentieth Century"/>
              </a:rPr>
              <a:t> yang </a:t>
            </a:r>
            <a:r>
              <a:rPr lang="en-ID" sz="2400" dirty="0" err="1">
                <a:latin typeface="Twentieth Century"/>
              </a:rPr>
              <a:t>diharapkan</a:t>
            </a:r>
            <a:r>
              <a:rPr lang="en-ID" sz="2400" dirty="0">
                <a:latin typeface="Twentieth Centur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312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21568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 err="1">
                <a:latin typeface="Twentieth Century"/>
              </a:rPr>
              <a:t>Berikut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ini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adalah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cara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memanggil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B050"/>
                </a:solidFill>
                <a:latin typeface="Twentieth Century"/>
              </a:rPr>
              <a:t>fungsi</a:t>
            </a:r>
            <a:r>
              <a:rPr lang="fr-FR" sz="2400" dirty="0">
                <a:latin typeface="Twentieth Century"/>
              </a:rPr>
              <a:t> “</a:t>
            </a:r>
            <a:r>
              <a:rPr lang="fr-FR" sz="2400" b="1" dirty="0">
                <a:solidFill>
                  <a:srgbClr val="0070C0"/>
                </a:solidFill>
                <a:latin typeface="Twentieth Century"/>
              </a:rPr>
              <a:t>balance</a:t>
            </a:r>
            <a:r>
              <a:rPr lang="fr-FR" sz="2400" dirty="0">
                <a:latin typeface="Twentieth Century"/>
              </a:rPr>
              <a:t>” yang </a:t>
            </a:r>
            <a:r>
              <a:rPr lang="fr-FR" sz="2400" dirty="0" err="1">
                <a:latin typeface="Twentieth Century"/>
              </a:rPr>
              <a:t>dimiliki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oleh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B050"/>
                </a:solidFill>
                <a:latin typeface="Twentieth Century"/>
              </a:rPr>
              <a:t>objek</a:t>
            </a:r>
            <a:r>
              <a:rPr lang="fr-FR" sz="2400" dirty="0">
                <a:latin typeface="Twentieth Century"/>
              </a:rPr>
              <a:t> “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customer</a:t>
            </a:r>
            <a:r>
              <a:rPr lang="fr-FR" sz="2400" dirty="0">
                <a:latin typeface="Twentieth Century"/>
              </a:rPr>
              <a:t>” </a:t>
            </a:r>
            <a:r>
              <a:rPr lang="fr-FR" sz="2400" dirty="0" err="1">
                <a:latin typeface="Twentieth Century"/>
              </a:rPr>
              <a:t>dengan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memberikan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informasi</a:t>
            </a:r>
            <a:r>
              <a:rPr lang="fr-FR" sz="2400" dirty="0">
                <a:latin typeface="Twentieth Century"/>
              </a:rPr>
              <a:t> “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account_number</a:t>
            </a:r>
            <a:r>
              <a:rPr lang="fr-FR" sz="2400" dirty="0">
                <a:latin typeface="Twentieth Century"/>
              </a:rPr>
              <a:t>” </a:t>
            </a:r>
            <a:r>
              <a:rPr lang="fr-FR" sz="2400" dirty="0" err="1">
                <a:latin typeface="Twentieth Century"/>
              </a:rPr>
              <a:t>sebagai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B050"/>
                </a:solidFill>
                <a:latin typeface="Twentieth Century"/>
              </a:rPr>
              <a:t>argumen</a:t>
            </a:r>
            <a:r>
              <a:rPr lang="fr-FR" sz="2400" dirty="0">
                <a:latin typeface="Twentieth Century"/>
              </a:rPr>
              <a:t> (</a:t>
            </a:r>
            <a:r>
              <a:rPr lang="fr-FR" sz="2400" dirty="0" err="1">
                <a:latin typeface="Twentieth Century"/>
              </a:rPr>
              <a:t>nilai</a:t>
            </a:r>
            <a:r>
              <a:rPr lang="fr-FR" sz="2400" dirty="0">
                <a:latin typeface="Twentieth Century"/>
              </a:rPr>
              <a:t> yang </a:t>
            </a:r>
            <a:r>
              <a:rPr lang="fr-FR" sz="2400" dirty="0" err="1">
                <a:latin typeface="Twentieth Century"/>
              </a:rPr>
              <a:t>diberikan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ke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fungsi</a:t>
            </a:r>
            <a:r>
              <a:rPr lang="fr-FR" sz="2400" dirty="0">
                <a:latin typeface="Twentieth Century"/>
              </a:rPr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211031-7D44-42AC-9ECD-4B4ADF8F8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602" y="2883115"/>
            <a:ext cx="7226796" cy="221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01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560310" y="1347107"/>
            <a:ext cx="4952215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 err="1">
                <a:latin typeface="Twentieth Century"/>
              </a:rPr>
              <a:t>Didefinisikan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sebuah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B050"/>
                </a:solidFill>
                <a:latin typeface="Twentieth Century"/>
              </a:rPr>
              <a:t>kelas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bernama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Lpersegipanjang</a:t>
            </a:r>
            <a:r>
              <a:rPr lang="fr-FR" sz="2400" dirty="0">
                <a:latin typeface="Twentieth Century"/>
              </a:rPr>
              <a:t> yang </a:t>
            </a:r>
            <a:r>
              <a:rPr lang="fr-FR" sz="2400" dirty="0" err="1">
                <a:latin typeface="Twentieth Century"/>
              </a:rPr>
              <a:t>memiliki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B050"/>
                </a:solidFill>
                <a:latin typeface="Twentieth Century"/>
              </a:rPr>
              <a:t>variabel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panjang</a:t>
            </a:r>
            <a:r>
              <a:rPr lang="fr-FR" sz="2400" dirty="0">
                <a:latin typeface="Twentieth Century"/>
              </a:rPr>
              <a:t> dan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lebar</a:t>
            </a:r>
            <a:r>
              <a:rPr lang="fr-FR" sz="2400" dirty="0">
                <a:latin typeface="Twentieth Century"/>
              </a:rPr>
              <a:t>. </a:t>
            </a:r>
            <a:r>
              <a:rPr lang="fr-FR" sz="2400" b="1" dirty="0" err="1">
                <a:solidFill>
                  <a:srgbClr val="00B050"/>
                </a:solidFill>
                <a:latin typeface="Twentieth Century"/>
              </a:rPr>
              <a:t>Kelas</a:t>
            </a:r>
            <a:r>
              <a:rPr lang="fr-FR" sz="2400" b="1" dirty="0">
                <a:solidFill>
                  <a:srgbClr val="00B050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Lpersegipanjan</a:t>
            </a:r>
            <a:r>
              <a:rPr lang="fr-FR" sz="2400" b="1" dirty="0">
                <a:solidFill>
                  <a:srgbClr val="00B050"/>
                </a:solidFill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membatasi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akses</a:t>
            </a:r>
            <a:r>
              <a:rPr lang="fr-FR" sz="2400" dirty="0">
                <a:latin typeface="Twentieth Century"/>
              </a:rPr>
              <a:t> data dari program </a:t>
            </a:r>
            <a:r>
              <a:rPr lang="fr-FR" sz="2400" dirty="0" err="1">
                <a:latin typeface="Twentieth Century"/>
              </a:rPr>
              <a:t>eksternal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dengan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memberikan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akses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private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pada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datanya</a:t>
            </a:r>
            <a:r>
              <a:rPr lang="fr-FR" sz="2400" dirty="0">
                <a:latin typeface="Twentieth Century"/>
              </a:rPr>
              <a:t>. </a:t>
            </a:r>
            <a:r>
              <a:rPr lang="fr-FR" sz="2400" dirty="0" err="1">
                <a:latin typeface="Twentieth Century"/>
              </a:rPr>
              <a:t>misalkan</a:t>
            </a:r>
            <a:r>
              <a:rPr lang="fr-FR" sz="2400" dirty="0">
                <a:latin typeface="Twentieth Century"/>
              </a:rPr>
              <a:t>, </a:t>
            </a:r>
            <a:r>
              <a:rPr lang="fr-FR" sz="2400" b="1" dirty="0" err="1">
                <a:solidFill>
                  <a:schemeClr val="tx1"/>
                </a:solidFill>
                <a:latin typeface="Twentieth Century"/>
              </a:rPr>
              <a:t>fungsi</a:t>
            </a:r>
            <a:r>
              <a:rPr lang="fr-FR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Twentieth Century"/>
              </a:rPr>
              <a:t>menghitung</a:t>
            </a:r>
            <a:r>
              <a:rPr lang="fr-FR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Twentieth Century"/>
              </a:rPr>
              <a:t>luas</a:t>
            </a:r>
            <a:r>
              <a:rPr lang="fr-FR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fr-FR" sz="2400" dirty="0">
                <a:latin typeface="Twentieth Century"/>
              </a:rPr>
              <a:t>(area), dan </a:t>
            </a:r>
            <a:r>
              <a:rPr lang="fr-FR" sz="2400" dirty="0" err="1">
                <a:latin typeface="Twentieth Century"/>
              </a:rPr>
              <a:t>mengeset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B050"/>
                </a:solidFill>
                <a:latin typeface="Twentieth Century"/>
              </a:rPr>
              <a:t>varibel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panjang</a:t>
            </a:r>
            <a:r>
              <a:rPr lang="fr-FR" sz="2400" dirty="0">
                <a:latin typeface="Twentieth Century"/>
              </a:rPr>
              <a:t> dan </a:t>
            </a:r>
            <a:r>
              <a:rPr lang="fr-FR" sz="2400" dirty="0" err="1">
                <a:latin typeface="Twentieth Century"/>
              </a:rPr>
              <a:t>lebarnya</a:t>
            </a:r>
            <a:r>
              <a:rPr lang="fr-FR" sz="2400" dirty="0">
                <a:latin typeface="Twentieth Century"/>
              </a:rPr>
              <a:t> (</a:t>
            </a:r>
            <a:r>
              <a:rPr lang="fr-FR" sz="2400" dirty="0" err="1">
                <a:latin typeface="Twentieth Century"/>
              </a:rPr>
              <a:t>set_values</a:t>
            </a:r>
            <a:r>
              <a:rPr lang="fr-FR" sz="2400" dirty="0">
                <a:latin typeface="Twentieth Century"/>
              </a:rPr>
              <a:t>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7A8E1C-4898-4010-971B-08C3DF24B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577" y="771525"/>
            <a:ext cx="5947277" cy="4060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9E7C9B-ECF5-47C0-B0D9-D965B23E2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477" y="4993692"/>
            <a:ext cx="3515216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3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251791" y="1874408"/>
            <a:ext cx="4373269" cy="37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4. PARAMETER FUNGSI</a:t>
            </a:r>
            <a:endParaRPr lang="en-US" sz="2800"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sz="28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EF9BE-2FB5-4E34-8175-7E476A963AA6}"/>
              </a:ext>
            </a:extLst>
          </p:cNvPr>
          <p:cNvSpPr txBox="1"/>
          <p:nvPr/>
        </p:nvSpPr>
        <p:spPr>
          <a:xfrm>
            <a:off x="5114109" y="1874408"/>
            <a:ext cx="65640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400" dirty="0" err="1">
                <a:latin typeface="Twentieth Century"/>
              </a:rPr>
              <a:t>Terdapat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dua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tipe</a:t>
            </a:r>
            <a:r>
              <a:rPr lang="en-ID" sz="2400" dirty="0">
                <a:latin typeface="Twentieth Century"/>
              </a:rPr>
              <a:t> parameter </a:t>
            </a:r>
            <a:r>
              <a:rPr lang="en-ID" sz="2400" dirty="0" err="1">
                <a:latin typeface="Twentieth Century"/>
              </a:rPr>
              <a:t>fungsi</a:t>
            </a:r>
            <a:r>
              <a:rPr lang="en-ID" sz="2400" dirty="0">
                <a:latin typeface="Twentieth Century"/>
              </a:rPr>
              <a:t> 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sz="2400" b="1" dirty="0">
                <a:latin typeface="Twentieth Century"/>
              </a:rPr>
              <a:t>Value Parameter </a:t>
            </a:r>
            <a:r>
              <a:rPr lang="en-ID" sz="2400" dirty="0" err="1">
                <a:latin typeface="Twentieth Century"/>
              </a:rPr>
              <a:t>adalah</a:t>
            </a:r>
            <a:r>
              <a:rPr lang="en-ID" sz="2400" dirty="0">
                <a:latin typeface="Twentieth Century"/>
              </a:rPr>
              <a:t> parameter formal </a:t>
            </a:r>
            <a:r>
              <a:rPr lang="en-ID" sz="2400" dirty="0" err="1">
                <a:latin typeface="Twentieth Century"/>
              </a:rPr>
              <a:t>menerima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salinan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nilai</a:t>
            </a:r>
            <a:r>
              <a:rPr lang="en-ID" sz="2400" dirty="0">
                <a:latin typeface="Twentieth Century"/>
              </a:rPr>
              <a:t> parameter </a:t>
            </a:r>
            <a:r>
              <a:rPr lang="en-ID" sz="2400" dirty="0" err="1">
                <a:latin typeface="Twentieth Century"/>
              </a:rPr>
              <a:t>aktual</a:t>
            </a:r>
            <a:endParaRPr lang="en-ID" sz="2400" dirty="0">
              <a:latin typeface="Twentieth Century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D" sz="2400" b="1" dirty="0">
                <a:latin typeface="Twentieth Century"/>
              </a:rPr>
              <a:t>Reference Parameter </a:t>
            </a:r>
            <a:r>
              <a:rPr lang="en-ID" sz="2400" dirty="0" err="1">
                <a:latin typeface="Twentieth Century"/>
              </a:rPr>
              <a:t>adalah</a:t>
            </a:r>
            <a:r>
              <a:rPr lang="en-ID" sz="2400" dirty="0">
                <a:latin typeface="Twentieth Century"/>
              </a:rPr>
              <a:t> parameter formal </a:t>
            </a:r>
            <a:r>
              <a:rPr lang="en-ID" sz="2400" dirty="0" err="1">
                <a:latin typeface="Twentieth Century"/>
              </a:rPr>
              <a:t>menerima</a:t>
            </a:r>
            <a:r>
              <a:rPr lang="en-ID" sz="2400" dirty="0">
                <a:latin typeface="Twentieth Century"/>
              </a:rPr>
              <a:t> </a:t>
            </a:r>
            <a:r>
              <a:rPr lang="en-ID" sz="2400" dirty="0" err="1">
                <a:latin typeface="Twentieth Century"/>
              </a:rPr>
              <a:t>lokasi</a:t>
            </a:r>
            <a:r>
              <a:rPr lang="en-ID" sz="2400" dirty="0">
                <a:latin typeface="Twentieth Century"/>
              </a:rPr>
              <a:t> (memory address) </a:t>
            </a:r>
            <a:r>
              <a:rPr lang="en-ID" sz="2400" dirty="0" err="1">
                <a:latin typeface="Twentieth Century"/>
              </a:rPr>
              <a:t>dari</a:t>
            </a:r>
            <a:r>
              <a:rPr lang="en-ID" sz="2400" dirty="0">
                <a:latin typeface="Twentieth Century"/>
              </a:rPr>
              <a:t> parameter actual.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D61B24-AF8A-4E69-99BF-30E760574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06" y="2687430"/>
            <a:ext cx="3954449" cy="171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9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1. VALUE PARAMETER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21568" y="1592623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000" dirty="0" err="1">
                <a:latin typeface="Twentieth Century"/>
              </a:rPr>
              <a:t>Nilai</a:t>
            </a:r>
            <a:r>
              <a:rPr lang="fr-FR" sz="2000" dirty="0">
                <a:latin typeface="Twentieth Century"/>
              </a:rPr>
              <a:t> dari </a:t>
            </a:r>
            <a:r>
              <a:rPr lang="fr-FR" sz="2000" dirty="0" err="1">
                <a:latin typeface="Twentieth Century"/>
              </a:rPr>
              <a:t>parameter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aktual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disalin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ke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dalam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parameter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formal</a:t>
            </a:r>
            <a:r>
              <a:rPr lang="fr-FR" sz="2000" dirty="0">
                <a:latin typeface="Twentieth Century"/>
              </a:rPr>
              <a:t>. Value </a:t>
            </a:r>
            <a:r>
              <a:rPr lang="fr-FR" sz="2000" dirty="0" err="1">
                <a:latin typeface="Twentieth Century"/>
              </a:rPr>
              <a:t>parameter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memiliki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salinan</a:t>
            </a:r>
            <a:r>
              <a:rPr lang="fr-FR" sz="2000" dirty="0">
                <a:latin typeface="Twentieth Century"/>
              </a:rPr>
              <a:t> data </a:t>
            </a:r>
            <a:r>
              <a:rPr lang="fr-FR" sz="2000" dirty="0" err="1">
                <a:latin typeface="Twentieth Century"/>
              </a:rPr>
              <a:t>sendiri</a:t>
            </a:r>
            <a:r>
              <a:rPr lang="fr-FR" sz="2000" dirty="0">
                <a:latin typeface="Twentieth Century"/>
              </a:rPr>
              <a:t>. </a:t>
            </a:r>
            <a:r>
              <a:rPr lang="fr-FR" sz="2000" dirty="0" err="1">
                <a:latin typeface="Twentieth Century"/>
              </a:rPr>
              <a:t>Selama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fungsi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dijalankan</a:t>
            </a:r>
            <a:r>
              <a:rPr lang="fr-FR" sz="2000" dirty="0">
                <a:latin typeface="Twentieth Century"/>
              </a:rPr>
              <a:t>, value </a:t>
            </a:r>
            <a:r>
              <a:rPr lang="fr-FR" sz="2000" dirty="0" err="1">
                <a:latin typeface="Twentieth Century"/>
              </a:rPr>
              <a:t>parameter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memanipulasi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salinan</a:t>
            </a:r>
            <a:r>
              <a:rPr lang="fr-FR" sz="2000" dirty="0">
                <a:latin typeface="Twentieth Century"/>
              </a:rPr>
              <a:t> data yang </a:t>
            </a:r>
            <a:r>
              <a:rPr lang="fr-FR" sz="2000" dirty="0" err="1">
                <a:latin typeface="Twentieth Century"/>
              </a:rPr>
              <a:t>disimpan</a:t>
            </a:r>
            <a:r>
              <a:rPr lang="fr-FR" sz="2000" dirty="0">
                <a:latin typeface="Twentieth Century"/>
              </a:rPr>
              <a:t> di </a:t>
            </a:r>
            <a:r>
              <a:rPr lang="fr-FR" sz="2000" dirty="0" err="1">
                <a:latin typeface="Twentieth Century"/>
              </a:rPr>
              <a:t>ruang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memori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tersendiri</a:t>
            </a:r>
            <a:r>
              <a:rPr lang="fr-FR" sz="2000" dirty="0">
                <a:latin typeface="Twentieth Century"/>
              </a:rPr>
              <a:t>. Value </a:t>
            </a:r>
            <a:r>
              <a:rPr lang="fr-FR" sz="2000" dirty="0" err="1">
                <a:latin typeface="Twentieth Century"/>
              </a:rPr>
              <a:t>parameter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dapat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menerima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ekspresi</a:t>
            </a:r>
            <a:r>
              <a:rPr lang="fr-FR" sz="2000" dirty="0">
                <a:latin typeface="Twentieth Century"/>
              </a:rPr>
              <a:t>/ </a:t>
            </a:r>
            <a:r>
              <a:rPr lang="fr-FR" sz="2000" dirty="0" err="1">
                <a:latin typeface="Twentieth Century"/>
              </a:rPr>
              <a:t>konstanta</a:t>
            </a:r>
            <a:r>
              <a:rPr lang="fr-FR" sz="2000" dirty="0">
                <a:latin typeface="Twentieth Century"/>
              </a:rPr>
              <a:t> dari </a:t>
            </a:r>
            <a:r>
              <a:rPr lang="fr-FR" sz="2000" dirty="0" err="1">
                <a:latin typeface="Twentieth Century"/>
              </a:rPr>
              <a:t>parameter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aktual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ketika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fungsi</a:t>
            </a:r>
            <a:r>
              <a:rPr lang="fr-FR" sz="2000" dirty="0">
                <a:latin typeface="Twentieth Century"/>
              </a:rPr>
              <a:t> </a:t>
            </a:r>
            <a:r>
              <a:rPr lang="fr-FR" sz="2000" dirty="0" err="1">
                <a:latin typeface="Twentieth Century"/>
              </a:rPr>
              <a:t>dipanggil</a:t>
            </a:r>
            <a:r>
              <a:rPr lang="fr-FR" sz="2000" dirty="0">
                <a:latin typeface="Twentieth Century"/>
              </a:rPr>
              <a:t>.</a:t>
            </a:r>
            <a:endParaRPr lang="fr-FR" sz="2000" b="1" dirty="0">
              <a:latin typeface="Twentieth Century"/>
            </a:endParaRPr>
          </a:p>
          <a:p>
            <a:pPr algn="just"/>
            <a:r>
              <a:rPr lang="en-GB" sz="2000" b="1" dirty="0" err="1">
                <a:latin typeface="Twentieth Century"/>
              </a:rPr>
              <a:t>contoh</a:t>
            </a:r>
            <a:r>
              <a:rPr lang="en-GB" sz="2000" b="1" dirty="0">
                <a:latin typeface="Twentieth Century"/>
              </a:rPr>
              <a:t> </a:t>
            </a:r>
            <a:r>
              <a:rPr lang="en-GB" sz="2000" b="1" dirty="0" err="1">
                <a:latin typeface="Twentieth Century"/>
              </a:rPr>
              <a:t>ilustrasi</a:t>
            </a:r>
            <a:r>
              <a:rPr lang="en-GB" sz="2000" b="1" dirty="0">
                <a:latin typeface="Twentieth Century"/>
              </a:rPr>
              <a:t> passing parameter by value</a:t>
            </a:r>
            <a:endParaRPr lang="fr-FR" sz="2000" b="1" dirty="0">
              <a:latin typeface="Twentieth Centur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61FA3-83F4-4D0E-BE4C-A89D8F6C334E}"/>
              </a:ext>
            </a:extLst>
          </p:cNvPr>
          <p:cNvSpPr txBox="1"/>
          <p:nvPr/>
        </p:nvSpPr>
        <p:spPr>
          <a:xfrm>
            <a:off x="821568" y="6024607"/>
            <a:ext cx="103123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Ketika Anda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memodifikasi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parameter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dalam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method,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itu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hanya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memengaruhi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salinan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nilai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tersebut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di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dalam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method, dan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tidak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akan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memengaruhi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variabel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asli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yang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dikirimkan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sebagai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 </a:t>
            </a:r>
            <a:r>
              <a:rPr lang="en-ID" sz="1800" b="1" i="0" dirty="0" err="1">
                <a:solidFill>
                  <a:srgbClr val="00B050"/>
                </a:solidFill>
                <a:effectLst/>
                <a:latin typeface="Twentieth Century"/>
              </a:rPr>
              <a:t>argumen</a:t>
            </a:r>
            <a:r>
              <a:rPr lang="en-ID" sz="1800" b="1" i="0" dirty="0">
                <a:solidFill>
                  <a:srgbClr val="00B050"/>
                </a:solidFill>
                <a:effectLst/>
                <a:latin typeface="Twentieth Century"/>
              </a:rPr>
              <a:t>.</a:t>
            </a:r>
            <a:endParaRPr lang="en-ID" sz="1800" b="1" dirty="0">
              <a:solidFill>
                <a:srgbClr val="00B050"/>
              </a:solidFill>
              <a:latin typeface="Twentieth Centur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60A45E-2792-49AD-A130-F2BF1389C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15" y="3347106"/>
            <a:ext cx="4944839" cy="23837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CAE45B-EEF4-4D4B-A630-D828FFBF6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707" y="4138853"/>
            <a:ext cx="3324689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1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2. REFERENCE PARAMETER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38200" y="1592623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>
                <a:latin typeface="Twentieth Century"/>
              </a:rPr>
              <a:t>Reference </a:t>
            </a:r>
            <a:r>
              <a:rPr lang="fr-FR" sz="2400" dirty="0" err="1">
                <a:latin typeface="Twentieth Century"/>
              </a:rPr>
              <a:t>parameter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berguna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untuk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tiga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kondisi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berikut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ini</a:t>
            </a:r>
            <a:endParaRPr lang="fr-FR" sz="2400" dirty="0">
              <a:latin typeface="Twentieth Century"/>
            </a:endParaRPr>
          </a:p>
          <a:p>
            <a:pPr marL="457200" indent="-457200" algn="just">
              <a:buAutoNum type="alphaLcParenR"/>
            </a:pPr>
            <a:r>
              <a:rPr lang="fr-FR" sz="2400" dirty="0" err="1">
                <a:latin typeface="Twentieth Century"/>
              </a:rPr>
              <a:t>Mengembalikan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nilai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lebih</a:t>
            </a:r>
            <a:r>
              <a:rPr lang="fr-FR" sz="2400" dirty="0">
                <a:latin typeface="Twentieth Century"/>
              </a:rPr>
              <a:t> dari </a:t>
            </a:r>
            <a:r>
              <a:rPr lang="fr-FR" sz="2400" dirty="0" err="1">
                <a:latin typeface="Twentieth Century"/>
              </a:rPr>
              <a:t>satu</a:t>
            </a:r>
            <a:r>
              <a:rPr lang="fr-FR" sz="2400" dirty="0">
                <a:latin typeface="Twentieth Century"/>
              </a:rPr>
              <a:t>. </a:t>
            </a:r>
          </a:p>
          <a:p>
            <a:pPr marL="457200" indent="-457200" algn="just">
              <a:buAutoNum type="alphaLcParenR"/>
            </a:pPr>
            <a:r>
              <a:rPr lang="fr-FR" sz="2400" dirty="0" err="1">
                <a:latin typeface="Twentieth Century"/>
              </a:rPr>
              <a:t>Mengubah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nilai</a:t>
            </a:r>
            <a:r>
              <a:rPr lang="fr-FR" sz="2400" dirty="0">
                <a:latin typeface="Twentieth Century"/>
              </a:rPr>
              <a:t> dari </a:t>
            </a:r>
            <a:r>
              <a:rPr lang="fr-FR" sz="2400" dirty="0" err="1">
                <a:latin typeface="Twentieth Century"/>
              </a:rPr>
              <a:t>parameter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aktual</a:t>
            </a:r>
            <a:endParaRPr lang="fr-FR" sz="2400" dirty="0">
              <a:latin typeface="Twentieth Century"/>
            </a:endParaRPr>
          </a:p>
          <a:p>
            <a:pPr algn="just"/>
            <a:r>
              <a:rPr lang="fr-FR" sz="2400" dirty="0">
                <a:latin typeface="Twentieth Century"/>
              </a:rPr>
              <a:t>c)  </a:t>
            </a:r>
            <a:r>
              <a:rPr lang="fr-FR" sz="2400" dirty="0" err="1">
                <a:latin typeface="Twentieth Century"/>
              </a:rPr>
              <a:t>Untuk</a:t>
            </a:r>
            <a:r>
              <a:rPr lang="fr-FR" sz="2400" dirty="0">
                <a:latin typeface="Twentieth Century"/>
              </a:rPr>
              <a:t> passing data </a:t>
            </a:r>
            <a:r>
              <a:rPr lang="fr-FR" sz="2400" dirty="0" err="1">
                <a:latin typeface="Twentieth Century"/>
              </a:rPr>
              <a:t>berukuran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besar</a:t>
            </a:r>
            <a:r>
              <a:rPr lang="fr-FR" sz="2400" dirty="0">
                <a:latin typeface="Twentieth Century"/>
              </a:rPr>
              <a:t>, </a:t>
            </a:r>
            <a:r>
              <a:rPr lang="fr-FR" sz="2400" dirty="0" err="1">
                <a:latin typeface="Twentieth Century"/>
              </a:rPr>
              <a:t>sehingga</a:t>
            </a:r>
            <a:r>
              <a:rPr lang="fr-FR" sz="2400" dirty="0">
                <a:latin typeface="Twentieth Century"/>
              </a:rPr>
              <a:t> mem-</a:t>
            </a:r>
            <a:r>
              <a:rPr lang="fr-FR" sz="2400" i="1" dirty="0">
                <a:latin typeface="Twentieth Century"/>
              </a:rPr>
              <a:t>passing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alamat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parameter</a:t>
            </a:r>
            <a:r>
              <a:rPr lang="fr-FR" sz="2400" dirty="0">
                <a:latin typeface="Twentieth Century"/>
              </a:rPr>
              <a:t> akan </a:t>
            </a:r>
            <a:r>
              <a:rPr lang="fr-FR" sz="2400" dirty="0" err="1">
                <a:latin typeface="Twentieth Century"/>
              </a:rPr>
              <a:t>menghemat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penggunaan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memori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daripada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menyalin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nilai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seluruh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parameter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aktual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ke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parameter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formal</a:t>
            </a:r>
            <a:r>
              <a:rPr lang="fr-FR" sz="2400" dirty="0">
                <a:latin typeface="Twentieth Centur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29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2. REFERENCE PARAMETER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38200" y="1592623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>
                <a:latin typeface="Twentieth Century"/>
              </a:rPr>
              <a:t>Reference </a:t>
            </a:r>
            <a:r>
              <a:rPr lang="fr-FR" sz="2400" dirty="0" err="1">
                <a:latin typeface="Twentieth Century"/>
              </a:rPr>
              <a:t>parameter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tidak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dapat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menerima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ekspresi</a:t>
            </a:r>
            <a:r>
              <a:rPr lang="fr-FR" sz="2400" dirty="0">
                <a:latin typeface="Twentieth Century"/>
              </a:rPr>
              <a:t>/</a:t>
            </a:r>
            <a:r>
              <a:rPr lang="fr-FR" sz="2400" dirty="0" err="1">
                <a:latin typeface="Twentieth Century"/>
              </a:rPr>
              <a:t>konstanta</a:t>
            </a:r>
            <a:r>
              <a:rPr lang="fr-FR" sz="2400" dirty="0">
                <a:latin typeface="Twentieth Century"/>
              </a:rPr>
              <a:t>/value dari </a:t>
            </a:r>
            <a:r>
              <a:rPr lang="fr-FR" sz="2400" dirty="0" err="1">
                <a:latin typeface="Twentieth Century"/>
              </a:rPr>
              <a:t>parameter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aktual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ketika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fungsi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dipanggil</a:t>
            </a:r>
            <a:r>
              <a:rPr lang="fr-FR" sz="2400" dirty="0">
                <a:latin typeface="Twentieth Century"/>
              </a:rPr>
              <a:t>, </a:t>
            </a:r>
            <a:r>
              <a:rPr lang="fr-FR" sz="2400" dirty="0" err="1">
                <a:latin typeface="Twentieth Century"/>
              </a:rPr>
              <a:t>melainkan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Twentieth Century"/>
              </a:rPr>
              <a:t>hanya</a:t>
            </a:r>
            <a:r>
              <a:rPr lang="fr-FR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Twentieth Century"/>
              </a:rPr>
              <a:t>menerima</a:t>
            </a:r>
            <a:r>
              <a:rPr lang="fr-FR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Twentieth Century"/>
              </a:rPr>
              <a:t>variabel</a:t>
            </a:r>
            <a:r>
              <a:rPr lang="fr-FR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Twentieth Century"/>
              </a:rPr>
              <a:t>saja</a:t>
            </a:r>
            <a:r>
              <a:rPr lang="fr-FR" sz="2400" dirty="0">
                <a:latin typeface="Twentieth Century"/>
              </a:rPr>
              <a:t>.</a:t>
            </a: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r>
              <a:rPr lang="fr-FR" sz="2400" dirty="0" err="1">
                <a:latin typeface="Twentieth Century"/>
              </a:rPr>
              <a:t>Pada</a:t>
            </a:r>
            <a:r>
              <a:rPr lang="fr-FR" sz="2400" dirty="0">
                <a:latin typeface="Twentieth Century"/>
              </a:rPr>
              <a:t> Java, </a:t>
            </a:r>
          </a:p>
          <a:p>
            <a:pPr algn="just"/>
            <a:r>
              <a:rPr lang="fr-FR" sz="2400" b="1" dirty="0" err="1">
                <a:solidFill>
                  <a:srgbClr val="00B050"/>
                </a:solidFill>
                <a:latin typeface="Twentieth Century"/>
              </a:rPr>
              <a:t>variabel</a:t>
            </a:r>
            <a:r>
              <a:rPr lang="fr-FR" sz="2400" b="1" dirty="0">
                <a:solidFill>
                  <a:srgbClr val="00B050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B050"/>
                </a:solidFill>
                <a:latin typeface="Twentieth Century"/>
              </a:rPr>
              <a:t>bertipe</a:t>
            </a:r>
            <a:r>
              <a:rPr lang="fr-FR" sz="2400" b="1" dirty="0">
                <a:solidFill>
                  <a:srgbClr val="00B050"/>
                </a:solidFill>
                <a:latin typeface="Twentieth Century"/>
              </a:rPr>
              <a:t> data </a:t>
            </a:r>
            <a:r>
              <a:rPr lang="fr-FR" sz="2400" b="1" dirty="0" err="1">
                <a:solidFill>
                  <a:srgbClr val="00B050"/>
                </a:solidFill>
                <a:latin typeface="Twentieth Century"/>
              </a:rPr>
              <a:t>bentukan</a:t>
            </a:r>
            <a:r>
              <a:rPr lang="fr-FR" sz="2400" b="1" dirty="0">
                <a:solidFill>
                  <a:srgbClr val="00B050"/>
                </a:solidFill>
                <a:latin typeface="Twentieth Century"/>
              </a:rPr>
              <a:t>, </a:t>
            </a:r>
            <a:r>
              <a:rPr lang="fr-FR" sz="2400" b="1" dirty="0" err="1">
                <a:solidFill>
                  <a:srgbClr val="00B050"/>
                </a:solidFill>
                <a:latin typeface="Twentieth Century"/>
              </a:rPr>
              <a:t>array</a:t>
            </a:r>
            <a:r>
              <a:rPr lang="fr-FR" sz="2400" b="1" dirty="0">
                <a:solidFill>
                  <a:srgbClr val="00B050"/>
                </a:solidFill>
                <a:latin typeface="Twentieth Century"/>
              </a:rPr>
              <a:t>, dan collection </a:t>
            </a:r>
            <a:r>
              <a:rPr lang="fr-FR" sz="2400" dirty="0">
                <a:latin typeface="Twentieth Century"/>
              </a:rPr>
              <a:t>akan </a:t>
            </a:r>
            <a:r>
              <a:rPr lang="fr-FR" sz="2400" b="1" i="1" dirty="0">
                <a:latin typeface="Twentieth Century"/>
              </a:rPr>
              <a:t>di-passing by </a:t>
            </a:r>
            <a:r>
              <a:rPr lang="fr-FR" sz="2400" b="1" i="1" dirty="0" err="1">
                <a:latin typeface="Twentieth Century"/>
              </a:rPr>
              <a:t>reference</a:t>
            </a:r>
            <a:r>
              <a:rPr lang="fr-FR" sz="2400" dirty="0">
                <a:latin typeface="Twentieth Century"/>
              </a:rPr>
              <a:t>, </a:t>
            </a:r>
          </a:p>
          <a:p>
            <a:pPr algn="just"/>
            <a:r>
              <a:rPr lang="fr-FR" sz="2400" dirty="0" err="1">
                <a:highlight>
                  <a:srgbClr val="FFFF00"/>
                </a:highlight>
                <a:latin typeface="Twentieth Century"/>
              </a:rPr>
              <a:t>sedangkan</a:t>
            </a:r>
            <a:r>
              <a:rPr lang="fr-FR" sz="2400" dirty="0">
                <a:highlight>
                  <a:srgbClr val="FFFF00"/>
                </a:highlight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B050"/>
                </a:solidFill>
                <a:highlight>
                  <a:srgbClr val="FFFF00"/>
                </a:highlight>
                <a:latin typeface="Twentieth Century"/>
              </a:rPr>
              <a:t>konstanta</a:t>
            </a:r>
            <a:r>
              <a:rPr lang="fr-FR" sz="2400" b="1" dirty="0">
                <a:solidFill>
                  <a:srgbClr val="00B050"/>
                </a:solidFill>
                <a:highlight>
                  <a:srgbClr val="FFFF00"/>
                </a:highlight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B050"/>
                </a:solidFill>
                <a:highlight>
                  <a:srgbClr val="FFFF00"/>
                </a:highlight>
                <a:latin typeface="Twentieth Century"/>
              </a:rPr>
              <a:t>atau</a:t>
            </a:r>
            <a:r>
              <a:rPr lang="fr-FR" sz="2400" b="1" dirty="0">
                <a:solidFill>
                  <a:srgbClr val="00B050"/>
                </a:solidFill>
                <a:highlight>
                  <a:srgbClr val="FFFF00"/>
                </a:highlight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B050"/>
                </a:solidFill>
                <a:highlight>
                  <a:srgbClr val="FFFF00"/>
                </a:highlight>
                <a:latin typeface="Twentieth Century"/>
              </a:rPr>
              <a:t>variabel</a:t>
            </a:r>
            <a:r>
              <a:rPr lang="fr-FR" sz="2400" b="1" dirty="0">
                <a:solidFill>
                  <a:srgbClr val="00B050"/>
                </a:solidFill>
                <a:highlight>
                  <a:srgbClr val="FFFF00"/>
                </a:highlight>
                <a:latin typeface="Twentieth Century"/>
              </a:rPr>
              <a:t> </a:t>
            </a:r>
            <a:r>
              <a:rPr lang="fr-FR" sz="2400" b="1" dirty="0" err="1">
                <a:solidFill>
                  <a:srgbClr val="00B050"/>
                </a:solidFill>
                <a:highlight>
                  <a:srgbClr val="FFFF00"/>
                </a:highlight>
                <a:latin typeface="Twentieth Century"/>
              </a:rPr>
              <a:t>bertipe</a:t>
            </a:r>
            <a:r>
              <a:rPr lang="fr-FR" sz="2400" b="1" dirty="0">
                <a:solidFill>
                  <a:srgbClr val="00B050"/>
                </a:solidFill>
                <a:highlight>
                  <a:srgbClr val="FFFF00"/>
                </a:highlight>
                <a:latin typeface="Twentieth Century"/>
              </a:rPr>
              <a:t> data primitif </a:t>
            </a:r>
            <a:r>
              <a:rPr lang="fr-FR" sz="2400" dirty="0">
                <a:highlight>
                  <a:srgbClr val="FFFF00"/>
                </a:highlight>
                <a:latin typeface="Twentieth Century"/>
              </a:rPr>
              <a:t>akan </a:t>
            </a:r>
            <a:r>
              <a:rPr lang="fr-FR" sz="2400" b="1" dirty="0">
                <a:solidFill>
                  <a:srgbClr val="FF0000"/>
                </a:solidFill>
                <a:highlight>
                  <a:srgbClr val="FFFF00"/>
                </a:highlight>
                <a:latin typeface="Twentieth Century"/>
              </a:rPr>
              <a:t>di-passing by value</a:t>
            </a:r>
          </a:p>
        </p:txBody>
      </p:sp>
    </p:spTree>
    <p:extLst>
      <p:ext uri="{BB962C8B-B14F-4D97-AF65-F5344CB8AC3E}">
        <p14:creationId xmlns:p14="http://schemas.microsoft.com/office/powerpoint/2010/main" val="387855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2. REFERENCE PARAMETER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38200" y="1592623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>
                <a:latin typeface="Twentieth Century"/>
              </a:rPr>
              <a:t>Reference </a:t>
            </a:r>
            <a:r>
              <a:rPr lang="fr-FR" sz="2400" dirty="0" err="1">
                <a:latin typeface="Twentieth Century"/>
              </a:rPr>
              <a:t>parameter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tidak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dapat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menerima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ekspresi</a:t>
            </a:r>
            <a:r>
              <a:rPr lang="fr-FR" sz="2400" dirty="0">
                <a:latin typeface="Twentieth Century"/>
              </a:rPr>
              <a:t>/ </a:t>
            </a:r>
            <a:r>
              <a:rPr lang="fr-FR" sz="2400" dirty="0" err="1">
                <a:latin typeface="Twentieth Century"/>
              </a:rPr>
              <a:t>konstanta</a:t>
            </a:r>
            <a:r>
              <a:rPr lang="fr-FR" sz="2400" dirty="0">
                <a:latin typeface="Twentieth Century"/>
              </a:rPr>
              <a:t> dari </a:t>
            </a:r>
            <a:r>
              <a:rPr lang="fr-FR" sz="2400" dirty="0" err="1">
                <a:latin typeface="Twentieth Century"/>
              </a:rPr>
              <a:t>parameteraktual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ketika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fungsi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dipanggil</a:t>
            </a:r>
            <a:r>
              <a:rPr lang="fr-FR" sz="2400" dirty="0">
                <a:latin typeface="Twentieth Century"/>
              </a:rPr>
              <a:t>, </a:t>
            </a:r>
            <a:r>
              <a:rPr lang="fr-FR" sz="2400" dirty="0" err="1">
                <a:latin typeface="Twentieth Century"/>
              </a:rPr>
              <a:t>melainkan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Twentieth Century"/>
              </a:rPr>
              <a:t>hanya</a:t>
            </a:r>
            <a:r>
              <a:rPr lang="fr-FR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Twentieth Century"/>
              </a:rPr>
              <a:t>menerima</a:t>
            </a:r>
            <a:r>
              <a:rPr lang="fr-FR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Twentieth Century"/>
              </a:rPr>
              <a:t>variabel</a:t>
            </a:r>
            <a:r>
              <a:rPr lang="fr-FR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Twentieth Century"/>
              </a:rPr>
              <a:t>saja</a:t>
            </a:r>
            <a:r>
              <a:rPr lang="fr-FR" sz="2400" dirty="0">
                <a:latin typeface="Twentieth Century"/>
              </a:rPr>
              <a:t>.</a:t>
            </a:r>
          </a:p>
          <a:p>
            <a:pPr algn="just"/>
            <a:endParaRPr lang="fr-FR" sz="2400" dirty="0">
              <a:latin typeface="Twentieth Centur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49205C-F9B5-4562-975A-A6920E42D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07" y="2876789"/>
            <a:ext cx="6134956" cy="28769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43A71E-ABC8-407C-9DD6-3A3FC27F9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170" y="3837603"/>
            <a:ext cx="2545094" cy="95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6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251791" y="1874408"/>
            <a:ext cx="4373269" cy="37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5. FUNGSI REKURSIF</a:t>
            </a:r>
            <a:endParaRPr lang="en-US" sz="2800"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sz="28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EF9BE-2FB5-4E34-8175-7E476A963AA6}"/>
              </a:ext>
            </a:extLst>
          </p:cNvPr>
          <p:cNvSpPr txBox="1"/>
          <p:nvPr/>
        </p:nvSpPr>
        <p:spPr>
          <a:xfrm>
            <a:off x="5114109" y="1412743"/>
            <a:ext cx="656408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400" dirty="0">
                <a:latin typeface="Twentieth Century"/>
              </a:rPr>
              <a:t>Dimana </a:t>
            </a:r>
            <a:r>
              <a:rPr lang="en-ID" sz="2400" b="1" dirty="0" err="1">
                <a:solidFill>
                  <a:schemeClr val="tx1"/>
                </a:solidFill>
                <a:latin typeface="Twentieth Century"/>
              </a:rPr>
              <a:t>fungsi</a:t>
            </a:r>
            <a:r>
              <a:rPr lang="en-ID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Twentieth Century"/>
              </a:rPr>
              <a:t>harus</a:t>
            </a:r>
            <a:r>
              <a:rPr lang="en-ID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Twentieth Century"/>
              </a:rPr>
              <a:t>dipanggil</a:t>
            </a:r>
            <a:r>
              <a:rPr lang="en-ID" sz="2400" b="1" dirty="0">
                <a:solidFill>
                  <a:schemeClr val="tx1"/>
                </a:solidFill>
                <a:latin typeface="Twentieth Century"/>
              </a:rPr>
              <a:t> oleh </a:t>
            </a:r>
            <a:r>
              <a:rPr lang="en-ID" sz="2400" b="1" dirty="0" err="1">
                <a:solidFill>
                  <a:schemeClr val="tx1"/>
                </a:solidFill>
                <a:latin typeface="Twentieth Century"/>
              </a:rPr>
              <a:t>dirinya</a:t>
            </a:r>
            <a:r>
              <a:rPr lang="en-ID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Twentieth Century"/>
              </a:rPr>
              <a:t>sendiri</a:t>
            </a:r>
            <a:r>
              <a:rPr lang="en-ID" sz="2400" b="1" dirty="0">
                <a:solidFill>
                  <a:schemeClr val="tx1"/>
                </a:solidFill>
                <a:latin typeface="Twentieth Century"/>
              </a:rPr>
              <a:t>.</a:t>
            </a:r>
          </a:p>
          <a:p>
            <a:pPr algn="just"/>
            <a:endParaRPr lang="en-ID" sz="2400" b="1" dirty="0">
              <a:solidFill>
                <a:schemeClr val="tx1"/>
              </a:solidFill>
              <a:latin typeface="Twentieth Century"/>
            </a:endParaRPr>
          </a:p>
          <a:p>
            <a:pPr algn="just"/>
            <a:r>
              <a:rPr lang="en-ID" sz="2400" dirty="0" err="1">
                <a:solidFill>
                  <a:schemeClr val="tx1"/>
                </a:solidFill>
                <a:latin typeface="Twentieth Century"/>
              </a:rPr>
              <a:t>Rekursif</a:t>
            </a:r>
            <a:r>
              <a:rPr lang="en-ID" sz="2400" dirty="0">
                <a:solidFill>
                  <a:schemeClr val="tx1"/>
                </a:solidFill>
                <a:latin typeface="Twentieth Century"/>
              </a:rPr>
              <a:t> sangat </a:t>
            </a:r>
            <a:r>
              <a:rPr lang="en-ID" sz="2400" dirty="0" err="1">
                <a:solidFill>
                  <a:schemeClr val="tx1"/>
                </a:solidFill>
                <a:latin typeface="Twentieth Century"/>
              </a:rPr>
              <a:t>berguna</a:t>
            </a:r>
            <a:r>
              <a:rPr lang="en-ID" sz="2400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wentieth Century"/>
              </a:rPr>
              <a:t>untuk</a:t>
            </a:r>
            <a:r>
              <a:rPr lang="en-ID" sz="2400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wentieth Century"/>
              </a:rPr>
              <a:t>beberapa</a:t>
            </a:r>
            <a:r>
              <a:rPr lang="en-ID" sz="2400" b="1" dirty="0">
                <a:solidFill>
                  <a:schemeClr val="tx1"/>
                </a:solidFill>
                <a:latin typeface="Twentieth Century"/>
              </a:rPr>
              <a:t> task, </a:t>
            </a:r>
            <a:r>
              <a:rPr lang="en-ID" sz="2400" dirty="0" err="1">
                <a:solidFill>
                  <a:schemeClr val="tx1"/>
                </a:solidFill>
                <a:latin typeface="Twentieth Century"/>
              </a:rPr>
              <a:t>seperti</a:t>
            </a:r>
            <a:r>
              <a:rPr lang="en-ID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Twentieth Century"/>
              </a:rPr>
              <a:t>mengurutkan</a:t>
            </a:r>
            <a:r>
              <a:rPr lang="en-ID" sz="2400" b="1" dirty="0">
                <a:solidFill>
                  <a:schemeClr val="tx1"/>
                </a:solidFill>
                <a:latin typeface="Twentieth Century"/>
              </a:rPr>
              <a:t>, </a:t>
            </a:r>
            <a:r>
              <a:rPr lang="en-ID" sz="2400" b="1" dirty="0" err="1">
                <a:solidFill>
                  <a:schemeClr val="tx1"/>
                </a:solidFill>
                <a:latin typeface="Twentieth Century"/>
              </a:rPr>
              <a:t>atau</a:t>
            </a:r>
            <a:r>
              <a:rPr lang="en-ID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Twentieth Century"/>
              </a:rPr>
              <a:t>menghitung</a:t>
            </a:r>
            <a:r>
              <a:rPr lang="en-ID" sz="2400" b="1" dirty="0">
                <a:solidFill>
                  <a:schemeClr val="tx1"/>
                </a:solidFill>
                <a:latin typeface="Twentieth Century"/>
              </a:rPr>
              <a:t> factorial.</a:t>
            </a:r>
          </a:p>
          <a:p>
            <a:pPr algn="just"/>
            <a:endParaRPr lang="en-ID" sz="2400" b="1" dirty="0">
              <a:solidFill>
                <a:schemeClr val="tx1"/>
              </a:solidFill>
              <a:latin typeface="Twentieth Century"/>
            </a:endParaRPr>
          </a:p>
          <a:p>
            <a:pPr algn="just"/>
            <a:r>
              <a:rPr lang="sv-SE" sz="2400" dirty="0">
                <a:solidFill>
                  <a:schemeClr val="tx1"/>
                </a:solidFill>
                <a:latin typeface="Twentieth Century"/>
              </a:rPr>
              <a:t>contoh, untuk mendapatkan hasil dari n faktorial (n!),maka rumus matematikanya adalah sebagai berikut</a:t>
            </a:r>
            <a:endParaRPr lang="en-ID" sz="2400" dirty="0">
              <a:solidFill>
                <a:schemeClr val="tx1"/>
              </a:solidFill>
              <a:latin typeface="Twentieth Century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2CA406-68D1-48D3-814B-49E89DD930C1}"/>
              </a:ext>
            </a:extLst>
          </p:cNvPr>
          <p:cNvSpPr/>
          <p:nvPr/>
        </p:nvSpPr>
        <p:spPr>
          <a:xfrm>
            <a:off x="5799909" y="4723920"/>
            <a:ext cx="4981303" cy="880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latin typeface="Twentieth Century"/>
              </a:rPr>
              <a:t>n! = n * (n-1) * (n-2) * (n-3)... * 1</a:t>
            </a:r>
            <a:endParaRPr lang="en-GB" sz="2400" b="1" dirty="0"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122511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38200" y="1592623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b="1" dirty="0" err="1">
                <a:latin typeface="Twentieth Century"/>
              </a:rPr>
              <a:t>Fungsi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rekursif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untuk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melakukan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perhitungan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faktorial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adalah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sebagai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berikut</a:t>
            </a:r>
            <a:endParaRPr lang="fr-FR" sz="2400" b="1" dirty="0">
              <a:solidFill>
                <a:schemeClr val="tx1"/>
              </a:solidFill>
              <a:latin typeface="Twentieth Centur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09640E-8E83-4E71-9F62-35D9DC06A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09" y="2687820"/>
            <a:ext cx="6084607" cy="34517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74BFD7-40CC-4B03-A606-C9865E905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552" y="3429000"/>
            <a:ext cx="4127957" cy="126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2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TASK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821568" y="1675131"/>
            <a:ext cx="10515600" cy="465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GB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err="1">
                <a:latin typeface="Twentieth Century"/>
              </a:rPr>
              <a:t>Implementasikan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b="1" dirty="0" err="1">
                <a:latin typeface="Twentieth Century"/>
              </a:rPr>
              <a:t>fungsi</a:t>
            </a:r>
            <a:r>
              <a:rPr lang="en-GB" sz="2400" b="1" dirty="0">
                <a:latin typeface="Twentieth Century"/>
              </a:rPr>
              <a:t> dan parameter </a:t>
            </a:r>
            <a:r>
              <a:rPr lang="en-GB" sz="2400" dirty="0" err="1">
                <a:latin typeface="Twentieth Century"/>
              </a:rPr>
              <a:t>dalam</a:t>
            </a:r>
            <a:r>
              <a:rPr lang="en-GB" sz="2400" dirty="0">
                <a:latin typeface="Twentieth Century"/>
              </a:rPr>
              <a:t> program yang </a:t>
            </a:r>
            <a:r>
              <a:rPr lang="en-GB" sz="2400" dirty="0" err="1">
                <a:latin typeface="Twentieth Century"/>
              </a:rPr>
              <a:t>telah</a:t>
            </a:r>
            <a:r>
              <a:rPr lang="en-GB" sz="2400" dirty="0">
                <a:latin typeface="Twentieth Century"/>
              </a:rPr>
              <a:t> Anda buat masing”</a:t>
            </a:r>
          </a:p>
        </p:txBody>
      </p:sp>
    </p:spTree>
    <p:extLst>
      <p:ext uri="{BB962C8B-B14F-4D97-AF65-F5344CB8AC3E}">
        <p14:creationId xmlns:p14="http://schemas.microsoft.com/office/powerpoint/2010/main" val="85597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9"/>
          <p:cNvSpPr txBox="1">
            <a:spLocks noGrp="1"/>
          </p:cNvSpPr>
          <p:nvPr>
            <p:ph type="ctrTitle"/>
          </p:nvPr>
        </p:nvSpPr>
        <p:spPr>
          <a:xfrm>
            <a:off x="2333732" y="2541902"/>
            <a:ext cx="3048000" cy="176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lang="en-US"/>
              <a:t>Terima</a:t>
            </a:r>
            <a:br>
              <a:rPr lang="en-US"/>
            </a:br>
            <a:r>
              <a:rPr lang="en-US"/>
              <a:t>Kasih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5359</TotalTime>
  <Words>1355</Words>
  <Application>Microsoft Office PowerPoint</Application>
  <PresentationFormat>Layar Lebar</PresentationFormat>
  <Paragraphs>180</Paragraphs>
  <Slides>33</Slides>
  <Notes>29</Notes>
  <HiddenSlides>0</HiddenSlides>
  <MMClips>0</MMClips>
  <ScaleCrop>false</ScaleCrop>
  <HeadingPairs>
    <vt:vector size="6" baseType="variant">
      <vt:variant>
        <vt:lpstr>Font Dipakai</vt:lpstr>
      </vt:variant>
      <vt:variant>
        <vt:i4>7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33</vt:i4>
      </vt:variant>
    </vt:vector>
  </HeadingPairs>
  <TitlesOfParts>
    <vt:vector size="41" baseType="lpstr">
      <vt:lpstr>Arial</vt:lpstr>
      <vt:lpstr>Book Antiqua</vt:lpstr>
      <vt:lpstr>Calibri</vt:lpstr>
      <vt:lpstr>inherit</vt:lpstr>
      <vt:lpstr>Times New Roman</vt:lpstr>
      <vt:lpstr>Twentieth Century</vt:lpstr>
      <vt:lpstr>Wingdings</vt:lpstr>
      <vt:lpstr>1_Office Theme</vt:lpstr>
      <vt:lpstr>OBJECT ORIENTED PROGRAMMING</vt:lpstr>
      <vt:lpstr>Presentasi PowerPoint</vt:lpstr>
      <vt:lpstr>Presentasi PowerPoint</vt:lpstr>
      <vt:lpstr>College Contract</vt:lpstr>
      <vt:lpstr>Assessment</vt:lpstr>
      <vt:lpstr>Presentasi PowerPoint</vt:lpstr>
      <vt:lpstr>Presentasi PowerPoint</vt:lpstr>
      <vt:lpstr>Presentasi PowerPoint</vt:lpstr>
      <vt:lpstr>Presentasi PowerPoint</vt:lpstr>
      <vt:lpstr>FUNCTION</vt:lpstr>
      <vt:lpstr>FUNCTION</vt:lpstr>
      <vt:lpstr>FUNCTION</vt:lpstr>
      <vt:lpstr>FUNCTION TYPE</vt:lpstr>
      <vt:lpstr>Presentasi PowerPoint</vt:lpstr>
      <vt:lpstr>DEKLARASI FUNCTION</vt:lpstr>
      <vt:lpstr>MEMANGGIL FUNCTION</vt:lpstr>
      <vt:lpstr>MEMANGGIL FUNCTION</vt:lpstr>
      <vt:lpstr>Presentasi PowerPoint</vt:lpstr>
      <vt:lpstr>DEKLARASI FUNCTION</vt:lpstr>
      <vt:lpstr>MEMANGGIL FUNCTION</vt:lpstr>
      <vt:lpstr>MEMANGGIL FUNCTION</vt:lpstr>
      <vt:lpstr>Presentasi PowerPoint</vt:lpstr>
      <vt:lpstr>Presentasi PowerPoint</vt:lpstr>
      <vt:lpstr>Presentasi PowerPoint</vt:lpstr>
      <vt:lpstr>Presentasi PowerPoint</vt:lpstr>
      <vt:lpstr>1. VALUE PARAMETER</vt:lpstr>
      <vt:lpstr>2. REFERENCE PARAMETER</vt:lpstr>
      <vt:lpstr>2. REFERENCE PARAMETER</vt:lpstr>
      <vt:lpstr>2. REFERENCE PARAMETER</vt:lpstr>
      <vt:lpstr>Presentasi PowerPoint</vt:lpstr>
      <vt:lpstr>Presentasi PowerPoint</vt:lpstr>
      <vt:lpstr>TASK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Architecture</dc:title>
  <dc:creator>Hanifah intania</dc:creator>
  <cp:lastModifiedBy>Qori Hidayah</cp:lastModifiedBy>
  <cp:revision>207</cp:revision>
  <dcterms:created xsi:type="dcterms:W3CDTF">2023-08-25T16:23:35Z</dcterms:created>
  <dcterms:modified xsi:type="dcterms:W3CDTF">2025-10-06T08:36:51Z</dcterms:modified>
</cp:coreProperties>
</file>