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105260"/>
            <a:ext cx="4509370" cy="4646427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36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3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5"/>
          <p:cNvSpPr>
            <a:spLocks noGrp="1"/>
          </p:cNvSpPr>
          <p:nvPr>
            <p:ph type="title" hasCustomPrompt="1"/>
          </p:nvPr>
        </p:nvSpPr>
        <p:spPr>
          <a:xfrm>
            <a:off x="4968465" y="1610316"/>
            <a:ext cx="6385335" cy="2024109"/>
          </a:xfrm>
          <a:prstGeom prst="rect">
            <a:avLst/>
          </a:prstGeom>
        </p:spPr>
        <p:txBody>
          <a:bodyPr anchor="t"/>
          <a:lstStyle>
            <a:lvl1pPr>
              <a:defRPr sz="5400" b="1" baseline="0">
                <a:solidFill>
                  <a:srgbClr val="0E60AC"/>
                </a:solidFill>
                <a:latin typeface="Tw Cen MT" panose="020B0602020104020603" pitchFamily="34" charset="0"/>
              </a:defRPr>
            </a:lvl1pPr>
          </a:lstStyle>
          <a:p>
            <a:r>
              <a:rPr lang="en-US" dirty="0"/>
              <a:t>Nama Mata </a:t>
            </a:r>
            <a:r>
              <a:rPr lang="en-US" dirty="0" err="1"/>
              <a:t>Kuliah</a:t>
            </a:r>
            <a:endParaRPr lang="en-US" dirty="0"/>
          </a:p>
        </p:txBody>
      </p:sp>
      <p:sp>
        <p:nvSpPr>
          <p:cNvPr id="15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4968465" y="4539512"/>
            <a:ext cx="6385335" cy="1212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</a:defRPr>
            </a:lvl1pPr>
          </a:lstStyle>
          <a:p>
            <a:pPr lvl="0"/>
            <a:r>
              <a:rPr lang="en-US" dirty="0" err="1"/>
              <a:t>Topik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RPS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4968465" y="4034457"/>
            <a:ext cx="3642135" cy="425950"/>
          </a:xfrm>
        </p:spPr>
        <p:txBody>
          <a:bodyPr>
            <a:noAutofit/>
          </a:bodyPr>
          <a:lstStyle>
            <a:lvl1pPr marL="0" indent="0">
              <a:buNone/>
              <a:defRPr sz="2800" b="1" baseline="0">
                <a:solidFill>
                  <a:srgbClr val="EC7C30"/>
                </a:solidFill>
              </a:defRPr>
            </a:lvl1pPr>
          </a:lstStyle>
          <a:p>
            <a:pPr lvl="0"/>
            <a:r>
              <a:rPr lang="en-US" dirty="0" err="1"/>
              <a:t>Sesi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68465" y="3811581"/>
            <a:ext cx="1659545" cy="45719"/>
          </a:xfrm>
          <a:prstGeom prst="roundRect">
            <a:avLst/>
          </a:prstGeom>
          <a:solidFill>
            <a:srgbClr val="EC7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4968464" y="1105261"/>
            <a:ext cx="3642135" cy="425950"/>
          </a:xfrm>
        </p:spPr>
        <p:txBody>
          <a:bodyPr>
            <a:noAutofit/>
          </a:bodyPr>
          <a:lstStyle>
            <a:lvl1pPr marL="0" indent="0">
              <a:buNone/>
              <a:defRPr sz="2800" b="1" baseline="0">
                <a:solidFill>
                  <a:srgbClr val="EC7C30"/>
                </a:solidFill>
              </a:defRPr>
            </a:lvl1pPr>
          </a:lstStyle>
          <a:p>
            <a:pPr lvl="0"/>
            <a:r>
              <a:rPr lang="en-US" dirty="0" err="1"/>
              <a:t>Kode</a:t>
            </a:r>
            <a:r>
              <a:rPr lang="en-US" dirty="0"/>
              <a:t> Mata </a:t>
            </a:r>
            <a:r>
              <a:rPr lang="en-US" dirty="0" err="1"/>
              <a:t>Kuliah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19F59A4-31FD-4FC0-B33E-3AF239AE45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790" y="128105"/>
            <a:ext cx="2456329" cy="64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074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7384744" y="0"/>
            <a:ext cx="4807256" cy="6858000"/>
          </a:xfrm>
          <a:prstGeom prst="flowChartDelay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36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588970" y="2359327"/>
            <a:ext cx="6385335" cy="279456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4400" b="1" baseline="0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 lvl="0"/>
            <a:r>
              <a:rPr lang="en-US" dirty="0" err="1"/>
              <a:t>Judul</a:t>
            </a:r>
            <a:r>
              <a:rPr lang="en-US" dirty="0"/>
              <a:t> </a:t>
            </a:r>
            <a:r>
              <a:rPr lang="en-US" dirty="0" err="1"/>
              <a:t>Topik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RPS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588969" y="1842893"/>
            <a:ext cx="1430849" cy="331306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15430" y="1826578"/>
            <a:ext cx="1177925" cy="337461"/>
          </a:xfrm>
        </p:spPr>
        <p:txBody>
          <a:bodyPr>
            <a:noAutofit/>
          </a:bodyPr>
          <a:lstStyle>
            <a:lvl1pPr marL="0" indent="0" algn="ctr">
              <a:buNone/>
              <a:defRPr sz="2000" b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 err="1"/>
              <a:t>Topik</a:t>
            </a:r>
            <a:r>
              <a:rPr lang="en-US" dirty="0"/>
              <a:t> …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8968" y="5478441"/>
            <a:ext cx="6385337" cy="326387"/>
          </a:xfrm>
        </p:spPr>
        <p:txBody>
          <a:bodyPr>
            <a:noAutofit/>
          </a:bodyPr>
          <a:lstStyle>
            <a:lvl1pPr marL="0" indent="0">
              <a:buNone/>
              <a:defRPr sz="2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Nama </a:t>
            </a:r>
            <a:r>
              <a:rPr lang="en-US" dirty="0" err="1"/>
              <a:t>Fakultas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588963" y="1127028"/>
            <a:ext cx="6384925" cy="371475"/>
          </a:xfrm>
        </p:spPr>
        <p:txBody>
          <a:bodyPr>
            <a:normAutofit/>
          </a:bodyPr>
          <a:lstStyle>
            <a:lvl1pPr marL="0" indent="0">
              <a:buNone/>
              <a:defRPr sz="2000" b="1" baseline="0">
                <a:solidFill>
                  <a:srgbClr val="FFC000"/>
                </a:solidFill>
              </a:defRPr>
            </a:lvl1pPr>
          </a:lstStyle>
          <a:p>
            <a:pPr lvl="0"/>
            <a:r>
              <a:rPr lang="en-US" dirty="0" err="1"/>
              <a:t>Kode</a:t>
            </a:r>
            <a:r>
              <a:rPr lang="en-US" dirty="0"/>
              <a:t> – Nama Mata </a:t>
            </a:r>
            <a:r>
              <a:rPr lang="en-US" dirty="0" err="1"/>
              <a:t>Kuliah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88963" y="5770056"/>
            <a:ext cx="28906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bg1"/>
                </a:solidFill>
              </a:rPr>
              <a:t>Universitas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Esa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Unggul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E82241-CE22-43CA-944E-300F94D06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790" y="128105"/>
            <a:ext cx="2456329" cy="64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323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en Pengamp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1745563" y="1842892"/>
            <a:ext cx="3063907" cy="306390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aseline="0"/>
            </a:lvl1pPr>
          </a:lstStyle>
          <a:p>
            <a:r>
              <a:rPr lang="en-US" dirty="0" err="1"/>
              <a:t>Foto</a:t>
            </a:r>
            <a:r>
              <a:rPr lang="en-US" dirty="0"/>
              <a:t> </a:t>
            </a:r>
            <a:r>
              <a:rPr lang="en-US" dirty="0" err="1"/>
              <a:t>Dosen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5154979" y="2607678"/>
            <a:ext cx="6198821" cy="406777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0E60AC"/>
                </a:solidFill>
              </a:defRPr>
            </a:lvl1pPr>
          </a:lstStyle>
          <a:p>
            <a:pPr lvl="0"/>
            <a:r>
              <a:rPr lang="en-US" dirty="0"/>
              <a:t>Nama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Gelar</a:t>
            </a:r>
            <a:r>
              <a:rPr lang="en-US" dirty="0"/>
              <a:t> </a:t>
            </a:r>
            <a:r>
              <a:rPr lang="en-US" dirty="0" err="1"/>
              <a:t>Dosen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5164108" y="2320277"/>
            <a:ext cx="3127989" cy="273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r>
              <a:rPr lang="en-US" sz="2000" dirty="0"/>
              <a:t>Dosen: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5154979" y="3619982"/>
            <a:ext cx="6198821" cy="406777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0E60AC"/>
                </a:solidFill>
              </a:defRPr>
            </a:lvl1pPr>
          </a:lstStyle>
          <a:p>
            <a:pPr lvl="0"/>
            <a:r>
              <a:rPr lang="en-US" dirty="0"/>
              <a:t>E-mail</a:t>
            </a: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5164108" y="3332581"/>
            <a:ext cx="3127989" cy="273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r>
              <a:rPr lang="en-US" sz="2000" dirty="0"/>
              <a:t>E-mail: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7DD496F-E5EC-47D3-8776-74771512E5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790" y="128105"/>
            <a:ext cx="2456329" cy="64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391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ik Perkuliahan (1-7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/>
        </p:nvSpPr>
        <p:spPr>
          <a:xfrm>
            <a:off x="640237" y="1541572"/>
            <a:ext cx="2542295" cy="193575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01277" y="1604686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Minggu</a:t>
            </a:r>
            <a:r>
              <a:rPr lang="en-US" sz="1800" b="1" dirty="0">
                <a:solidFill>
                  <a:srgbClr val="EB7020"/>
                </a:solidFill>
              </a:rPr>
              <a:t>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/>
        </p:nvSpPr>
        <p:spPr>
          <a:xfrm>
            <a:off x="3432142" y="1541572"/>
            <a:ext cx="2542295" cy="1935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593182" y="2037132"/>
            <a:ext cx="2243579" cy="1315671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593182" y="1604686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Minggu</a:t>
            </a:r>
            <a:r>
              <a:rPr lang="en-US" sz="1800" b="1" dirty="0">
                <a:solidFill>
                  <a:srgbClr val="EB7020"/>
                </a:solidFill>
              </a:rPr>
              <a:t>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/>
        </p:nvSpPr>
        <p:spPr>
          <a:xfrm>
            <a:off x="6226616" y="1541572"/>
            <a:ext cx="2542295" cy="19357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387656" y="2037132"/>
            <a:ext cx="2243579" cy="1315671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387656" y="1604686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Minggu</a:t>
            </a:r>
            <a:r>
              <a:rPr lang="en-US" sz="1800" b="1" dirty="0">
                <a:solidFill>
                  <a:srgbClr val="EB7020"/>
                </a:solidFill>
              </a:rPr>
              <a:t> 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/>
        </p:nvSpPr>
        <p:spPr>
          <a:xfrm>
            <a:off x="9018521" y="1541572"/>
            <a:ext cx="2542295" cy="1935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9179561" y="2037132"/>
            <a:ext cx="2243579" cy="1315671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9179561" y="1604686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Minggu</a:t>
            </a:r>
            <a:r>
              <a:rPr lang="en-US" sz="1800" b="1" dirty="0">
                <a:solidFill>
                  <a:srgbClr val="EB7020"/>
                </a:solidFill>
              </a:rPr>
              <a:t> 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/>
        </p:nvSpPr>
        <p:spPr>
          <a:xfrm>
            <a:off x="640237" y="3727631"/>
            <a:ext cx="2542295" cy="1935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801277" y="4223191"/>
            <a:ext cx="2243579" cy="1315671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801277" y="3790745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Minggu</a:t>
            </a:r>
            <a:r>
              <a:rPr lang="en-US" sz="1800" b="1" dirty="0">
                <a:solidFill>
                  <a:srgbClr val="EB7020"/>
                </a:solidFill>
              </a:rPr>
              <a:t> 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/>
        </p:nvSpPr>
        <p:spPr>
          <a:xfrm>
            <a:off x="3432142" y="3727631"/>
            <a:ext cx="2542295" cy="1935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3593182" y="4223191"/>
            <a:ext cx="2243579" cy="1315671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3593182" y="3790745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Minggu</a:t>
            </a:r>
            <a:r>
              <a:rPr lang="en-US" sz="1800" b="1" dirty="0">
                <a:solidFill>
                  <a:srgbClr val="EB7020"/>
                </a:solidFill>
              </a:rPr>
              <a:t> 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/>
        </p:nvSpPr>
        <p:spPr>
          <a:xfrm>
            <a:off x="6226616" y="3727631"/>
            <a:ext cx="2542295" cy="1935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387656" y="4223191"/>
            <a:ext cx="2243579" cy="1315671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6387656" y="3790745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Minggu</a:t>
            </a:r>
            <a:r>
              <a:rPr lang="en-US" sz="1800" b="1" dirty="0">
                <a:solidFill>
                  <a:srgbClr val="EB7020"/>
                </a:solidFill>
              </a:rPr>
              <a:t> 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236" y="671247"/>
            <a:ext cx="109205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tx2"/>
                </a:solidFill>
              </a:rPr>
              <a:t>Topik</a:t>
            </a:r>
            <a:r>
              <a:rPr lang="en-US" sz="3600" b="1" dirty="0">
                <a:solidFill>
                  <a:schemeClr val="tx2"/>
                </a:solidFill>
              </a:rPr>
              <a:t> </a:t>
            </a:r>
            <a:r>
              <a:rPr lang="en-US" sz="3600" b="1" dirty="0" err="1">
                <a:solidFill>
                  <a:schemeClr val="tx2"/>
                </a:solidFill>
              </a:rPr>
              <a:t>Perkuliahan</a:t>
            </a:r>
            <a:endParaRPr lang="en-US" sz="3600" b="1" dirty="0">
              <a:solidFill>
                <a:schemeClr val="tx2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/>
        </p:nvSpPr>
        <p:spPr>
          <a:xfrm>
            <a:off x="9018521" y="3727631"/>
            <a:ext cx="2542295" cy="19357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01277" y="2043372"/>
            <a:ext cx="2243579" cy="1315671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9118713" y="4372341"/>
            <a:ext cx="2365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UTS</a:t>
            </a:r>
          </a:p>
        </p:txBody>
      </p:sp>
    </p:spTree>
    <p:extLst>
      <p:ext uri="{BB962C8B-B14F-4D97-AF65-F5344CB8AC3E}">
        <p14:creationId xmlns:p14="http://schemas.microsoft.com/office/powerpoint/2010/main" val="3401297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ik Perkuliahan (8-1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/>
        </p:nvSpPr>
        <p:spPr>
          <a:xfrm>
            <a:off x="640237" y="1541572"/>
            <a:ext cx="2542295" cy="193575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01277" y="1604686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Minggu</a:t>
            </a:r>
            <a:r>
              <a:rPr lang="en-US" sz="1800" b="1" dirty="0">
                <a:solidFill>
                  <a:srgbClr val="EB7020"/>
                </a:solidFill>
              </a:rPr>
              <a:t> 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/>
        </p:nvSpPr>
        <p:spPr>
          <a:xfrm>
            <a:off x="3432142" y="1541572"/>
            <a:ext cx="2542295" cy="1935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593182" y="2037132"/>
            <a:ext cx="2243579" cy="1315671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593182" y="1604686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Minggu</a:t>
            </a:r>
            <a:r>
              <a:rPr lang="en-US" sz="1800" b="1" dirty="0">
                <a:solidFill>
                  <a:srgbClr val="EB7020"/>
                </a:solidFill>
              </a:rPr>
              <a:t> 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/>
        </p:nvSpPr>
        <p:spPr>
          <a:xfrm>
            <a:off x="6226616" y="1541572"/>
            <a:ext cx="2542295" cy="1935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387656" y="2037132"/>
            <a:ext cx="2243579" cy="1315671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387656" y="1604686"/>
            <a:ext cx="1218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Minggu</a:t>
            </a:r>
            <a:r>
              <a:rPr lang="en-US" sz="1800" b="1" dirty="0">
                <a:solidFill>
                  <a:srgbClr val="EB7020"/>
                </a:solidFill>
              </a:rPr>
              <a:t> 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/>
        </p:nvSpPr>
        <p:spPr>
          <a:xfrm>
            <a:off x="9018521" y="1541572"/>
            <a:ext cx="2542295" cy="1935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9179561" y="2037132"/>
            <a:ext cx="2243579" cy="1315671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9179561" y="1604686"/>
            <a:ext cx="1218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Minggu</a:t>
            </a:r>
            <a:r>
              <a:rPr lang="en-US" sz="1800" b="1" dirty="0">
                <a:solidFill>
                  <a:srgbClr val="EB7020"/>
                </a:solidFill>
              </a:rPr>
              <a:t> 11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/>
        </p:nvSpPr>
        <p:spPr>
          <a:xfrm>
            <a:off x="640237" y="3727631"/>
            <a:ext cx="2542295" cy="1935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801277" y="4223191"/>
            <a:ext cx="2243579" cy="1315671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801277" y="3790745"/>
            <a:ext cx="1218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Minggu</a:t>
            </a:r>
            <a:r>
              <a:rPr lang="en-US" sz="1800" b="1" dirty="0">
                <a:solidFill>
                  <a:srgbClr val="EB7020"/>
                </a:solidFill>
              </a:rPr>
              <a:t> 12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/>
        </p:nvSpPr>
        <p:spPr>
          <a:xfrm>
            <a:off x="3432142" y="3727631"/>
            <a:ext cx="2542295" cy="1935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3593182" y="4223191"/>
            <a:ext cx="2243579" cy="1315671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3593182" y="3790745"/>
            <a:ext cx="1218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Minggu</a:t>
            </a:r>
            <a:r>
              <a:rPr lang="en-US" sz="1800" b="1" dirty="0">
                <a:solidFill>
                  <a:srgbClr val="EB7020"/>
                </a:solidFill>
              </a:rPr>
              <a:t> 13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/>
        </p:nvSpPr>
        <p:spPr>
          <a:xfrm>
            <a:off x="6226616" y="3727631"/>
            <a:ext cx="2542295" cy="1935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387656" y="4223191"/>
            <a:ext cx="2243579" cy="1315671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6387656" y="3790745"/>
            <a:ext cx="1218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Minggu</a:t>
            </a:r>
            <a:r>
              <a:rPr lang="en-US" sz="1800" b="1" dirty="0">
                <a:solidFill>
                  <a:srgbClr val="EB7020"/>
                </a:solidFill>
              </a:rPr>
              <a:t> 14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236" y="671247"/>
            <a:ext cx="109205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tx2"/>
                </a:solidFill>
              </a:rPr>
              <a:t>Topik</a:t>
            </a:r>
            <a:r>
              <a:rPr lang="en-US" sz="3600" b="1" dirty="0">
                <a:solidFill>
                  <a:schemeClr val="tx2"/>
                </a:solidFill>
              </a:rPr>
              <a:t> </a:t>
            </a:r>
            <a:r>
              <a:rPr lang="en-US" sz="3600" b="1" dirty="0" err="1">
                <a:solidFill>
                  <a:schemeClr val="tx2"/>
                </a:solidFill>
              </a:rPr>
              <a:t>Perkuliahan</a:t>
            </a:r>
            <a:endParaRPr lang="en-US" sz="3600" b="1" dirty="0">
              <a:solidFill>
                <a:schemeClr val="tx2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/>
        </p:nvSpPr>
        <p:spPr>
          <a:xfrm>
            <a:off x="9018521" y="3727631"/>
            <a:ext cx="2542295" cy="19357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01277" y="2043372"/>
            <a:ext cx="2243579" cy="1315671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9118713" y="4372341"/>
            <a:ext cx="2365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UAS</a:t>
            </a:r>
          </a:p>
        </p:txBody>
      </p:sp>
    </p:spTree>
    <p:extLst>
      <p:ext uri="{BB962C8B-B14F-4D97-AF65-F5344CB8AC3E}">
        <p14:creationId xmlns:p14="http://schemas.microsoft.com/office/powerpoint/2010/main" val="3025672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ndahulua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838200" y="838510"/>
            <a:ext cx="5999349" cy="794408"/>
            <a:chOff x="838200" y="544975"/>
            <a:chExt cx="5999349" cy="794408"/>
          </a:xfrm>
        </p:grpSpPr>
        <p:sp>
          <p:nvSpPr>
            <p:cNvPr id="5" name="Rounded Rectangle 4"/>
            <p:cNvSpPr/>
            <p:nvPr userDrawn="1"/>
          </p:nvSpPr>
          <p:spPr>
            <a:xfrm>
              <a:off x="1282045" y="716437"/>
              <a:ext cx="5555504" cy="51847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 userDrawn="1"/>
          </p:nvSpPr>
          <p:spPr>
            <a:xfrm>
              <a:off x="838200" y="584453"/>
              <a:ext cx="754930" cy="7549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1654410" y="569942"/>
              <a:ext cx="3273525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400" b="1" dirty="0" err="1">
                  <a:solidFill>
                    <a:schemeClr val="accent3"/>
                  </a:solidFill>
                </a:rPr>
                <a:t>Pendahuluan</a:t>
              </a:r>
              <a:endParaRPr lang="en-US" sz="4400" b="1" dirty="0">
                <a:solidFill>
                  <a:schemeClr val="accent3"/>
                </a:solidFill>
              </a:endParaRPr>
            </a:p>
          </p:txBody>
        </p:sp>
        <p:pic>
          <p:nvPicPr>
            <p:cNvPr id="2" name="Picture 1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3077" y="544975"/>
              <a:ext cx="665176" cy="762379"/>
            </a:xfrm>
            <a:prstGeom prst="rect">
              <a:avLst/>
            </a:prstGeom>
          </p:spPr>
        </p:pic>
      </p:grpSp>
      <p:sp>
        <p:nvSpPr>
          <p:cNvPr id="13" name="Content Placeholder 2"/>
          <p:cNvSpPr>
            <a:spLocks noGrp="1"/>
          </p:cNvSpPr>
          <p:nvPr>
            <p:ph idx="13"/>
          </p:nvPr>
        </p:nvSpPr>
        <p:spPr>
          <a:xfrm>
            <a:off x="838200" y="1906803"/>
            <a:ext cx="10515600" cy="3971090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202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ujuan Pembelajar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753475" y="856128"/>
            <a:ext cx="6438605" cy="769441"/>
            <a:chOff x="753475" y="569942"/>
            <a:chExt cx="6438605" cy="769441"/>
          </a:xfrm>
        </p:grpSpPr>
        <p:sp>
          <p:nvSpPr>
            <p:cNvPr id="5" name="Rounded Rectangle 4"/>
            <p:cNvSpPr/>
            <p:nvPr userDrawn="1"/>
          </p:nvSpPr>
          <p:spPr>
            <a:xfrm>
              <a:off x="1282044" y="716437"/>
              <a:ext cx="5910035" cy="51847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 userDrawn="1"/>
          </p:nvSpPr>
          <p:spPr>
            <a:xfrm>
              <a:off x="838200" y="584453"/>
              <a:ext cx="754930" cy="7549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1654410" y="569942"/>
              <a:ext cx="5537670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400" b="1" dirty="0" err="1">
                  <a:solidFill>
                    <a:schemeClr val="accent3"/>
                  </a:solidFill>
                </a:rPr>
                <a:t>Capaian</a:t>
              </a:r>
              <a:r>
                <a:rPr lang="en-US" sz="4400" b="1" dirty="0">
                  <a:solidFill>
                    <a:schemeClr val="accent3"/>
                  </a:solidFill>
                </a:rPr>
                <a:t> </a:t>
              </a:r>
              <a:r>
                <a:rPr lang="en-US" sz="4400" b="1" dirty="0" err="1">
                  <a:solidFill>
                    <a:schemeClr val="accent3"/>
                  </a:solidFill>
                </a:rPr>
                <a:t>Pembelajaran</a:t>
              </a:r>
              <a:endParaRPr lang="en-US" sz="4400" b="1" dirty="0">
                <a:solidFill>
                  <a:schemeClr val="accent3"/>
                </a:solidFill>
              </a:endParaRPr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475" y="649446"/>
              <a:ext cx="791900" cy="632821"/>
            </a:xfrm>
            <a:prstGeom prst="rect">
              <a:avLst/>
            </a:prstGeom>
          </p:spPr>
        </p:pic>
      </p:grpSp>
      <p:sp>
        <p:nvSpPr>
          <p:cNvPr id="14" name="Content Placeholder 2"/>
          <p:cNvSpPr>
            <a:spLocks noGrp="1"/>
          </p:cNvSpPr>
          <p:nvPr>
            <p:ph idx="13"/>
          </p:nvPr>
        </p:nvSpPr>
        <p:spPr>
          <a:xfrm>
            <a:off x="838200" y="1870944"/>
            <a:ext cx="10515600" cy="3971090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115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mponen Penila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838200" y="1125069"/>
            <a:ext cx="5999349" cy="769441"/>
            <a:chOff x="838200" y="569942"/>
            <a:chExt cx="5999349" cy="769441"/>
          </a:xfrm>
        </p:grpSpPr>
        <p:sp>
          <p:nvSpPr>
            <p:cNvPr id="5" name="Rounded Rectangle 4"/>
            <p:cNvSpPr/>
            <p:nvPr userDrawn="1"/>
          </p:nvSpPr>
          <p:spPr>
            <a:xfrm>
              <a:off x="1282045" y="716437"/>
              <a:ext cx="5555504" cy="51847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 userDrawn="1"/>
          </p:nvSpPr>
          <p:spPr>
            <a:xfrm>
              <a:off x="838200" y="584453"/>
              <a:ext cx="754930" cy="7549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1654410" y="569942"/>
              <a:ext cx="5068760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400" b="1" dirty="0" err="1">
                  <a:solidFill>
                    <a:schemeClr val="accent3"/>
                  </a:solidFill>
                </a:rPr>
                <a:t>Komponen</a:t>
              </a:r>
              <a:r>
                <a:rPr lang="en-US" sz="4400" b="1" dirty="0">
                  <a:solidFill>
                    <a:schemeClr val="accent3"/>
                  </a:solidFill>
                </a:rPr>
                <a:t> </a:t>
              </a:r>
              <a:r>
                <a:rPr lang="en-US" sz="4400" b="1" dirty="0" err="1">
                  <a:solidFill>
                    <a:schemeClr val="accent3"/>
                  </a:solidFill>
                </a:rPr>
                <a:t>Penilaian</a:t>
              </a:r>
              <a:endParaRPr lang="en-US" sz="4400" b="1" dirty="0">
                <a:solidFill>
                  <a:schemeClr val="accent3"/>
                </a:solidFill>
              </a:endParaRPr>
            </a:p>
          </p:txBody>
        </p:sp>
        <p:pic>
          <p:nvPicPr>
            <p:cNvPr id="2" name="Picture 1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012" y="616587"/>
              <a:ext cx="589305" cy="675421"/>
            </a:xfrm>
            <a:prstGeom prst="rect">
              <a:avLst/>
            </a:prstGeom>
          </p:spPr>
        </p:pic>
      </p:grpSp>
      <p:sp>
        <p:nvSpPr>
          <p:cNvPr id="12" name="Table Placeholder 11"/>
          <p:cNvSpPr>
            <a:spLocks noGrp="1"/>
          </p:cNvSpPr>
          <p:nvPr>
            <p:ph type="tbl" sz="quarter" idx="13"/>
          </p:nvPr>
        </p:nvSpPr>
        <p:spPr>
          <a:xfrm>
            <a:off x="3774122" y="2235331"/>
            <a:ext cx="4836478" cy="322834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id-ID"/>
              <a:t>Klik ikon untuk menambah tabel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915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 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735182"/>
            <a:ext cx="9144000" cy="607733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 dirty="0" err="1"/>
              <a:t>Judul</a:t>
            </a:r>
            <a:r>
              <a:rPr lang="en-US" dirty="0"/>
              <a:t> Sub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1524000" y="2753763"/>
            <a:ext cx="9144000" cy="3376417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1524000" y="1439313"/>
            <a:ext cx="9144000" cy="11779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 err="1"/>
              <a:t>Paragraf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173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 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824603" y="2468676"/>
            <a:ext cx="5529197" cy="1920647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 err="1"/>
              <a:t>Judul</a:t>
            </a:r>
            <a:br>
              <a:rPr lang="en-US" dirty="0"/>
            </a:br>
            <a:r>
              <a:rPr lang="en-US" dirty="0"/>
              <a:t>Sub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001270"/>
            <a:ext cx="5316718" cy="5856730"/>
          </a:xfrm>
          <a:prstGeom prst="flowChartDelay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2800"/>
            </a:lvl1pPr>
          </a:lstStyle>
          <a:p>
            <a:r>
              <a:rPr lang="en-US" dirty="0"/>
              <a:t>Insert Picture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0870B6-2BBE-464C-BABE-1A4EBF4CAB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790" y="128105"/>
            <a:ext cx="2456329" cy="64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353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eader Bag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389699"/>
            <a:ext cx="10515600" cy="1617924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185341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5">
                    <a:lumMod val="1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>
                <a:latin typeface="Tw Cen MT" panose="020B0602020104020603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17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6120"/>
            <a:ext cx="10515600" cy="738580"/>
          </a:xfrm>
        </p:spPr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250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rbandi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64662"/>
            <a:ext cx="5157787" cy="65045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rgbClr val="0E60AC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397498"/>
            <a:ext cx="5157787" cy="368458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64662"/>
            <a:ext cx="5183188" cy="65045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rgbClr val="0E60AC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397498"/>
            <a:ext cx="5183188" cy="368458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8200" y="778543"/>
            <a:ext cx="10515600" cy="738580"/>
          </a:xfrm>
        </p:spPr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6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udul S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0120"/>
            <a:ext cx="10515600" cy="1931670"/>
          </a:xfrm>
        </p:spPr>
        <p:txBody>
          <a:bodyPr anchor="t"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95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05849"/>
            <a:ext cx="10515600" cy="435133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832332"/>
            <a:ext cx="10515600" cy="738580"/>
          </a:xfrm>
        </p:spPr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22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770880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770880" y="1038779"/>
            <a:ext cx="5312756" cy="502180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02080" y="1038779"/>
            <a:ext cx="4755439" cy="1218156"/>
          </a:xfrm>
        </p:spPr>
        <p:txBody>
          <a:bodyPr anchor="b"/>
          <a:lstStyle>
            <a:lvl1pPr>
              <a:defRPr sz="3200">
                <a:solidFill>
                  <a:srgbClr val="FFC000"/>
                </a:solidFill>
              </a:defRPr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02080" y="2416641"/>
            <a:ext cx="4755439" cy="3643945"/>
          </a:xfrm>
        </p:spPr>
        <p:txBody>
          <a:bodyPr>
            <a:normAutofit/>
          </a:bodyPr>
          <a:lstStyle>
            <a:lvl1pPr marL="0" indent="0" algn="just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</p:spTree>
    <p:extLst>
      <p:ext uri="{BB962C8B-B14F-4D97-AF65-F5344CB8AC3E}">
        <p14:creationId xmlns:p14="http://schemas.microsoft.com/office/powerpoint/2010/main" val="3972821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14021" y="1025025"/>
            <a:ext cx="3640619" cy="25181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432104" y="973603"/>
            <a:ext cx="5621975" cy="1218156"/>
          </a:xfrm>
        </p:spPr>
        <p:txBody>
          <a:bodyPr anchor="t"/>
          <a:lstStyle>
            <a:lvl1pPr>
              <a:defRPr sz="3200">
                <a:solidFill>
                  <a:srgbClr val="0E60AC"/>
                </a:solidFill>
              </a:defRPr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5432105" y="2351465"/>
            <a:ext cx="5621975" cy="3804238"/>
          </a:xfrm>
        </p:spPr>
        <p:txBody>
          <a:bodyPr>
            <a:normAutofit/>
          </a:bodyPr>
          <a:lstStyle>
            <a:lvl1pPr marL="0" indent="0" algn="just">
              <a:buNone/>
              <a:defRPr sz="2000">
                <a:solidFill>
                  <a:schemeClr val="accent5">
                    <a:lumMod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13"/>
          </p:nvPr>
        </p:nvSpPr>
        <p:spPr>
          <a:xfrm>
            <a:off x="1414021" y="3813687"/>
            <a:ext cx="3640619" cy="25181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044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69929" y="1038779"/>
            <a:ext cx="4888191" cy="502180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d-ID"/>
              <a:t>Klik ikon untuk menambahkan gambar</a:t>
            </a:r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5918477" y="2416641"/>
            <a:ext cx="5280565" cy="3643945"/>
          </a:xfrm>
        </p:spPr>
        <p:txBody>
          <a:bodyPr>
            <a:normAutofit/>
          </a:bodyPr>
          <a:lstStyle>
            <a:lvl1pPr marL="0" indent="0" algn="just">
              <a:buNone/>
              <a:defRPr sz="2000">
                <a:solidFill>
                  <a:schemeClr val="accent5">
                    <a:lumMod val="2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918476" y="1038778"/>
            <a:ext cx="5280566" cy="1199301"/>
          </a:xfrm>
        </p:spPr>
        <p:txBody>
          <a:bodyPr anchor="t"/>
          <a:lstStyle>
            <a:lvl1pPr>
              <a:defRPr sz="3200">
                <a:solidFill>
                  <a:srgbClr val="0E60AC"/>
                </a:solidFill>
              </a:defRPr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65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Uraian Mate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38200" y="1616201"/>
            <a:ext cx="10515600" cy="435133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742684"/>
            <a:ext cx="10515600" cy="738580"/>
          </a:xfrm>
        </p:spPr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228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770701" y="1529731"/>
            <a:ext cx="3356431" cy="314346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518071" y="1529731"/>
            <a:ext cx="3356431" cy="3143468"/>
          </a:xfr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</a:t>
            </a:r>
          </a:p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8265441" y="1529731"/>
            <a:ext cx="3356431" cy="3143468"/>
          </a:xfr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770700" y="4857326"/>
            <a:ext cx="3356432" cy="1046442"/>
          </a:xfrm>
        </p:spPr>
        <p:txBody>
          <a:bodyPr>
            <a:normAutofit/>
          </a:bodyPr>
          <a:lstStyle>
            <a:lvl1pPr marL="0" indent="0" algn="ctr">
              <a:buNone/>
              <a:defRPr sz="2000" b="0" baseline="0">
                <a:solidFill>
                  <a:schemeClr val="accent5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4518071" y="4857326"/>
            <a:ext cx="3356432" cy="1046442"/>
          </a:xfrm>
        </p:spPr>
        <p:txBody>
          <a:bodyPr>
            <a:normAutofit/>
          </a:bodyPr>
          <a:lstStyle>
            <a:lvl1pPr marL="0" indent="0" algn="ctr">
              <a:buNone/>
              <a:defRPr sz="2000" b="0" baseline="0">
                <a:solidFill>
                  <a:schemeClr val="accent5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8265441" y="4857326"/>
            <a:ext cx="3356432" cy="1046442"/>
          </a:xfrm>
        </p:spPr>
        <p:txBody>
          <a:bodyPr>
            <a:normAutofit/>
          </a:bodyPr>
          <a:lstStyle>
            <a:lvl1pPr marL="0" indent="0" algn="ctr">
              <a:buNone/>
              <a:defRPr sz="2000" b="0" baseline="0">
                <a:solidFill>
                  <a:schemeClr val="accent5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70700" y="653038"/>
            <a:ext cx="10851172" cy="738580"/>
          </a:xfrm>
        </p:spPr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341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930198" y="933253"/>
            <a:ext cx="8495847" cy="36643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930197" y="4751111"/>
            <a:ext cx="8495850" cy="1451728"/>
          </a:xfrm>
        </p:spPr>
        <p:txBody>
          <a:bodyPr>
            <a:normAutofit/>
          </a:bodyPr>
          <a:lstStyle>
            <a:lvl1pPr marL="0" indent="0" algn="just">
              <a:buNone/>
              <a:defRPr sz="2000" b="0" baseline="0">
                <a:solidFill>
                  <a:schemeClr val="accent5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Text</a:t>
            </a:r>
          </a:p>
        </p:txBody>
      </p:sp>
    </p:spTree>
    <p:extLst>
      <p:ext uri="{BB962C8B-B14F-4D97-AF65-F5344CB8AC3E}">
        <p14:creationId xmlns:p14="http://schemas.microsoft.com/office/powerpoint/2010/main" val="1069292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ert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76887" y="404617"/>
            <a:ext cx="9184669" cy="701457"/>
          </a:xfrm>
        </p:spPr>
        <p:txBody>
          <a:bodyPr anchor="t">
            <a:normAutofit/>
          </a:bodyPr>
          <a:lstStyle>
            <a:lvl1pPr algn="ctr">
              <a:defRPr sz="3200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4" name="Media Placeholder 3"/>
          <p:cNvSpPr>
            <a:spLocks noGrp="1"/>
          </p:cNvSpPr>
          <p:nvPr>
            <p:ph type="media" sz="quarter" idx="13" hasCustomPrompt="1"/>
          </p:nvPr>
        </p:nvSpPr>
        <p:spPr>
          <a:xfrm>
            <a:off x="1576887" y="1319017"/>
            <a:ext cx="9184670" cy="5166377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Insert Video</a:t>
            </a:r>
          </a:p>
        </p:txBody>
      </p:sp>
    </p:spTree>
    <p:extLst>
      <p:ext uri="{BB962C8B-B14F-4D97-AF65-F5344CB8AC3E}">
        <p14:creationId xmlns:p14="http://schemas.microsoft.com/office/powerpoint/2010/main" val="1725463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os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633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tih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92941"/>
            <a:ext cx="10515600" cy="4318034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38200" y="747025"/>
            <a:ext cx="5999349" cy="769441"/>
            <a:chOff x="838200" y="1108530"/>
            <a:chExt cx="5999349" cy="769441"/>
          </a:xfrm>
        </p:grpSpPr>
        <p:sp>
          <p:nvSpPr>
            <p:cNvPr id="5" name="Rounded Rectangle 4"/>
            <p:cNvSpPr/>
            <p:nvPr userDrawn="1"/>
          </p:nvSpPr>
          <p:spPr>
            <a:xfrm>
              <a:off x="1282045" y="1255025"/>
              <a:ext cx="5555504" cy="51847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 userDrawn="1"/>
          </p:nvSpPr>
          <p:spPr>
            <a:xfrm>
              <a:off x="838200" y="1123041"/>
              <a:ext cx="754930" cy="7549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1654410" y="1108530"/>
              <a:ext cx="1923988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400" b="1" dirty="0" err="1">
                  <a:solidFill>
                    <a:schemeClr val="accent3"/>
                  </a:solidFill>
                </a:rPr>
                <a:t>Latihan</a:t>
              </a:r>
              <a:endParaRPr lang="en-US" sz="4400" b="1" dirty="0">
                <a:solidFill>
                  <a:schemeClr val="accent3"/>
                </a:solidFill>
              </a:endParaRPr>
            </a:p>
          </p:txBody>
        </p:sp>
        <p:pic>
          <p:nvPicPr>
            <p:cNvPr id="2" name="Picture 1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7419" y="1120499"/>
              <a:ext cx="650450" cy="7455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0458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ftar Pusta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838200" y="747025"/>
            <a:ext cx="5999349" cy="769441"/>
            <a:chOff x="838200" y="569942"/>
            <a:chExt cx="5999349" cy="769441"/>
          </a:xfrm>
        </p:grpSpPr>
        <p:sp>
          <p:nvSpPr>
            <p:cNvPr id="5" name="Rounded Rectangle 4"/>
            <p:cNvSpPr/>
            <p:nvPr userDrawn="1"/>
          </p:nvSpPr>
          <p:spPr>
            <a:xfrm>
              <a:off x="1282045" y="716437"/>
              <a:ext cx="5555504" cy="51847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 userDrawn="1"/>
          </p:nvSpPr>
          <p:spPr>
            <a:xfrm>
              <a:off x="838200" y="584453"/>
              <a:ext cx="754930" cy="7549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1654410" y="569942"/>
              <a:ext cx="2364750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400" b="1" dirty="0" err="1">
                  <a:solidFill>
                    <a:schemeClr val="accent3"/>
                  </a:solidFill>
                </a:rPr>
                <a:t>Referensi</a:t>
              </a:r>
              <a:endParaRPr lang="en-US" sz="4400" b="1" dirty="0">
                <a:solidFill>
                  <a:schemeClr val="accent3"/>
                </a:solidFill>
              </a:endParaRPr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8017" y="661014"/>
              <a:ext cx="606720" cy="629320"/>
            </a:xfrm>
            <a:prstGeom prst="rect">
              <a:avLst/>
            </a:prstGeom>
          </p:spPr>
        </p:pic>
      </p:grp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838200" y="1792941"/>
            <a:ext cx="10515600" cy="4318034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61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nut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usiness people  clapping their hands at the meeting Premium Phot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8530"/>
          <a:stretch/>
        </p:blipFill>
        <p:spPr bwMode="auto">
          <a:xfrm>
            <a:off x="2790216" y="-5350"/>
            <a:ext cx="9401784" cy="686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500193" y="1347793"/>
            <a:ext cx="4162414" cy="4162414"/>
          </a:xfrm>
          <a:prstGeom prst="ellipse">
            <a:avLst/>
          </a:prstGeom>
          <a:solidFill>
            <a:srgbClr val="EB7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2333732" y="2541902"/>
            <a:ext cx="3048000" cy="1768845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Terima</a:t>
            </a:r>
            <a:br>
              <a:rPr lang="en-US" dirty="0"/>
            </a:br>
            <a:r>
              <a:rPr lang="en-US" dirty="0" err="1"/>
              <a:t>Kasih</a:t>
            </a:r>
            <a:r>
              <a:rPr lang="en-US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A4B91C-99A2-4199-95AE-0060C658EE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790" y="128105"/>
            <a:ext cx="2456329" cy="64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7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3331763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70264"/>
            <a:ext cx="12110720" cy="140073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922585"/>
            <a:ext cx="8547263" cy="7021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642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E60AC"/>
          </a:solidFill>
          <a:latin typeface="Tw Cen MT" panose="020B0602020104020603" pitchFamily="34" charset="0"/>
          <a:ea typeface="+mj-ea"/>
          <a:cs typeface="+mj-cs"/>
        </a:defRPr>
      </a:lvl1pPr>
    </p:titleStyle>
    <p:bodyStyle>
      <a:lvl1pPr marL="514350" indent="-514350" algn="just" defTabSz="914400" rtl="0" eaLnBrk="1" latinLnBrk="0" hangingPunct="1">
        <a:lnSpc>
          <a:spcPct val="90000"/>
        </a:lnSpc>
        <a:spcBef>
          <a:spcPts val="1000"/>
        </a:spcBef>
        <a:buFont typeface="+mj-lt"/>
        <a:buAutoNum type="arabicPeriod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1pPr>
      <a:lvl2pPr marL="914400" indent="-457200" algn="just" defTabSz="914400" rtl="0" eaLnBrk="1" latinLnBrk="0" hangingPunct="1">
        <a:lnSpc>
          <a:spcPct val="90000"/>
        </a:lnSpc>
        <a:spcBef>
          <a:spcPts val="500"/>
        </a:spcBef>
        <a:buFont typeface="+mj-lt"/>
        <a:buAutoNum type="alphaLcPeriod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99232" y="2240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2563EB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CLASS • OBJECT • CONSTRUCTOR • ENCAPSULATION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6758B"/>
                </a:solidFill>
                <a:latin typeface="Aptos"/>
              </a:defRPr>
            </a:pPr>
            <a:r>
              <a:t>PEMROGRAMAN BERORIENTASI OBJEK  • 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6758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10058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600" b="1">
                <a:solidFill>
                  <a:srgbClr val="2563EB"/>
                </a:solidFill>
                <a:latin typeface="Aptos"/>
              </a:defRPr>
            </a:pPr>
            <a:r>
              <a:rPr dirty="0" err="1">
                <a:solidFill>
                  <a:schemeClr val="bg1"/>
                </a:solidFill>
              </a:rPr>
              <a:t>Mudah</a:t>
            </a:r>
            <a:r>
              <a:rPr dirty="0">
                <a:solidFill>
                  <a:schemeClr val="bg1"/>
                </a:solidFill>
              </a:rPr>
              <a:t>  •  Sedang  •  Sulit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60520"/>
            <a:ext cx="10698480" cy="1143000"/>
          </a:xfrm>
          <a:prstGeom prst="round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370832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122039"/>
                </a:solidFill>
                <a:latin typeface="Aptos"/>
              </a:defRPr>
            </a:pPr>
            <a:r>
              <a:t>90 menit    |    Individu    |    Total 100 poin</a:t>
            </a:r>
          </a:p>
        </p:txBody>
      </p:sp>
      <p:sp>
        <p:nvSpPr>
          <p:cNvPr id="12" name="Tampungan Teks 11">
            <a:extLst>
              <a:ext uri="{FF2B5EF4-FFF2-40B4-BE49-F238E27FC236}">
                <a16:creationId xmlns:a16="http://schemas.microsoft.com/office/drawing/2014/main" id="{70D8FF51-1AD4-290E-9128-4E6FEAA74F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04392" y="2303570"/>
            <a:ext cx="6385335" cy="786209"/>
          </a:xfrm>
        </p:spPr>
        <p:txBody>
          <a:bodyPr/>
          <a:lstStyle/>
          <a:p>
            <a:r>
              <a:rPr lang="id-ID" dirty="0"/>
              <a:t>3 Studi Kasus Praktik Java</a:t>
            </a:r>
          </a:p>
          <a:p>
            <a:endParaRPr lang="id-ID" dirty="0"/>
          </a:p>
        </p:txBody>
      </p:sp>
      <p:sp>
        <p:nvSpPr>
          <p:cNvPr id="13" name="Tampungan Teks 12">
            <a:extLst>
              <a:ext uri="{FF2B5EF4-FFF2-40B4-BE49-F238E27FC236}">
                <a16:creationId xmlns:a16="http://schemas.microsoft.com/office/drawing/2014/main" id="{C0C7D2F0-E1E8-ED39-1F04-0999032333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id-ID" dirty="0"/>
              <a:t>PBO</a:t>
            </a:r>
          </a:p>
        </p:txBody>
      </p:sp>
      <p:sp>
        <p:nvSpPr>
          <p:cNvPr id="14" name="Tampungan Teks 13">
            <a:extLst>
              <a:ext uri="{FF2B5EF4-FFF2-40B4-BE49-F238E27FC236}">
                <a16:creationId xmlns:a16="http://schemas.microsoft.com/office/drawing/2014/main" id="{C5649CC4-649A-3329-8801-E86B1D8FFC2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id-ID" dirty="0"/>
              <a:t>Fakultas Ilmu Komputer</a:t>
            </a:r>
          </a:p>
        </p:txBody>
      </p:sp>
      <p:sp>
        <p:nvSpPr>
          <p:cNvPr id="15" name="Tampungan Teks 14">
            <a:extLst>
              <a:ext uri="{FF2B5EF4-FFF2-40B4-BE49-F238E27FC236}">
                <a16:creationId xmlns:a16="http://schemas.microsoft.com/office/drawing/2014/main" id="{BB9E7993-FB7B-632B-D286-269D58FFD27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id-ID" dirty="0"/>
              <a:t>Kuis Praktikum PBO</a:t>
            </a:r>
          </a:p>
          <a:p>
            <a:endParaRPr lang="id-ID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2563EB"/>
                </a:solidFill>
                <a:latin typeface="Aptos"/>
              </a:defRPr>
            </a:pPr>
            <a:r>
              <a:t>KUIS PRAKTIKUM PBO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039"/>
                </a:solidFill>
                <a:latin typeface="Aptos"/>
              </a:defRPr>
            </a:pPr>
            <a:r>
              <a:t>Cakupan Materi &amp; Aturan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6758B"/>
                </a:solidFill>
                <a:latin typeface="Aptos"/>
              </a:defRPr>
            </a:pPr>
            <a:r>
              <a:t>PEMROGRAMAN BERORIENTASI OBJEK  • 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675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122039"/>
                </a:solidFill>
                <a:latin typeface="Aptos"/>
              </a:defRPr>
            </a:pPr>
            <a:r>
              <a:t>•  Class, object, attribute, method, dan constructor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50008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122039"/>
                </a:solidFill>
                <a:latin typeface="Aptos"/>
              </a:defRPr>
            </a:pPr>
            <a:r>
              <a:t>•  Encapsulation: private, getter, setter, serta validasi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0837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122039"/>
                </a:solidFill>
                <a:latin typeface="Aptos"/>
              </a:defRPr>
            </a:pPr>
            <a:r>
              <a:t>•  Bahasa Java; program harus dapat dikompilasi dan dijalankan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66744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122039"/>
                </a:solidFill>
                <a:latin typeface="Aptos"/>
              </a:defRPr>
            </a:pPr>
            <a:r>
              <a:t>•  Tidak menggunakan inheritance, polymorphism, abstract class, atau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25112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122039"/>
                </a:solidFill>
                <a:latin typeface="Aptos"/>
              </a:defRPr>
            </a:pPr>
            <a:r>
              <a:t>•  Kumpulkan file .java dan screenshot hasil eksekusi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2563EB"/>
                </a:solidFill>
                <a:latin typeface="Aptos"/>
              </a:defRPr>
            </a:pPr>
            <a:r>
              <a:t>MUDAH  •  20 POIN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82496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039"/>
                </a:solidFill>
                <a:latin typeface="Aptos"/>
              </a:defRPr>
            </a:pPr>
            <a:r>
              <a:rPr dirty="0"/>
              <a:t>Soal 1 —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Informasi</a:t>
            </a:r>
            <a:r>
              <a:rPr dirty="0"/>
              <a:t> </a:t>
            </a:r>
            <a:r>
              <a:rPr dirty="0" err="1"/>
              <a:t>Buku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6758B"/>
                </a:solidFill>
                <a:latin typeface="Aptos"/>
              </a:defRPr>
            </a:pPr>
            <a:r>
              <a:t>PEMROGRAMAN BERORIENTASI OBJEK  • 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675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1518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22039"/>
                </a:solidFill>
                <a:latin typeface="Aptos"/>
              </a:defRPr>
            </a:pPr>
            <a:r>
              <a:t>•  Buat class Buku dengan atribut judul, penulis, tahunTerbit.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0098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22039"/>
                </a:solidFill>
                <a:latin typeface="Aptos"/>
              </a:defRPr>
            </a:pPr>
            <a:r>
              <a:t>•  Buat constructor untuk menginisialisasi seluruh atribut.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8678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22039"/>
                </a:solidFill>
                <a:latin typeface="Aptos"/>
              </a:defRPr>
            </a:pPr>
            <a:r>
              <a:t>•  Buat method tampilkanInfo() untuk menampilkan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672583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22039"/>
                </a:solidFill>
                <a:latin typeface="Aptos"/>
              </a:defRPr>
            </a:pPr>
            <a:r>
              <a:t>•  Buat minimal dua objek Buku dengan data berbeda.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5838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22039"/>
                </a:solidFill>
                <a:latin typeface="Aptos"/>
              </a:defRPr>
            </a:pPr>
            <a:r>
              <a:t>•  Panggil tampilkanInfo() pada masing-masing objek.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2563EB"/>
                </a:solidFill>
                <a:latin typeface="Aptos"/>
              </a:defRPr>
            </a:pPr>
            <a:r>
              <a:t>MUDAH  •  20 POIN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039"/>
                </a:solidFill>
                <a:latin typeface="Aptos"/>
              </a:defRPr>
            </a:pPr>
            <a:r>
              <a:t>Soal 1 — Contoh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6758B"/>
                </a:solidFill>
                <a:latin typeface="Aptos"/>
              </a:defRPr>
            </a:pPr>
            <a:r>
              <a:t>PEMROGRAMAN BERORIENTASI OBJEK  • 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675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607040" cy="4114800"/>
          </a:xfrm>
          <a:prstGeom prst="round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947672"/>
            <a:ext cx="9784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122039"/>
                </a:solidFill>
                <a:latin typeface="Consolas"/>
              </a:defRPr>
            </a:pPr>
            <a:r>
              <a:t>=== DATA BUKU ===</a:t>
            </a:r>
          </a:p>
          <a:p>
            <a:pPr>
              <a:spcAft>
                <a:spcPts val="900"/>
              </a:spcAft>
              <a:defRPr sz="2000" b="0">
                <a:solidFill>
                  <a:srgbClr val="122039"/>
                </a:solidFill>
                <a:latin typeface="Consolas"/>
              </a:defRPr>
            </a:pPr>
            <a:r>
              <a:t>Judul        : Pemrograman Java</a:t>
            </a:r>
          </a:p>
          <a:p>
            <a:pPr>
              <a:spcAft>
                <a:spcPts val="900"/>
              </a:spcAft>
              <a:defRPr sz="2000" b="0">
                <a:solidFill>
                  <a:srgbClr val="122039"/>
                </a:solidFill>
                <a:latin typeface="Consolas"/>
              </a:defRPr>
            </a:pPr>
            <a:r>
              <a:t>Penulis      : Andi</a:t>
            </a:r>
          </a:p>
          <a:p>
            <a:pPr>
              <a:spcAft>
                <a:spcPts val="900"/>
              </a:spcAft>
              <a:defRPr sz="2000" b="0">
                <a:solidFill>
                  <a:srgbClr val="122039"/>
                </a:solidFill>
                <a:latin typeface="Consolas"/>
              </a:defRPr>
            </a:pPr>
            <a:r>
              <a:t>Tahun Terbit : 2024</a:t>
            </a:r>
          </a:p>
          <a:p>
            <a:pPr>
              <a:spcAft>
                <a:spcPts val="900"/>
              </a:spcAft>
              <a:defRPr sz="2000" b="0">
                <a:solidFill>
                  <a:srgbClr val="122039"/>
                </a:solidFill>
                <a:latin typeface="Consolas"/>
              </a:defRPr>
            </a:pPr>
            <a:endParaRPr/>
          </a:p>
          <a:p>
            <a:pPr>
              <a:spcAft>
                <a:spcPts val="900"/>
              </a:spcAft>
              <a:defRPr sz="2000" b="0">
                <a:solidFill>
                  <a:srgbClr val="122039"/>
                </a:solidFill>
                <a:latin typeface="Consolas"/>
              </a:defRPr>
            </a:pPr>
            <a:r>
              <a:t>=== DATA BUKU ===</a:t>
            </a:r>
          </a:p>
          <a:p>
            <a:pPr>
              <a:spcAft>
                <a:spcPts val="900"/>
              </a:spcAft>
              <a:defRPr sz="2000" b="0">
                <a:solidFill>
                  <a:srgbClr val="122039"/>
                </a:solidFill>
                <a:latin typeface="Consolas"/>
              </a:defRPr>
            </a:pPr>
            <a:r>
              <a:t>Judul        : Dasar Pemrograman</a:t>
            </a:r>
          </a:p>
          <a:p>
            <a:pPr>
              <a:spcAft>
                <a:spcPts val="900"/>
              </a:spcAft>
              <a:defRPr sz="2000" b="0">
                <a:solidFill>
                  <a:srgbClr val="122039"/>
                </a:solidFill>
                <a:latin typeface="Consolas"/>
              </a:defRPr>
            </a:pPr>
            <a:r>
              <a:t>Penulis      : Budi</a:t>
            </a:r>
          </a:p>
          <a:p>
            <a:pPr>
              <a:spcAft>
                <a:spcPts val="900"/>
              </a:spcAft>
              <a:defRPr sz="2000" b="0">
                <a:solidFill>
                  <a:srgbClr val="122039"/>
                </a:solidFill>
                <a:latin typeface="Consolas"/>
              </a:defRPr>
            </a:pPr>
            <a:r>
              <a:t>Tahun Terbit : 2023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2563EB"/>
                </a:solidFill>
                <a:latin typeface="Aptos"/>
              </a:defRPr>
            </a:pPr>
            <a:r>
              <a:t>SEDANG  •  30 POIN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45336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039"/>
                </a:solidFill>
                <a:latin typeface="Aptos"/>
              </a:defRPr>
            </a:pPr>
            <a:r>
              <a:rPr dirty="0"/>
              <a:t>Soal 2 — </a:t>
            </a:r>
            <a:r>
              <a:rPr dirty="0" err="1"/>
              <a:t>Pengelolaan</a:t>
            </a:r>
            <a:r>
              <a:rPr dirty="0"/>
              <a:t> Nilai </a:t>
            </a:r>
            <a:r>
              <a:rPr dirty="0" err="1"/>
              <a:t>Mahasiswa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6758B"/>
                </a:solidFill>
                <a:latin typeface="Aptos"/>
              </a:defRPr>
            </a:pPr>
            <a:r>
              <a:t>PEMROGRAMAN BERORIENTASI OBJEK  • 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6758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78024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22039"/>
                </a:solidFill>
                <a:latin typeface="Aptos"/>
              </a:defRPr>
            </a:pPr>
            <a:r>
              <a:t>•  Class Mahasiswa: nim, nama, nilaiTugas, nilaiUTS, nilaiUAS.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18104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22039"/>
                </a:solidFill>
                <a:latin typeface="Aptos"/>
              </a:defRPr>
            </a:pPr>
            <a:r>
              <a:t>•  Semua atribut private; buat constructor, getter, dan setter nilai.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58184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22039"/>
                </a:solidFill>
                <a:latin typeface="Aptos"/>
              </a:defRPr>
            </a:pPr>
            <a:r>
              <a:t>•  Validasi nilai 0–100; perubahan tidak valid harus ditolak.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98263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22039"/>
                </a:solidFill>
                <a:latin typeface="Aptos"/>
              </a:defRPr>
            </a:pPr>
            <a:r>
              <a:t>•  hitungNilaiAkhir(): Tugas 30%, UTS 30%, UAS 40%.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38344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22039"/>
                </a:solidFill>
                <a:latin typeface="Aptos"/>
              </a:defRPr>
            </a:pPr>
            <a:r>
              <a:t>•  tentukanStatus(): LULUS jika nilai akhir ≥ 60.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78424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22039"/>
                </a:solidFill>
                <a:latin typeface="Aptos"/>
              </a:defRPr>
            </a:pPr>
            <a:r>
              <a:t>•  Tampilkan data, nilai akhir, dan status kelulusan.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2563EB"/>
                </a:solidFill>
                <a:latin typeface="Aptos"/>
              </a:defRPr>
            </a:pPr>
            <a:r>
              <a:t>SEDANG  •  30 POIN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039"/>
                </a:solidFill>
                <a:latin typeface="Aptos"/>
              </a:defRPr>
            </a:pPr>
            <a:r>
              <a:t>Soal 2 — Contoh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6758B"/>
                </a:solidFill>
                <a:latin typeface="Aptos"/>
              </a:defRPr>
            </a:pPr>
            <a:r>
              <a:t>PEMROGRAMAN BERORIENTASI OBJEK  • 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6758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607040" cy="4114800"/>
          </a:xfrm>
          <a:prstGeom prst="round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9784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122039"/>
                </a:solidFill>
                <a:latin typeface="Consolas"/>
              </a:defRPr>
            </a:pPr>
            <a:r>
              <a:t>=== HASIL PENILAIAN MAHASISWA ===</a:t>
            </a:r>
          </a:p>
          <a:p>
            <a:pPr>
              <a:spcAft>
                <a:spcPts val="900"/>
              </a:spcAft>
              <a:defRPr sz="2000" b="0">
                <a:solidFill>
                  <a:srgbClr val="122039"/>
                </a:solidFill>
                <a:latin typeface="Consolas"/>
              </a:defRPr>
            </a:pPr>
            <a:r>
              <a:t>NIM          : 2026001</a:t>
            </a:r>
          </a:p>
          <a:p>
            <a:pPr>
              <a:spcAft>
                <a:spcPts val="900"/>
              </a:spcAft>
              <a:defRPr sz="2000" b="0">
                <a:solidFill>
                  <a:srgbClr val="122039"/>
                </a:solidFill>
                <a:latin typeface="Consolas"/>
              </a:defRPr>
            </a:pPr>
            <a:r>
              <a:t>Nama         : Sinta</a:t>
            </a:r>
          </a:p>
          <a:p>
            <a:pPr>
              <a:spcAft>
                <a:spcPts val="900"/>
              </a:spcAft>
              <a:defRPr sz="2000" b="0">
                <a:solidFill>
                  <a:srgbClr val="122039"/>
                </a:solidFill>
                <a:latin typeface="Consolas"/>
              </a:defRPr>
            </a:pPr>
            <a:r>
              <a:t>Nilai Tugas  : 80</a:t>
            </a:r>
          </a:p>
          <a:p>
            <a:pPr>
              <a:spcAft>
                <a:spcPts val="900"/>
              </a:spcAft>
              <a:defRPr sz="2000" b="0">
                <a:solidFill>
                  <a:srgbClr val="122039"/>
                </a:solidFill>
                <a:latin typeface="Consolas"/>
              </a:defRPr>
            </a:pPr>
            <a:r>
              <a:t>Nilai UTS    : 75</a:t>
            </a:r>
          </a:p>
          <a:p>
            <a:pPr>
              <a:spcAft>
                <a:spcPts val="900"/>
              </a:spcAft>
              <a:defRPr sz="2000" b="0">
                <a:solidFill>
                  <a:srgbClr val="122039"/>
                </a:solidFill>
                <a:latin typeface="Consolas"/>
              </a:defRPr>
            </a:pPr>
            <a:r>
              <a:t>Nilai UAS    : 90</a:t>
            </a:r>
          </a:p>
          <a:p>
            <a:pPr>
              <a:spcAft>
                <a:spcPts val="900"/>
              </a:spcAft>
              <a:defRPr sz="2000" b="0">
                <a:solidFill>
                  <a:srgbClr val="122039"/>
                </a:solidFill>
                <a:latin typeface="Consolas"/>
              </a:defRPr>
            </a:pPr>
            <a:endParaRPr/>
          </a:p>
          <a:p>
            <a:pPr>
              <a:spcAft>
                <a:spcPts val="900"/>
              </a:spcAft>
              <a:defRPr sz="2000" b="0">
                <a:solidFill>
                  <a:srgbClr val="122039"/>
                </a:solidFill>
                <a:latin typeface="Consolas"/>
              </a:defRPr>
            </a:pPr>
            <a:r>
              <a:t>Nilai Akhir  : 82.50</a:t>
            </a:r>
          </a:p>
          <a:p>
            <a:pPr>
              <a:spcAft>
                <a:spcPts val="900"/>
              </a:spcAft>
              <a:defRPr sz="2000" b="0">
                <a:solidFill>
                  <a:srgbClr val="122039"/>
                </a:solidFill>
                <a:latin typeface="Consolas"/>
              </a:defRPr>
            </a:pPr>
            <a:r>
              <a:t>Status       : LULUS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2563EB"/>
                </a:solidFill>
                <a:latin typeface="Aptos"/>
              </a:defRPr>
            </a:pPr>
            <a:r>
              <a:t>SULIT  •  50 POIN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544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039"/>
                </a:solidFill>
                <a:latin typeface="Aptos"/>
              </a:defRPr>
            </a:pPr>
            <a:r>
              <a:rPr dirty="0"/>
              <a:t>Soal 3 —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Transaksi</a:t>
            </a:r>
            <a:r>
              <a:rPr dirty="0"/>
              <a:t> </a:t>
            </a:r>
            <a:r>
              <a:rPr dirty="0" err="1"/>
              <a:t>Penjualan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6758B"/>
                </a:solidFill>
                <a:latin typeface="Aptos"/>
              </a:defRPr>
            </a:pPr>
            <a:r>
              <a:t>PEMROGRAMAN BERORIENTASI OBJEK  • 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6758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8716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22039"/>
                </a:solidFill>
                <a:latin typeface="Aptos"/>
              </a:defRPr>
            </a:pPr>
            <a:r>
              <a:t>•  Class Barang: kodeBarang, namaBarang, harga, stok; seluruhnya private.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8152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22039"/>
                </a:solidFill>
                <a:latin typeface="Aptos"/>
              </a:defRPr>
            </a:pPr>
            <a:r>
              <a:t>•  Gunakan constructor dan getter untuk membaca data barang.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7588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22039"/>
                </a:solidFill>
                <a:latin typeface="Aptos"/>
              </a:defRPr>
            </a:pPr>
            <a:r>
              <a:t>•  Buat tambahStok(int), jualBarang(int), hitungTotal(int).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7024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22039"/>
                </a:solidFill>
                <a:latin typeface="Aptos"/>
              </a:defRPr>
            </a:pPr>
            <a:r>
              <a:t>•  Diskon 10% jika subtotal pembelian minimal Rp500.000.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6460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22039"/>
                </a:solidFill>
                <a:latin typeface="Aptos"/>
              </a:defRPr>
            </a:pPr>
            <a:r>
              <a:t>•  Tolak pembelian melebihi stok atau jumlah ≤ 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45896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22039"/>
                </a:solidFill>
                <a:latin typeface="Aptos"/>
              </a:defRPr>
            </a:pPr>
            <a:r>
              <a:t>•  Harga harus &gt; 0; stok awal tidak boleh negatif.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05332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22039"/>
                </a:solidFill>
                <a:latin typeface="Aptos"/>
              </a:defRPr>
            </a:pPr>
            <a:r>
              <a:t>•  Stok hanya berubah lewat method transaksi yang valid.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2563EB"/>
                </a:solidFill>
                <a:latin typeface="Aptos"/>
              </a:defRPr>
            </a:pPr>
            <a:r>
              <a:t>SULIT  •  50 POIN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039"/>
                </a:solidFill>
                <a:latin typeface="Aptos"/>
              </a:defRPr>
            </a:pPr>
            <a:r>
              <a:t>Soal 3 — Menu &amp; Contoh Transaksi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6758B"/>
                </a:solidFill>
                <a:latin typeface="Aptos"/>
              </a:defRPr>
            </a:pPr>
            <a:r>
              <a:t>PEMROGRAMAN BERORIENTASI OBJEK  • 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6758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4846320" cy="4389120"/>
          </a:xfrm>
          <a:prstGeom prst="round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297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22039"/>
                </a:solidFill>
                <a:latin typeface="Consolas"/>
              </a:defRPr>
            </a:pPr>
            <a:r>
              <a:t>=== MENU TOKO ===</a:t>
            </a:r>
          </a:p>
          <a:p>
            <a:pPr>
              <a:spcAft>
                <a:spcPts val="900"/>
              </a:spcAft>
              <a:defRPr sz="1800" b="0">
                <a:solidFill>
                  <a:srgbClr val="122039"/>
                </a:solidFill>
                <a:latin typeface="Consolas"/>
              </a:defRPr>
            </a:pPr>
            <a:r>
              <a:t>1. Tampilkan Barang</a:t>
            </a:r>
          </a:p>
          <a:p>
            <a:pPr>
              <a:spcAft>
                <a:spcPts val="900"/>
              </a:spcAft>
              <a:defRPr sz="1800" b="0">
                <a:solidFill>
                  <a:srgbClr val="122039"/>
                </a:solidFill>
                <a:latin typeface="Consolas"/>
              </a:defRPr>
            </a:pPr>
            <a:r>
              <a:t>2. Tambah Stok</a:t>
            </a:r>
          </a:p>
          <a:p>
            <a:pPr>
              <a:spcAft>
                <a:spcPts val="900"/>
              </a:spcAft>
              <a:defRPr sz="1800" b="0">
                <a:solidFill>
                  <a:srgbClr val="122039"/>
                </a:solidFill>
                <a:latin typeface="Consolas"/>
              </a:defRPr>
            </a:pPr>
            <a:r>
              <a:t>3. Beli Barang</a:t>
            </a:r>
          </a:p>
          <a:p>
            <a:pPr>
              <a:spcAft>
                <a:spcPts val="900"/>
              </a:spcAft>
              <a:defRPr sz="1800" b="0">
                <a:solidFill>
                  <a:srgbClr val="122039"/>
                </a:solidFill>
                <a:latin typeface="Consolas"/>
              </a:defRPr>
            </a:pPr>
            <a:r>
              <a:t>4. Keluar</a:t>
            </a:r>
          </a:p>
          <a:p>
            <a:pPr>
              <a:spcAft>
                <a:spcPts val="900"/>
              </a:spcAft>
              <a:defRPr sz="1800" b="0">
                <a:solidFill>
                  <a:srgbClr val="122039"/>
                </a:solidFill>
                <a:latin typeface="Consolas"/>
              </a:defRPr>
            </a:pPr>
            <a:endParaRPr/>
          </a:p>
          <a:p>
            <a:pPr>
              <a:spcAft>
                <a:spcPts val="900"/>
              </a:spcAft>
              <a:defRPr sz="1800" b="0">
                <a:solidFill>
                  <a:srgbClr val="122039"/>
                </a:solidFill>
                <a:latin typeface="Consolas"/>
              </a:defRPr>
            </a:pPr>
            <a:r>
              <a:t>Program berulang sampai pengguna memilih keluar.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645920"/>
            <a:ext cx="5852160" cy="4389120"/>
          </a:xfrm>
          <a:prstGeom prst="round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0" y="1901952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22039"/>
                </a:solidFill>
                <a:latin typeface="Consolas"/>
              </a:defRPr>
            </a:pPr>
            <a:r>
              <a:t>=== STRUK PEMBELIAN ===</a:t>
            </a:r>
          </a:p>
          <a:p>
            <a:pPr>
              <a:spcAft>
                <a:spcPts val="900"/>
              </a:spcAft>
              <a:defRPr sz="1700" b="0">
                <a:solidFill>
                  <a:srgbClr val="122039"/>
                </a:solidFill>
                <a:latin typeface="Consolas"/>
              </a:defRPr>
            </a:pPr>
            <a:r>
              <a:t>Nama Barang : Keyboard</a:t>
            </a:r>
          </a:p>
          <a:p>
            <a:pPr>
              <a:spcAft>
                <a:spcPts val="900"/>
              </a:spcAft>
              <a:defRPr sz="1700" b="0">
                <a:solidFill>
                  <a:srgbClr val="122039"/>
                </a:solidFill>
                <a:latin typeface="Consolas"/>
              </a:defRPr>
            </a:pPr>
            <a:r>
              <a:t>Harga       : Rp150.000</a:t>
            </a:r>
          </a:p>
          <a:p>
            <a:pPr>
              <a:spcAft>
                <a:spcPts val="900"/>
              </a:spcAft>
              <a:defRPr sz="1700" b="0">
                <a:solidFill>
                  <a:srgbClr val="122039"/>
                </a:solidFill>
                <a:latin typeface="Consolas"/>
              </a:defRPr>
            </a:pPr>
            <a:r>
              <a:t>Jumlah      : 4</a:t>
            </a:r>
          </a:p>
          <a:p>
            <a:pPr>
              <a:spcAft>
                <a:spcPts val="900"/>
              </a:spcAft>
              <a:defRPr sz="1700" b="0">
                <a:solidFill>
                  <a:srgbClr val="122039"/>
                </a:solidFill>
                <a:latin typeface="Consolas"/>
              </a:defRPr>
            </a:pPr>
            <a:r>
              <a:t>Subtotal    : Rp600.000</a:t>
            </a:r>
          </a:p>
          <a:p>
            <a:pPr>
              <a:spcAft>
                <a:spcPts val="900"/>
              </a:spcAft>
              <a:defRPr sz="1700" b="0">
                <a:solidFill>
                  <a:srgbClr val="122039"/>
                </a:solidFill>
                <a:latin typeface="Consolas"/>
              </a:defRPr>
            </a:pPr>
            <a:r>
              <a:t>Diskon 10%  : Rp60.000</a:t>
            </a:r>
          </a:p>
          <a:p>
            <a:pPr>
              <a:spcAft>
                <a:spcPts val="900"/>
              </a:spcAft>
              <a:defRPr sz="1700" b="0">
                <a:solidFill>
                  <a:srgbClr val="122039"/>
                </a:solidFill>
                <a:latin typeface="Consolas"/>
              </a:defRPr>
            </a:pPr>
            <a:r>
              <a:t>Total Bayar : Rp540.000</a:t>
            </a:r>
          </a:p>
          <a:p>
            <a:pPr>
              <a:spcAft>
                <a:spcPts val="900"/>
              </a:spcAft>
              <a:defRPr sz="1700" b="0">
                <a:solidFill>
                  <a:srgbClr val="122039"/>
                </a:solidFill>
                <a:latin typeface="Consolas"/>
              </a:defRPr>
            </a:pPr>
            <a:r>
              <a:t>Sisa Stok   : 6</a:t>
            </a:r>
          </a:p>
          <a:p>
            <a:pPr>
              <a:spcAft>
                <a:spcPts val="900"/>
              </a:spcAft>
              <a:defRPr sz="1700" b="0">
                <a:solidFill>
                  <a:srgbClr val="122039"/>
                </a:solidFill>
                <a:latin typeface="Consolas"/>
              </a:defRPr>
            </a:pPr>
            <a:r>
              <a:t>Transaksi berhasil!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2563EB"/>
                </a:solidFill>
                <a:latin typeface="Aptos"/>
              </a:defRPr>
            </a:pPr>
            <a:r>
              <a:t>TOTAL 100 POIN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039"/>
                </a:solidFill>
                <a:latin typeface="Aptos"/>
              </a:defRPr>
            </a:pPr>
            <a:r>
              <a:t>Rubrik Penilaian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6758B"/>
                </a:solidFill>
                <a:latin typeface="Aptos"/>
              </a:defRPr>
            </a:pPr>
            <a:r>
              <a:t>PEMROGRAMAN BERORIENTASI OBJEK  • 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6758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10789920" cy="475488"/>
          </a:xfrm>
          <a:prstGeom prst="round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563EB"/>
                </a:solidFill>
                <a:latin typeface="Aptos"/>
              </a:defRPr>
            </a:pPr>
            <a:r>
              <a:t>Aspek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184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563EB"/>
                </a:solidFill>
                <a:latin typeface="Aptos"/>
              </a:defRPr>
            </a:pPr>
            <a:r>
              <a:t>Mudah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6184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563EB"/>
                </a:solidFill>
                <a:latin typeface="Aptos"/>
              </a:defRPr>
            </a:pPr>
            <a:r>
              <a:t>Sedang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16184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563EB"/>
                </a:solidFill>
                <a:latin typeface="Aptos"/>
              </a:defRPr>
            </a:pPr>
            <a:r>
              <a:t>Sulit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48839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22039"/>
                </a:solidFill>
                <a:latin typeface="Aptos"/>
              </a:defRPr>
            </a:pPr>
            <a:r>
              <a:t>Class dan Object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1488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22039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1488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2203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21488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2203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633472"/>
            <a:ext cx="10789920" cy="475488"/>
          </a:xfrm>
          <a:prstGeom prst="round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2679191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22039"/>
                </a:solidFill>
                <a:latin typeface="Aptos"/>
              </a:defRPr>
            </a:pPr>
            <a:r>
              <a:t>Constructor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679191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2203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679191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2203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2679191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2203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209544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22039"/>
                </a:solidFill>
                <a:latin typeface="Aptos"/>
              </a:defRPr>
            </a:pPr>
            <a:r>
              <a:t>Encapsulation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20954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22039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20954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22039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320954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22039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694176"/>
            <a:ext cx="10789920" cy="475488"/>
          </a:xfrm>
          <a:prstGeom prst="round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373989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22039"/>
                </a:solidFill>
                <a:latin typeface="Aptos"/>
              </a:defRPr>
            </a:pPr>
            <a:r>
              <a:t>Method &amp; logika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73989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2203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73989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22039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373989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22039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27024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22039"/>
                </a:solidFill>
                <a:latin typeface="Aptos"/>
              </a:defRPr>
            </a:pPr>
            <a:r>
              <a:t>Validasi &amp;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2702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22039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2702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2203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42702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22039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4754879"/>
            <a:ext cx="10789920" cy="475488"/>
          </a:xfrm>
          <a:prstGeom prst="round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0120" y="4800599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22039"/>
                </a:solidFill>
                <a:latin typeface="Aptos"/>
              </a:defRPr>
            </a:pPr>
            <a:r>
              <a:t>Output &amp; kerapian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80059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2203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80059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2203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480059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2203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330951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563EB"/>
                </a:solidFill>
                <a:latin typeface="Aptos"/>
              </a:defRPr>
            </a:pPr>
            <a:r>
              <a:t>TOTAL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30951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563EB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5330951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563EB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0" y="5330951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563EB"/>
                </a:solidFill>
                <a:latin typeface="Aptos"/>
              </a:defRPr>
            </a:pPr>
            <a:r>
              <a:t>50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2563EB"/>
                </a:solidFill>
                <a:latin typeface="Aptos"/>
              </a:defRPr>
            </a:pPr>
            <a:r>
              <a:t>KUIS PRAKTIKUM PBO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2039"/>
                </a:solidFill>
                <a:latin typeface="Aptos"/>
              </a:defRPr>
            </a:pPr>
            <a:r>
              <a:t>Instruksi Pengumpulan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6758B"/>
                </a:solidFill>
                <a:latin typeface="Aptos"/>
              </a:defRPr>
            </a:pPr>
            <a:r>
              <a:t>PEMROGRAMAN BERORIENTASI OBJEK  • 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6758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122039"/>
                </a:solidFill>
                <a:latin typeface="Aptos"/>
              </a:defRPr>
            </a:pPr>
            <a:r>
              <a:t>•  Kerjakan ketiga soal secara individu dalam 90 menit.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50008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122039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Simpan</a:t>
            </a:r>
            <a:r>
              <a:rPr dirty="0"/>
              <a:t> </a:t>
            </a:r>
            <a:r>
              <a:rPr dirty="0" err="1"/>
              <a:t>setiap</a:t>
            </a:r>
            <a:r>
              <a:rPr dirty="0"/>
              <a:t> </a:t>
            </a:r>
            <a:r>
              <a:rPr dirty="0" err="1"/>
              <a:t>soal</a:t>
            </a:r>
            <a:r>
              <a:rPr dirty="0"/>
              <a:t> </a:t>
            </a:r>
            <a:r>
              <a:rPr dirty="0" err="1"/>
              <a:t>dalam</a:t>
            </a:r>
            <a:r>
              <a:rPr dirty="0"/>
              <a:t> folder </a:t>
            </a:r>
            <a:r>
              <a:rPr dirty="0" err="1"/>
              <a:t>terpisah</a:t>
            </a:r>
            <a:r>
              <a:rPr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0837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122039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Pastikan</a:t>
            </a:r>
            <a:r>
              <a:rPr dirty="0"/>
              <a:t> </a:t>
            </a:r>
            <a:r>
              <a:rPr dirty="0" err="1"/>
              <a:t>semua</a:t>
            </a:r>
            <a:r>
              <a:rPr dirty="0"/>
              <a:t> program </a:t>
            </a:r>
            <a:r>
              <a:rPr dirty="0" err="1"/>
              <a:t>dapat</a:t>
            </a:r>
            <a:r>
              <a:rPr dirty="0"/>
              <a:t> </a:t>
            </a:r>
            <a:r>
              <a:rPr dirty="0" err="1"/>
              <a:t>dijalankan</a:t>
            </a:r>
            <a:r>
              <a:rPr dirty="0"/>
              <a:t> </a:t>
            </a:r>
            <a:r>
              <a:rPr dirty="0" err="1"/>
              <a:t>tanpa</a:t>
            </a:r>
            <a:r>
              <a:rPr dirty="0"/>
              <a:t> error.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66744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122039"/>
                </a:solidFill>
                <a:latin typeface="Aptos"/>
              </a:defRPr>
            </a:pPr>
            <a:r>
              <a:rPr dirty="0"/>
              <a:t>•  Uji </a:t>
            </a:r>
            <a:r>
              <a:rPr dirty="0" err="1"/>
              <a:t>kondisi</a:t>
            </a:r>
            <a:r>
              <a:rPr dirty="0"/>
              <a:t> normal dan </a:t>
            </a:r>
            <a:r>
              <a:rPr dirty="0" err="1"/>
              <a:t>kondisi</a:t>
            </a:r>
            <a:r>
              <a:rPr dirty="0"/>
              <a:t> input </a:t>
            </a:r>
            <a:r>
              <a:rPr dirty="0" err="1"/>
              <a:t>tidak</a:t>
            </a:r>
            <a:r>
              <a:rPr dirty="0"/>
              <a:t> valid.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25112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122039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Kumpulkan</a:t>
            </a:r>
            <a:r>
              <a:rPr dirty="0"/>
              <a:t> source code Java (.java) dan screenshot output.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983479"/>
            <a:ext cx="1078992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122039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Penilaian</a:t>
            </a:r>
            <a:r>
              <a:rPr dirty="0"/>
              <a:t> </a:t>
            </a:r>
            <a:r>
              <a:rPr dirty="0" err="1"/>
              <a:t>memperhatikan</a:t>
            </a:r>
            <a:r>
              <a:rPr dirty="0"/>
              <a:t> </a:t>
            </a:r>
            <a:r>
              <a:rPr dirty="0" err="1"/>
              <a:t>ketepatan</a:t>
            </a:r>
            <a:r>
              <a:rPr dirty="0"/>
              <a:t> </a:t>
            </a:r>
            <a:r>
              <a:rPr dirty="0" err="1"/>
              <a:t>konsep</a:t>
            </a:r>
            <a:r>
              <a:rPr dirty="0"/>
              <a:t> dan </a:t>
            </a:r>
            <a:r>
              <a:rPr dirty="0" err="1"/>
              <a:t>kualitas</a:t>
            </a:r>
            <a:r>
              <a:rPr dirty="0"/>
              <a:t> </a:t>
            </a:r>
            <a:r>
              <a:rPr dirty="0" err="1"/>
              <a:t>implementasi</a:t>
            </a:r>
            <a:r>
              <a:rPr dirty="0"/>
              <a:t>.</a:t>
            </a:r>
          </a:p>
          <a:p>
            <a:pPr>
              <a:spcAft>
                <a:spcPts val="900"/>
              </a:spcAft>
              <a:defRPr sz="2000" b="0">
                <a:solidFill>
                  <a:srgbClr val="122039"/>
                </a:solidFill>
                <a:latin typeface="Aptos"/>
              </a:defRPr>
            </a:pPr>
            <a:endParaRPr lang="id-ID" dirty="0"/>
          </a:p>
          <a:p>
            <a:pPr>
              <a:spcAft>
                <a:spcPts val="900"/>
              </a:spcAft>
              <a:defRPr sz="2000" b="0">
                <a:solidFill>
                  <a:srgbClr val="122039"/>
                </a:solidFill>
                <a:latin typeface="Aptos"/>
              </a:defRPr>
            </a:pPr>
            <a:r>
              <a:rPr lang="id-ID" dirty="0" err="1"/>
              <a:t>Upload</a:t>
            </a:r>
            <a:r>
              <a:rPr lang="id-ID" dirty="0"/>
              <a:t> dalam </a:t>
            </a:r>
            <a:r>
              <a:rPr lang="id-ID" dirty="0" err="1"/>
              <a:t>elearning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Custom 1">
      <a:dk1>
        <a:srgbClr val="363636"/>
      </a:dk1>
      <a:lt1>
        <a:srgbClr val="FFFFFF"/>
      </a:lt1>
      <a:dk2>
        <a:srgbClr val="0E60AC"/>
      </a:dk2>
      <a:lt2>
        <a:srgbClr val="F2F2F2"/>
      </a:lt2>
      <a:accent1>
        <a:srgbClr val="EF7220"/>
      </a:accent1>
      <a:accent2>
        <a:srgbClr val="F5AA79"/>
      </a:accent2>
      <a:accent3>
        <a:srgbClr val="0E60AC"/>
      </a:accent3>
      <a:accent4>
        <a:srgbClr val="4BA0F0"/>
      </a:accent4>
      <a:accent5>
        <a:srgbClr val="99C9F6"/>
      </a:accent5>
      <a:accent6>
        <a:srgbClr val="A2A2A2"/>
      </a:accent6>
      <a:hlink>
        <a:srgbClr val="EF7220"/>
      </a:hlink>
      <a:folHlink>
        <a:srgbClr val="EF7220"/>
      </a:folHlink>
    </a:clrScheme>
    <a:fontScheme name="Font UEU Basic">
      <a:majorFont>
        <a:latin typeface="Tw Cen MT"/>
        <a:ea typeface=""/>
        <a:cs typeface=""/>
      </a:majorFont>
      <a:minorFont>
        <a:latin typeface="Tw Cen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PPT (2026)" id="{F47ED6EF-8188-4426-AACC-FF4AD28DE757}" vid="{8B4BBF22-4742-4EFE-8B86-1F416B97768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3_PPT_CSI601 - Arsitektur Berbasis Layanan (Qori Halimatul Hidayah, S.Pd., M.Kom)</Template>
  <TotalTime>15</TotalTime>
  <Words>642</Words>
  <Application>Microsoft Office PowerPoint</Application>
  <PresentationFormat>Layar Lebar</PresentationFormat>
  <Paragraphs>142</Paragraphs>
  <Slides>10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2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10</vt:i4>
      </vt:variant>
    </vt:vector>
  </HeadingPairs>
  <TitlesOfParts>
    <vt:vector size="13" baseType="lpstr">
      <vt:lpstr>Arial</vt:lpstr>
      <vt:lpstr>Tw Cen MT</vt:lpstr>
      <vt:lpstr>1_Office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Qori Hidayah</cp:lastModifiedBy>
  <cp:revision>3</cp:revision>
  <dcterms:created xsi:type="dcterms:W3CDTF">2013-01-27T09:14:16Z</dcterms:created>
  <dcterms:modified xsi:type="dcterms:W3CDTF">2026-10-27T01:25:38Z</dcterms:modified>
  <cp:category/>
</cp:coreProperties>
</file>