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95" r:id="rId3"/>
    <p:sldId id="309" r:id="rId4"/>
    <p:sldId id="2029" r:id="rId5"/>
    <p:sldId id="2030" r:id="rId6"/>
    <p:sldId id="2031" r:id="rId7"/>
    <p:sldId id="259" r:id="rId8"/>
    <p:sldId id="2033" r:id="rId9"/>
    <p:sldId id="2038" r:id="rId10"/>
    <p:sldId id="2032" r:id="rId11"/>
    <p:sldId id="263" r:id="rId12"/>
    <p:sldId id="264" r:id="rId13"/>
    <p:sldId id="2039" r:id="rId14"/>
    <p:sldId id="2022" r:id="rId15"/>
    <p:sldId id="2042" r:id="rId16"/>
    <p:sldId id="2043" r:id="rId17"/>
    <p:sldId id="2044" r:id="rId18"/>
    <p:sldId id="2046" r:id="rId19"/>
    <p:sldId id="2047" r:id="rId20"/>
    <p:sldId id="2049" r:id="rId21"/>
    <p:sldId id="2050" r:id="rId22"/>
    <p:sldId id="2051" r:id="rId23"/>
    <p:sldId id="2052" r:id="rId24"/>
    <p:sldId id="2053" r:id="rId25"/>
    <p:sldId id="2054" r:id="rId26"/>
    <p:sldId id="2055" r:id="rId27"/>
    <p:sldId id="2056" r:id="rId28"/>
    <p:sldId id="2057" r:id="rId29"/>
    <p:sldId id="2058" r:id="rId30"/>
    <p:sldId id="2059" r:id="rId31"/>
    <p:sldId id="2019" r:id="rId32"/>
    <p:sldId id="266" r:id="rId33"/>
    <p:sldId id="2062" r:id="rId34"/>
    <p:sldId id="2040" r:id="rId35"/>
    <p:sldId id="2063" r:id="rId36"/>
    <p:sldId id="2066" r:id="rId37"/>
    <p:sldId id="2067" r:id="rId38"/>
    <p:sldId id="2045" r:id="rId39"/>
    <p:sldId id="2071" r:id="rId40"/>
    <p:sldId id="2069" r:id="rId41"/>
    <p:sldId id="2073" r:id="rId42"/>
    <p:sldId id="2072" r:id="rId43"/>
    <p:sldId id="265" r:id="rId44"/>
    <p:sldId id="2074" r:id="rId45"/>
    <p:sldId id="2076" r:id="rId46"/>
    <p:sldId id="2075" r:id="rId47"/>
    <p:sldId id="2077" r:id="rId48"/>
    <p:sldId id="2078" r:id="rId49"/>
    <p:sldId id="2080" r:id="rId50"/>
    <p:sldId id="2081" r:id="rId51"/>
    <p:sldId id="2079" r:id="rId52"/>
    <p:sldId id="2083" r:id="rId53"/>
    <p:sldId id="2084" r:id="rId54"/>
    <p:sldId id="2082" r:id="rId55"/>
    <p:sldId id="294" r:id="rId5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h9EuQyagaA6UgANiLgm97Yp5Do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6"/>
  </p:normalViewPr>
  <p:slideViewPr>
    <p:cSldViewPr snapToGrid="0">
      <p:cViewPr varScale="1">
        <p:scale>
          <a:sx n="63" d="100"/>
          <a:sy n="63" d="100"/>
        </p:scale>
        <p:origin x="91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448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1578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9829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2067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3358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87978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3527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1902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8762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25980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86311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80625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00942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08529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820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60036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5203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79497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20093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52271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4" name="Google Shape;2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17529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7" name="Google Shape;2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53351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31626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4" name="Google Shape;2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9015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59142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05384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03589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84688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4" name="Google Shape;2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22474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53672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16786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08853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867329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22618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133436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563479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014997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910628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380054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676786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935893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2">
  <p:cSld name="Cover 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" name="Google Shape;20;p41"/>
          <p:cNvSpPr>
            <a:spLocks noGrp="1"/>
          </p:cNvSpPr>
          <p:nvPr>
            <p:ph type="pic" idx="2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  <a:noFill/>
          <a:ln>
            <a:noFill/>
          </a:ln>
        </p:spPr>
      </p:sp>
      <p:sp>
        <p:nvSpPr>
          <p:cNvPr id="21" name="Google Shape;21;p41"/>
          <p:cNvSpPr txBox="1">
            <a:spLocks noGrp="1"/>
          </p:cNvSpPr>
          <p:nvPr>
            <p:ph type="title"/>
          </p:nvPr>
        </p:nvSpPr>
        <p:spPr>
          <a:xfrm>
            <a:off x="588970" y="1773946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  <a:defRPr sz="5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1"/>
          <p:cNvSpPr txBox="1">
            <a:spLocks noGrp="1"/>
          </p:cNvSpPr>
          <p:nvPr>
            <p:ph type="body" idx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41"/>
          <p:cNvSpPr txBox="1">
            <a:spLocks noGrp="1"/>
          </p:cNvSpPr>
          <p:nvPr>
            <p:ph type="body" idx="3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1"/>
          <p:cNvSpPr/>
          <p:nvPr/>
        </p:nvSpPr>
        <p:spPr>
          <a:xfrm>
            <a:off x="588970" y="3975211"/>
            <a:ext cx="1659545" cy="4571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" name="Google Shape;25;p41"/>
          <p:cNvSpPr txBox="1">
            <a:spLocks noGrp="1"/>
          </p:cNvSpPr>
          <p:nvPr>
            <p:ph type="body" idx="4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6" name="Google Shape;26;p41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27" name="Google Shape;27;p41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8" name="Google Shape;28;p41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en Pengampu">
  <p:cSld name="Dosen Pengampu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" name="Google Shape;31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2"/>
          <p:cNvSpPr>
            <a:spLocks noGrp="1"/>
          </p:cNvSpPr>
          <p:nvPr>
            <p:ph type="pic" idx="2"/>
          </p:nvPr>
        </p:nvSpPr>
        <p:spPr>
          <a:xfrm>
            <a:off x="1745563" y="1842892"/>
            <a:ext cx="3063907" cy="3063908"/>
          </a:xfrm>
          <a:prstGeom prst="ellipse">
            <a:avLst/>
          </a:prstGeom>
          <a:noFill/>
          <a:ln>
            <a:noFill/>
          </a:ln>
        </p:spPr>
      </p:sp>
      <p:sp>
        <p:nvSpPr>
          <p:cNvPr id="33" name="Google Shape;33;p42"/>
          <p:cNvSpPr txBox="1">
            <a:spLocks noGrp="1"/>
          </p:cNvSpPr>
          <p:nvPr>
            <p:ph type="body" idx="1"/>
          </p:nvPr>
        </p:nvSpPr>
        <p:spPr>
          <a:xfrm>
            <a:off x="5154979" y="2275496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  <a:defRPr b="1">
                <a:solidFill>
                  <a:srgbClr val="0E60AC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2"/>
          <p:cNvSpPr txBox="1"/>
          <p:nvPr/>
        </p:nvSpPr>
        <p:spPr>
          <a:xfrm>
            <a:off x="5164108" y="1988095"/>
            <a:ext cx="3127989" cy="27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1629"/>
              </a:buClr>
              <a:buSzPts val="2000"/>
              <a:buFont typeface="Twentieth Century"/>
              <a:buNone/>
            </a:pPr>
            <a:r>
              <a:rPr lang="en-US" sz="20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Dosen Koordinator:</a:t>
            </a:r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body" idx="3"/>
          </p:nvPr>
        </p:nvSpPr>
        <p:spPr>
          <a:xfrm>
            <a:off x="5154979" y="3176643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  <a:defRPr b="1">
                <a:solidFill>
                  <a:srgbClr val="0E60AC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2"/>
          <p:cNvSpPr txBox="1"/>
          <p:nvPr/>
        </p:nvSpPr>
        <p:spPr>
          <a:xfrm>
            <a:off x="5164108" y="2889242"/>
            <a:ext cx="3127989" cy="27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1629"/>
              </a:buClr>
              <a:buSzPts val="2000"/>
              <a:buFont typeface="Twentieth Century"/>
              <a:buNone/>
            </a:pPr>
            <a:r>
              <a:rPr lang="en-US" sz="20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NID:</a:t>
            </a:r>
            <a:endParaRPr/>
          </a:p>
        </p:txBody>
      </p:sp>
      <p:sp>
        <p:nvSpPr>
          <p:cNvPr id="37" name="Google Shape;37;p42"/>
          <p:cNvSpPr txBox="1">
            <a:spLocks noGrp="1"/>
          </p:cNvSpPr>
          <p:nvPr>
            <p:ph type="body" idx="4"/>
          </p:nvPr>
        </p:nvSpPr>
        <p:spPr>
          <a:xfrm>
            <a:off x="5154979" y="4077790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  <a:defRPr b="1">
                <a:solidFill>
                  <a:srgbClr val="0E60AC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42"/>
          <p:cNvSpPr txBox="1"/>
          <p:nvPr/>
        </p:nvSpPr>
        <p:spPr>
          <a:xfrm>
            <a:off x="5164108" y="3790389"/>
            <a:ext cx="3127989" cy="27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1629"/>
              </a:buClr>
              <a:buSzPts val="2000"/>
              <a:buFont typeface="Twentieth Century"/>
              <a:buNone/>
            </a:pPr>
            <a:r>
              <a:rPr lang="en-US" sz="20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E-mail:</a:t>
            </a:r>
            <a:endParaRPr/>
          </a:p>
        </p:txBody>
      </p:sp>
      <p:grpSp>
        <p:nvGrpSpPr>
          <p:cNvPr id="39" name="Google Shape;39;p42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40" name="Google Shape;40;p42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41" name="Google Shape;41;p42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k (Sebelum UAS)">
  <p:cSld name="Topik (Sebelum UAS)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4"/>
          <p:cNvSpPr/>
          <p:nvPr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1" name="Google Shape;71;p44"/>
          <p:cNvSpPr txBox="1">
            <a:spLocks noGrp="1"/>
          </p:cNvSpPr>
          <p:nvPr>
            <p:ph type="body" idx="1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44"/>
          <p:cNvSpPr txBox="1"/>
          <p:nvPr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8</a:t>
            </a:r>
            <a:endParaRPr/>
          </a:p>
        </p:txBody>
      </p:sp>
      <p:sp>
        <p:nvSpPr>
          <p:cNvPr id="73" name="Google Shape;73;p44"/>
          <p:cNvSpPr/>
          <p:nvPr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4" name="Google Shape;74;p44"/>
          <p:cNvSpPr txBox="1">
            <a:spLocks noGrp="1"/>
          </p:cNvSpPr>
          <p:nvPr>
            <p:ph type="body" idx="2"/>
          </p:nvPr>
        </p:nvSpPr>
        <p:spPr>
          <a:xfrm>
            <a:off x="3593182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4"/>
          <p:cNvSpPr txBox="1"/>
          <p:nvPr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9</a:t>
            </a:r>
            <a:endParaRPr/>
          </a:p>
        </p:txBody>
      </p:sp>
      <p:sp>
        <p:nvSpPr>
          <p:cNvPr id="76" name="Google Shape;76;p44"/>
          <p:cNvSpPr/>
          <p:nvPr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7" name="Google Shape;77;p44"/>
          <p:cNvSpPr txBox="1">
            <a:spLocks noGrp="1"/>
          </p:cNvSpPr>
          <p:nvPr>
            <p:ph type="body" idx="3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44"/>
          <p:cNvSpPr txBox="1"/>
          <p:nvPr/>
        </p:nvSpPr>
        <p:spPr>
          <a:xfrm>
            <a:off x="6387656" y="1962504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10</a:t>
            </a:r>
            <a:endParaRPr/>
          </a:p>
        </p:txBody>
      </p:sp>
      <p:sp>
        <p:nvSpPr>
          <p:cNvPr id="79" name="Google Shape;79;p44"/>
          <p:cNvSpPr/>
          <p:nvPr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0" name="Google Shape;80;p44"/>
          <p:cNvSpPr txBox="1">
            <a:spLocks noGrp="1"/>
          </p:cNvSpPr>
          <p:nvPr>
            <p:ph type="body" idx="4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4"/>
          <p:cNvSpPr txBox="1"/>
          <p:nvPr/>
        </p:nvSpPr>
        <p:spPr>
          <a:xfrm>
            <a:off x="9179561" y="1962504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11</a:t>
            </a:r>
            <a:endParaRPr/>
          </a:p>
        </p:txBody>
      </p:sp>
      <p:sp>
        <p:nvSpPr>
          <p:cNvPr id="82" name="Google Shape;82;p44"/>
          <p:cNvSpPr/>
          <p:nvPr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3" name="Google Shape;83;p44"/>
          <p:cNvSpPr txBox="1">
            <a:spLocks noGrp="1"/>
          </p:cNvSpPr>
          <p:nvPr>
            <p:ph type="body" idx="5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44"/>
          <p:cNvSpPr txBox="1"/>
          <p:nvPr/>
        </p:nvSpPr>
        <p:spPr>
          <a:xfrm>
            <a:off x="801277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12</a:t>
            </a:r>
            <a:endParaRPr/>
          </a:p>
        </p:txBody>
      </p:sp>
      <p:sp>
        <p:nvSpPr>
          <p:cNvPr id="85" name="Google Shape;85;p44"/>
          <p:cNvSpPr/>
          <p:nvPr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6" name="Google Shape;86;p44"/>
          <p:cNvSpPr txBox="1">
            <a:spLocks noGrp="1"/>
          </p:cNvSpPr>
          <p:nvPr>
            <p:ph type="body" idx="6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44"/>
          <p:cNvSpPr txBox="1"/>
          <p:nvPr/>
        </p:nvSpPr>
        <p:spPr>
          <a:xfrm>
            <a:off x="3593182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13</a:t>
            </a:r>
            <a:endParaRPr/>
          </a:p>
        </p:txBody>
      </p:sp>
      <p:sp>
        <p:nvSpPr>
          <p:cNvPr id="88" name="Google Shape;88;p44"/>
          <p:cNvSpPr/>
          <p:nvPr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9" name="Google Shape;89;p44"/>
          <p:cNvSpPr txBox="1">
            <a:spLocks noGrp="1"/>
          </p:cNvSpPr>
          <p:nvPr>
            <p:ph type="body" idx="7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44"/>
          <p:cNvSpPr txBox="1"/>
          <p:nvPr/>
        </p:nvSpPr>
        <p:spPr>
          <a:xfrm>
            <a:off x="6387656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14</a:t>
            </a:r>
            <a:endParaRPr/>
          </a:p>
        </p:txBody>
      </p:sp>
      <p:sp>
        <p:nvSpPr>
          <p:cNvPr id="91" name="Google Shape;91;p44"/>
          <p:cNvSpPr/>
          <p:nvPr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2" name="Google Shape;92;p44"/>
          <p:cNvSpPr txBox="1"/>
          <p:nvPr/>
        </p:nvSpPr>
        <p:spPr>
          <a:xfrm>
            <a:off x="9179561" y="4139355"/>
            <a:ext cx="164660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Ujian Akhir</a:t>
            </a:r>
            <a:endParaRPr sz="2400" b="1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Semester</a:t>
            </a:r>
            <a:endParaRPr/>
          </a:p>
        </p:txBody>
      </p:sp>
      <p:sp>
        <p:nvSpPr>
          <p:cNvPr id="93" name="Google Shape;93;p44"/>
          <p:cNvSpPr/>
          <p:nvPr/>
        </p:nvSpPr>
        <p:spPr>
          <a:xfrm>
            <a:off x="571756" y="1068393"/>
            <a:ext cx="39118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Topik Sebelum UAS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ndahuluan">
  <p:cSld name="Pendahuluan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45"/>
          <p:cNvGrpSpPr/>
          <p:nvPr/>
        </p:nvGrpSpPr>
        <p:grpSpPr>
          <a:xfrm>
            <a:off x="838200" y="1071592"/>
            <a:ext cx="5999349" cy="794408"/>
            <a:chOff x="838200" y="544975"/>
            <a:chExt cx="5999349" cy="794408"/>
          </a:xfrm>
        </p:grpSpPr>
        <p:sp>
          <p:nvSpPr>
            <p:cNvPr id="97" name="Google Shape;97;p45"/>
            <p:cNvSpPr/>
            <p:nvPr/>
          </p:nvSpPr>
          <p:spPr>
            <a:xfrm>
              <a:off x="1282045" y="716437"/>
              <a:ext cx="5555504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8" name="Google Shape;98;p45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9" name="Google Shape;99;p45"/>
            <p:cNvSpPr/>
            <p:nvPr/>
          </p:nvSpPr>
          <p:spPr>
            <a:xfrm>
              <a:off x="1654410" y="569942"/>
              <a:ext cx="3273525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Pendahuluan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00" name="Google Shape;100;p4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83077" y="544975"/>
              <a:ext cx="665176" cy="7623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45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ujuan Pembelajaran">
  <p:cSld name="Tujuan Pembelajara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" name="Google Shape;104;p46"/>
          <p:cNvGrpSpPr/>
          <p:nvPr/>
        </p:nvGrpSpPr>
        <p:grpSpPr>
          <a:xfrm>
            <a:off x="753475" y="1125069"/>
            <a:ext cx="6438605" cy="769441"/>
            <a:chOff x="753475" y="569942"/>
            <a:chExt cx="6438605" cy="769441"/>
          </a:xfrm>
        </p:grpSpPr>
        <p:sp>
          <p:nvSpPr>
            <p:cNvPr id="105" name="Google Shape;105;p46"/>
            <p:cNvSpPr/>
            <p:nvPr/>
          </p:nvSpPr>
          <p:spPr>
            <a:xfrm>
              <a:off x="1282044" y="716437"/>
              <a:ext cx="5910035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" name="Google Shape;106;p46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7" name="Google Shape;107;p46"/>
            <p:cNvSpPr/>
            <p:nvPr/>
          </p:nvSpPr>
          <p:spPr>
            <a:xfrm>
              <a:off x="1654410" y="569942"/>
              <a:ext cx="5537670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Capaian Pembelajaran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08" name="Google Shape;108;p4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53475" y="649446"/>
              <a:ext cx="791900" cy="632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46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8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8"/>
          <p:cNvSpPr txBox="1"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nutup">
  <p:cSld name="Penutup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0" descr="Business people  clapping their hands at the meeting Premium Photo"/>
          <p:cNvPicPr preferRelativeResize="0"/>
          <p:nvPr/>
        </p:nvPicPr>
        <p:blipFill rotWithShape="1">
          <a:blip r:embed="rId2">
            <a:alphaModFix/>
          </a:blip>
          <a:srcRect r="8529"/>
          <a:stretch/>
        </p:blipFill>
        <p:spPr>
          <a:xfrm>
            <a:off x="2790216" y="-5350"/>
            <a:ext cx="9401784" cy="686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0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9" name="Google Shape;129;p50"/>
          <p:cNvSpPr/>
          <p:nvPr/>
        </p:nvSpPr>
        <p:spPr>
          <a:xfrm>
            <a:off x="1500193" y="1347793"/>
            <a:ext cx="4162414" cy="4162414"/>
          </a:xfrm>
          <a:prstGeom prst="ellipse">
            <a:avLst/>
          </a:prstGeom>
          <a:solidFill>
            <a:srgbClr val="EB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0" name="Google Shape;130;p50"/>
          <p:cNvSpPr txBox="1">
            <a:spLocks noGrp="1"/>
          </p:cNvSpPr>
          <p:nvPr>
            <p:ph type="ctrTitle"/>
          </p:nvPr>
        </p:nvSpPr>
        <p:spPr>
          <a:xfrm>
            <a:off x="2333732" y="2541902"/>
            <a:ext cx="3048000" cy="1768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1" name="Google Shape;131;p50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32" name="Google Shape;132;p50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33" name="Google Shape;133;p50"/>
            <p:cNvPicPr preferRelativeResize="0"/>
            <p:nvPr/>
          </p:nvPicPr>
          <p:blipFill rotWithShape="1">
            <a:blip r:embed="rId3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1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6" name="Google Shape;136;p51"/>
          <p:cNvSpPr>
            <a:spLocks noGrp="1"/>
          </p:cNvSpPr>
          <p:nvPr>
            <p:ph type="pic" idx="2"/>
          </p:nvPr>
        </p:nvSpPr>
        <p:spPr>
          <a:xfrm>
            <a:off x="0" y="1105260"/>
            <a:ext cx="4509370" cy="464642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1"/>
          <p:cNvSpPr txBox="1">
            <a:spLocks noGrp="1"/>
          </p:cNvSpPr>
          <p:nvPr>
            <p:ph type="title"/>
          </p:nvPr>
        </p:nvSpPr>
        <p:spPr>
          <a:xfrm>
            <a:off x="4968465" y="1610316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  <a:defRPr sz="5400" b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51"/>
          <p:cNvSpPr txBox="1">
            <a:spLocks noGrp="1"/>
          </p:cNvSpPr>
          <p:nvPr>
            <p:ph type="body" idx="1"/>
          </p:nvPr>
        </p:nvSpPr>
        <p:spPr>
          <a:xfrm>
            <a:off x="4968465" y="453951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400"/>
              <a:buNone/>
              <a:defRPr sz="2400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51"/>
          <p:cNvSpPr txBox="1">
            <a:spLocks noGrp="1"/>
          </p:cNvSpPr>
          <p:nvPr>
            <p:ph type="body" idx="3"/>
          </p:nvPr>
        </p:nvSpPr>
        <p:spPr>
          <a:xfrm>
            <a:off x="4968465" y="403445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7C30"/>
              </a:buClr>
              <a:buSzPts val="2800"/>
              <a:buNone/>
              <a:defRPr sz="2800" b="1">
                <a:solidFill>
                  <a:srgbClr val="EC7C3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51"/>
          <p:cNvSpPr/>
          <p:nvPr/>
        </p:nvSpPr>
        <p:spPr>
          <a:xfrm>
            <a:off x="4968465" y="3811581"/>
            <a:ext cx="1659545" cy="45719"/>
          </a:xfrm>
          <a:prstGeom prst="roundRect">
            <a:avLst>
              <a:gd name="adj" fmla="val 16667"/>
            </a:avLst>
          </a:prstGeom>
          <a:solidFill>
            <a:srgbClr val="EC7C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2" name="Google Shape;142;p51"/>
          <p:cNvSpPr txBox="1">
            <a:spLocks noGrp="1"/>
          </p:cNvSpPr>
          <p:nvPr>
            <p:ph type="body" idx="4"/>
          </p:nvPr>
        </p:nvSpPr>
        <p:spPr>
          <a:xfrm>
            <a:off x="4968464" y="110526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7C30"/>
              </a:buClr>
              <a:buSzPts val="2800"/>
              <a:buNone/>
              <a:defRPr sz="2800" b="1">
                <a:solidFill>
                  <a:srgbClr val="EC7C3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43" name="Google Shape;143;p51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44" name="Google Shape;144;p51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45" name="Google Shape;145;p51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omponen Penilaian">
  <p:cSld name="Komponen Penilaian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" name="Google Shape;148;p52"/>
          <p:cNvGrpSpPr/>
          <p:nvPr/>
        </p:nvGrpSpPr>
        <p:grpSpPr>
          <a:xfrm>
            <a:off x="838200" y="1125069"/>
            <a:ext cx="5999349" cy="769441"/>
            <a:chOff x="838200" y="569942"/>
            <a:chExt cx="5999349" cy="769441"/>
          </a:xfrm>
        </p:grpSpPr>
        <p:sp>
          <p:nvSpPr>
            <p:cNvPr id="149" name="Google Shape;149;p52"/>
            <p:cNvSpPr/>
            <p:nvPr/>
          </p:nvSpPr>
          <p:spPr>
            <a:xfrm>
              <a:off x="1282045" y="716437"/>
              <a:ext cx="5555504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50" name="Google Shape;150;p52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51" name="Google Shape;151;p52"/>
            <p:cNvSpPr/>
            <p:nvPr/>
          </p:nvSpPr>
          <p:spPr>
            <a:xfrm>
              <a:off x="1654410" y="569942"/>
              <a:ext cx="5068760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Komponen Penilaian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52" name="Google Shape;152;p5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21012" y="616587"/>
              <a:ext cx="589305" cy="67542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3"/>
          <p:cNvSpPr txBox="1">
            <a:spLocks noGrp="1"/>
          </p:cNvSpPr>
          <p:nvPr>
            <p:ph type="title"/>
          </p:nvPr>
        </p:nvSpPr>
        <p:spPr>
          <a:xfrm>
            <a:off x="831850" y="1389699"/>
            <a:ext cx="10515600" cy="161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6000"/>
              <a:buFont typeface="Twentieth Centur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53"/>
          <p:cNvSpPr txBox="1">
            <a:spLocks noGrp="1"/>
          </p:cNvSpPr>
          <p:nvPr>
            <p:ph type="body" idx="1"/>
          </p:nvPr>
        </p:nvSpPr>
        <p:spPr>
          <a:xfrm>
            <a:off x="831850" y="3185341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400"/>
              <a:buNone/>
              <a:defRPr sz="2400">
                <a:solidFill>
                  <a:srgbClr val="031629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2000"/>
              <a:buNone/>
              <a:defRPr sz="2000">
                <a:solidFill>
                  <a:srgbClr val="8E8E8E"/>
                </a:solidFill>
              </a:defRPr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800"/>
              <a:buNone/>
              <a:defRPr sz="1800">
                <a:solidFill>
                  <a:srgbClr val="8E8E8E"/>
                </a:solidFill>
              </a:defRPr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4"/>
          <p:cNvSpPr txBox="1"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5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5"/>
          <p:cNvSpPr txBox="1">
            <a:spLocks noGrp="1"/>
          </p:cNvSpPr>
          <p:nvPr>
            <p:ph type="body" idx="1"/>
          </p:nvPr>
        </p:nvSpPr>
        <p:spPr>
          <a:xfrm>
            <a:off x="839788" y="1772239"/>
            <a:ext cx="5157787" cy="65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800"/>
              <a:buNone/>
              <a:defRPr sz="2800" b="1">
                <a:solidFill>
                  <a:srgbClr val="0E60AC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4" name="Google Shape;164;p5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55"/>
          <p:cNvSpPr txBox="1">
            <a:spLocks noGrp="1"/>
          </p:cNvSpPr>
          <p:nvPr>
            <p:ph type="body" idx="3"/>
          </p:nvPr>
        </p:nvSpPr>
        <p:spPr>
          <a:xfrm>
            <a:off x="6172200" y="1772239"/>
            <a:ext cx="5183188" cy="65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800"/>
              <a:buNone/>
              <a:defRPr sz="2800" b="1">
                <a:solidFill>
                  <a:srgbClr val="0E60AC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6" name="Google Shape;166;p5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5"/>
          <p:cNvSpPr txBox="1"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6"/>
          <p:cNvSpPr txBox="1">
            <a:spLocks noGrp="1"/>
          </p:cNvSpPr>
          <p:nvPr>
            <p:ph type="title"/>
          </p:nvPr>
        </p:nvSpPr>
        <p:spPr>
          <a:xfrm>
            <a:off x="838200" y="960120"/>
            <a:ext cx="10515600" cy="193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1">
  <p:cSld name="Picture with Caption 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7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4" name="Google Shape;174;p57"/>
          <p:cNvSpPr>
            <a:spLocks noGrp="1"/>
          </p:cNvSpPr>
          <p:nvPr>
            <p:ph type="pic" idx="2"/>
          </p:nvPr>
        </p:nvSpPr>
        <p:spPr>
          <a:xfrm>
            <a:off x="5183188" y="1107481"/>
            <a:ext cx="5900448" cy="4800705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7"/>
          <p:cNvSpPr txBox="1">
            <a:spLocks noGrp="1"/>
          </p:cNvSpPr>
          <p:nvPr>
            <p:ph type="title"/>
          </p:nvPr>
        </p:nvSpPr>
        <p:spPr>
          <a:xfrm>
            <a:off x="802081" y="886379"/>
            <a:ext cx="3751066" cy="121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  <a:defRPr sz="3200">
                <a:solidFill>
                  <a:srgbClr val="FFC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7"/>
          <p:cNvSpPr txBox="1">
            <a:spLocks noGrp="1"/>
          </p:cNvSpPr>
          <p:nvPr>
            <p:ph type="body" idx="1"/>
          </p:nvPr>
        </p:nvSpPr>
        <p:spPr>
          <a:xfrm>
            <a:off x="802081" y="2264241"/>
            <a:ext cx="3751066" cy="364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grpSp>
        <p:nvGrpSpPr>
          <p:cNvPr id="178" name="Google Shape;178;p57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79" name="Google Shape;179;p57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80" name="Google Shape;180;p57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2">
  <p:cSld name="Picture with Caption 2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8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3" name="Google Shape;183;p58"/>
          <p:cNvSpPr/>
          <p:nvPr/>
        </p:nvSpPr>
        <p:spPr>
          <a:xfrm>
            <a:off x="1350627" y="973603"/>
            <a:ext cx="3777556" cy="26412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4" name="Google Shape;184;p58"/>
          <p:cNvSpPr>
            <a:spLocks noGrp="1"/>
          </p:cNvSpPr>
          <p:nvPr>
            <p:ph type="pic" idx="2"/>
          </p:nvPr>
        </p:nvSpPr>
        <p:spPr>
          <a:xfrm>
            <a:off x="1414021" y="1025025"/>
            <a:ext cx="3640619" cy="251816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58"/>
          <p:cNvSpPr txBox="1">
            <a:spLocks noGrp="1"/>
          </p:cNvSpPr>
          <p:nvPr>
            <p:ph type="title"/>
          </p:nvPr>
        </p:nvSpPr>
        <p:spPr>
          <a:xfrm>
            <a:off x="5817139" y="973603"/>
            <a:ext cx="3571959" cy="121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>
                <a:solidFill>
                  <a:srgbClr val="0E60A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58"/>
          <p:cNvSpPr txBox="1">
            <a:spLocks noGrp="1"/>
          </p:cNvSpPr>
          <p:nvPr>
            <p:ph type="body" idx="1"/>
          </p:nvPr>
        </p:nvSpPr>
        <p:spPr>
          <a:xfrm>
            <a:off x="5817139" y="2351465"/>
            <a:ext cx="4740881" cy="380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>
                <a:solidFill>
                  <a:srgbClr val="031629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88" name="Google Shape;188;p58"/>
          <p:cNvSpPr/>
          <p:nvPr/>
        </p:nvSpPr>
        <p:spPr>
          <a:xfrm>
            <a:off x="1350627" y="3762265"/>
            <a:ext cx="3777556" cy="26412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9" name="Google Shape;189;p58"/>
          <p:cNvSpPr>
            <a:spLocks noGrp="1"/>
          </p:cNvSpPr>
          <p:nvPr>
            <p:ph type="pic" idx="3"/>
          </p:nvPr>
        </p:nvSpPr>
        <p:spPr>
          <a:xfrm>
            <a:off x="1414021" y="3813687"/>
            <a:ext cx="3640619" cy="251816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90" name="Google Shape;190;p58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91" name="Google Shape;191;p58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92" name="Google Shape;192;p58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5">
  <p:cSld name="Picture with Caption 5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9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5" name="Google Shape;195;p59"/>
          <p:cNvSpPr>
            <a:spLocks noGrp="1"/>
          </p:cNvSpPr>
          <p:nvPr>
            <p:ph type="pic" idx="2"/>
          </p:nvPr>
        </p:nvSpPr>
        <p:spPr>
          <a:xfrm>
            <a:off x="569929" y="886379"/>
            <a:ext cx="4888191" cy="5021807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59"/>
          <p:cNvSpPr txBox="1">
            <a:spLocks noGrp="1"/>
          </p:cNvSpPr>
          <p:nvPr>
            <p:ph type="body" idx="1"/>
          </p:nvPr>
        </p:nvSpPr>
        <p:spPr>
          <a:xfrm>
            <a:off x="5918477" y="2264241"/>
            <a:ext cx="5280565" cy="364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2000"/>
              <a:buNone/>
              <a:defRPr sz="2000">
                <a:solidFill>
                  <a:srgbClr val="083866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8" name="Google Shape;198;p59"/>
          <p:cNvSpPr txBox="1">
            <a:spLocks noGrp="1"/>
          </p:cNvSpPr>
          <p:nvPr>
            <p:ph type="title"/>
          </p:nvPr>
        </p:nvSpPr>
        <p:spPr>
          <a:xfrm>
            <a:off x="5918476" y="867524"/>
            <a:ext cx="3470621" cy="121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>
                <a:solidFill>
                  <a:srgbClr val="0E60A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9" name="Google Shape;199;p59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200" name="Google Shape;200;p59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01" name="Google Shape;201;p59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Uraian Materi">
  <p:cSld name="Slide Uraian Materi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60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60"/>
          <p:cNvSpPr txBox="1"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3">
  <p:cSld name="Picture with Caption 3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1"/>
          <p:cNvSpPr>
            <a:spLocks noGrp="1"/>
          </p:cNvSpPr>
          <p:nvPr>
            <p:ph type="pic" idx="2"/>
          </p:nvPr>
        </p:nvSpPr>
        <p:spPr>
          <a:xfrm>
            <a:off x="770701" y="1762813"/>
            <a:ext cx="3356431" cy="3143468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61"/>
          <p:cNvSpPr>
            <a:spLocks noGrp="1"/>
          </p:cNvSpPr>
          <p:nvPr>
            <p:ph type="pic" idx="3"/>
          </p:nvPr>
        </p:nvSpPr>
        <p:spPr>
          <a:xfrm>
            <a:off x="4518071" y="1762813"/>
            <a:ext cx="3356431" cy="3143468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61"/>
          <p:cNvSpPr>
            <a:spLocks noGrp="1"/>
          </p:cNvSpPr>
          <p:nvPr>
            <p:ph type="pic" idx="4"/>
          </p:nvPr>
        </p:nvSpPr>
        <p:spPr>
          <a:xfrm>
            <a:off x="8265441" y="1762813"/>
            <a:ext cx="3356431" cy="3143468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61"/>
          <p:cNvSpPr txBox="1">
            <a:spLocks noGrp="1"/>
          </p:cNvSpPr>
          <p:nvPr>
            <p:ph type="body" idx="1"/>
          </p:nvPr>
        </p:nvSpPr>
        <p:spPr>
          <a:xfrm>
            <a:off x="770700" y="5090408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0">
                <a:solidFill>
                  <a:srgbClr val="031629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61"/>
          <p:cNvSpPr txBox="1">
            <a:spLocks noGrp="1"/>
          </p:cNvSpPr>
          <p:nvPr>
            <p:ph type="body" idx="5"/>
          </p:nvPr>
        </p:nvSpPr>
        <p:spPr>
          <a:xfrm>
            <a:off x="4518071" y="5090408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0">
                <a:solidFill>
                  <a:srgbClr val="031629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61"/>
          <p:cNvSpPr txBox="1">
            <a:spLocks noGrp="1"/>
          </p:cNvSpPr>
          <p:nvPr>
            <p:ph type="body" idx="6"/>
          </p:nvPr>
        </p:nvSpPr>
        <p:spPr>
          <a:xfrm>
            <a:off x="8265441" y="5090408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0">
                <a:solidFill>
                  <a:srgbClr val="031629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61"/>
          <p:cNvSpPr txBox="1">
            <a:spLocks noGrp="1"/>
          </p:cNvSpPr>
          <p:nvPr>
            <p:ph type="title"/>
          </p:nvPr>
        </p:nvSpPr>
        <p:spPr>
          <a:xfrm>
            <a:off x="770700" y="886120"/>
            <a:ext cx="858069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4">
  <p:cSld name="Picture with Caption 4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2"/>
          <p:cNvSpPr>
            <a:spLocks noGrp="1"/>
          </p:cNvSpPr>
          <p:nvPr>
            <p:ph type="pic" idx="2"/>
          </p:nvPr>
        </p:nvSpPr>
        <p:spPr>
          <a:xfrm>
            <a:off x="1930198" y="933253"/>
            <a:ext cx="8495847" cy="3664345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2"/>
          <p:cNvSpPr txBox="1">
            <a:spLocks noGrp="1"/>
          </p:cNvSpPr>
          <p:nvPr>
            <p:ph type="body" idx="1"/>
          </p:nvPr>
        </p:nvSpPr>
        <p:spPr>
          <a:xfrm>
            <a:off x="1930197" y="4751111"/>
            <a:ext cx="8495850" cy="145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0">
                <a:solidFill>
                  <a:srgbClr val="031629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sert Video">
  <p:cSld name="Insert Video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3"/>
          <p:cNvSpPr txBox="1">
            <a:spLocks noGrp="1"/>
          </p:cNvSpPr>
          <p:nvPr>
            <p:ph type="title"/>
          </p:nvPr>
        </p:nvSpPr>
        <p:spPr>
          <a:xfrm>
            <a:off x="2224726" y="404617"/>
            <a:ext cx="7117238" cy="701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63"/>
          <p:cNvSpPr>
            <a:spLocks noGrp="1"/>
          </p:cNvSpPr>
          <p:nvPr>
            <p:ph type="media" idx="2"/>
          </p:nvPr>
        </p:nvSpPr>
        <p:spPr>
          <a:xfrm>
            <a:off x="1576887" y="1319017"/>
            <a:ext cx="9184670" cy="5166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None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tihan">
  <p:cSld name="Latihan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5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7" name="Google Shape;227;p65"/>
          <p:cNvGrpSpPr/>
          <p:nvPr/>
        </p:nvGrpSpPr>
        <p:grpSpPr>
          <a:xfrm>
            <a:off x="838200" y="1108530"/>
            <a:ext cx="5999349" cy="769441"/>
            <a:chOff x="838200" y="1108530"/>
            <a:chExt cx="5999349" cy="769441"/>
          </a:xfrm>
        </p:grpSpPr>
        <p:sp>
          <p:nvSpPr>
            <p:cNvPr id="228" name="Google Shape;228;p65"/>
            <p:cNvSpPr/>
            <p:nvPr/>
          </p:nvSpPr>
          <p:spPr>
            <a:xfrm>
              <a:off x="1282045" y="1255025"/>
              <a:ext cx="5555504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29" name="Google Shape;229;p65"/>
            <p:cNvSpPr/>
            <p:nvPr/>
          </p:nvSpPr>
          <p:spPr>
            <a:xfrm>
              <a:off x="838200" y="1123041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0" name="Google Shape;230;p65"/>
            <p:cNvSpPr/>
            <p:nvPr/>
          </p:nvSpPr>
          <p:spPr>
            <a:xfrm>
              <a:off x="1654410" y="1108530"/>
              <a:ext cx="1923988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Latihan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31" name="Google Shape;231;p6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17419" y="1120499"/>
              <a:ext cx="650450" cy="7455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ftar Pustaka">
  <p:cSld name="Daftar Pustaka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" name="Google Shape;234;p66"/>
          <p:cNvGrpSpPr/>
          <p:nvPr/>
        </p:nvGrpSpPr>
        <p:grpSpPr>
          <a:xfrm>
            <a:off x="838200" y="1096559"/>
            <a:ext cx="5999349" cy="769441"/>
            <a:chOff x="838200" y="569942"/>
            <a:chExt cx="5999349" cy="769441"/>
          </a:xfrm>
        </p:grpSpPr>
        <p:sp>
          <p:nvSpPr>
            <p:cNvPr id="235" name="Google Shape;235;p66"/>
            <p:cNvSpPr/>
            <p:nvPr/>
          </p:nvSpPr>
          <p:spPr>
            <a:xfrm>
              <a:off x="1282045" y="716437"/>
              <a:ext cx="5555504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6" name="Google Shape;236;p66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7" name="Google Shape;237;p66"/>
            <p:cNvSpPr/>
            <p:nvPr/>
          </p:nvSpPr>
          <p:spPr>
            <a:xfrm>
              <a:off x="1654410" y="569942"/>
              <a:ext cx="3640740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Daftar Pustaka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38" name="Google Shape;238;p6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98017" y="661014"/>
              <a:ext cx="606720" cy="6293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" name="Google Shape;239;p66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opik (Sebelum U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01277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387656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179561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801277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3593182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6387656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9179561" y="4139355"/>
            <a:ext cx="1882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Ujian</a:t>
            </a:r>
            <a:r>
              <a:rPr lang="en-US" sz="2400" b="1" dirty="0">
                <a:solidFill>
                  <a:schemeClr val="bg1"/>
                </a:solidFill>
              </a:rPr>
              <a:t> Tengah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Semester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1756" y="804529"/>
            <a:ext cx="38248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/>
              <a:t>Topik</a:t>
            </a:r>
            <a:r>
              <a:rPr lang="en-US" sz="3600" b="1" dirty="0"/>
              <a:t> </a:t>
            </a:r>
            <a:r>
              <a:rPr lang="en-US" sz="3600" b="1" dirty="0" err="1"/>
              <a:t>Sebelum</a:t>
            </a:r>
            <a:r>
              <a:rPr lang="en-US" sz="3600" b="1" dirty="0"/>
              <a:t> UTS</a:t>
            </a:r>
          </a:p>
        </p:txBody>
      </p:sp>
    </p:spTree>
    <p:extLst>
      <p:ext uri="{BB962C8B-B14F-4D97-AF65-F5344CB8AC3E}">
        <p14:creationId xmlns:p14="http://schemas.microsoft.com/office/powerpoint/2010/main" val="214907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105706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97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24603" y="2217851"/>
            <a:ext cx="5529197" cy="1920647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 err="1"/>
              <a:t>Judul</a:t>
            </a:r>
            <a:br>
              <a:rPr lang="en-US" dirty="0"/>
            </a:br>
            <a:r>
              <a:rPr lang="en-US" dirty="0"/>
              <a:t>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499621"/>
            <a:ext cx="5316718" cy="585673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200849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 Topic 2">
  <p:cSld name="Sub Topic 2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3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5" name="Google Shape;85;p33"/>
          <p:cNvSpPr txBox="1">
            <a:spLocks noGrp="1"/>
          </p:cNvSpPr>
          <p:nvPr>
            <p:ph type="ctrTitle"/>
          </p:nvPr>
        </p:nvSpPr>
        <p:spPr>
          <a:xfrm>
            <a:off x="5824603" y="2614091"/>
            <a:ext cx="5529197" cy="19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3"/>
          <p:cNvSpPr>
            <a:spLocks noGrp="1"/>
          </p:cNvSpPr>
          <p:nvPr>
            <p:ph type="pic" idx="2"/>
          </p:nvPr>
        </p:nvSpPr>
        <p:spPr>
          <a:xfrm>
            <a:off x="0" y="1001270"/>
            <a:ext cx="5316718" cy="5856730"/>
          </a:xfrm>
          <a:prstGeom prst="flowChartDelay">
            <a:avLst/>
          </a:prstGeom>
          <a:noFill/>
          <a:ln>
            <a:noFill/>
          </a:ln>
        </p:spPr>
      </p:sp>
      <p:grpSp>
        <p:nvGrpSpPr>
          <p:cNvPr id="87" name="Google Shape;87;p33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88" name="Google Shape;88;p33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89" name="Google Shape;89;p33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4375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1" name="Google Shape;11;p40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0" y="5470264"/>
            <a:ext cx="12110720" cy="140073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0"/>
          <p:cNvSpPr txBox="1">
            <a:spLocks noGrp="1"/>
          </p:cNvSpPr>
          <p:nvPr>
            <p:ph type="title"/>
          </p:nvPr>
        </p:nvSpPr>
        <p:spPr>
          <a:xfrm>
            <a:off x="838200" y="922585"/>
            <a:ext cx="8547263" cy="70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  <a:defRPr sz="3600" b="1" i="0" u="none" strike="noStrike" cap="none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40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4" name="Google Shape;1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40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6" name="Google Shape;16;p40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7" name="Google Shape;17;p40"/>
            <p:cNvPicPr preferRelativeResize="0"/>
            <p:nvPr/>
          </p:nvPicPr>
          <p:blipFill rotWithShape="1">
            <a:blip r:embed="rId30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9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"/>
          <p:cNvSpPr txBox="1">
            <a:spLocks noGrp="1"/>
          </p:cNvSpPr>
          <p:nvPr>
            <p:ph type="title"/>
          </p:nvPr>
        </p:nvSpPr>
        <p:spPr>
          <a:xfrm>
            <a:off x="588969" y="1934409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</a:pPr>
            <a:r>
              <a:rPr lang="en-US" dirty="0"/>
              <a:t>OBJECT ORIENTED PROGRAMMING</a:t>
            </a:r>
          </a:p>
        </p:txBody>
      </p:sp>
      <p:sp>
        <p:nvSpPr>
          <p:cNvPr id="246" name="Google Shape;246;p1"/>
          <p:cNvSpPr txBox="1">
            <a:spLocks noGrp="1"/>
          </p:cNvSpPr>
          <p:nvPr>
            <p:ph type="body" idx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GB" dirty="0"/>
              <a:t>Data Type, Variable, Method and Expression</a:t>
            </a:r>
            <a:endParaRPr dirty="0"/>
          </a:p>
        </p:txBody>
      </p:sp>
      <p:sp>
        <p:nvSpPr>
          <p:cNvPr id="247" name="Google Shape;247;p1"/>
          <p:cNvSpPr txBox="1">
            <a:spLocks noGrp="1"/>
          </p:cNvSpPr>
          <p:nvPr>
            <p:ph type="body" idx="3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rPr lang="en-US" dirty="0" err="1"/>
              <a:t>Sesi</a:t>
            </a:r>
            <a:r>
              <a:rPr lang="en-US" dirty="0"/>
              <a:t> 2</a:t>
            </a:r>
            <a:endParaRPr dirty="0"/>
          </a:p>
        </p:txBody>
      </p:sp>
      <p:sp>
        <p:nvSpPr>
          <p:cNvPr id="248" name="Google Shape;248;p1"/>
          <p:cNvSpPr txBox="1">
            <a:spLocks noGrp="1"/>
          </p:cNvSpPr>
          <p:nvPr>
            <p:ph type="body" idx="4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rPr lang="en-US" dirty="0"/>
              <a:t>CSF308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endParaRPr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5E2D93E8-99FC-4B19-A883-0D5894D1CF85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6678" r="26678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5727C636-FCAD-4E0F-A617-467F1A8C6FD7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3156" r="13156"/>
          <a:stretch>
            <a:fillRect/>
          </a:stretch>
        </p:blipFill>
        <p:spPr>
          <a:xfrm>
            <a:off x="1746250" y="1843088"/>
            <a:ext cx="3063875" cy="3063875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3" name="Google Shape;253;p2"/>
          <p:cNvSpPr txBox="1">
            <a:spLocks noGrp="1"/>
          </p:cNvSpPr>
          <p:nvPr>
            <p:ph type="body" idx="1"/>
          </p:nvPr>
        </p:nvSpPr>
        <p:spPr>
          <a:xfrm>
            <a:off x="5154979" y="2275496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</a:pP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Dewi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Setiowati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,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A.Md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.,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S.Pd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.,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M.Tr.Kom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dirty="0"/>
          </a:p>
        </p:txBody>
      </p:sp>
      <p:sp>
        <p:nvSpPr>
          <p:cNvPr id="254" name="Google Shape;254;p2"/>
          <p:cNvSpPr txBox="1">
            <a:spLocks noGrp="1"/>
          </p:cNvSpPr>
          <p:nvPr>
            <p:ph type="body" idx="3"/>
          </p:nvPr>
        </p:nvSpPr>
        <p:spPr>
          <a:xfrm>
            <a:off x="5154979" y="3176643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8413</a:t>
            </a:r>
            <a:endParaRPr/>
          </a:p>
        </p:txBody>
      </p:sp>
      <p:sp>
        <p:nvSpPr>
          <p:cNvPr id="255" name="Google Shape;255;p2"/>
          <p:cNvSpPr txBox="1">
            <a:spLocks noGrp="1"/>
          </p:cNvSpPr>
          <p:nvPr>
            <p:ph type="body" idx="4"/>
          </p:nvPr>
        </p:nvSpPr>
        <p:spPr>
          <a:xfrm>
            <a:off x="5154979" y="4077790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dewi.setiowati@esaunggul.ac.id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2BDC101-739F-4807-A2C0-8274E0457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7033"/>
            <a:ext cx="10515600" cy="491394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D" sz="2400" b="1" dirty="0">
                <a:solidFill>
                  <a:schemeClr val="bg2"/>
                </a:solidFill>
              </a:rPr>
              <a:t>VISI​</a:t>
            </a:r>
            <a:endParaRPr lang="en-ID" sz="24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perguruan</a:t>
            </a:r>
            <a:r>
              <a:rPr lang="en-ID" sz="2400" dirty="0"/>
              <a:t> </a:t>
            </a:r>
            <a:r>
              <a:rPr lang="en-ID" sz="2400" dirty="0" err="1"/>
              <a:t>tinggi</a:t>
            </a:r>
            <a:r>
              <a:rPr lang="en-ID" sz="2400" dirty="0"/>
              <a:t> </a:t>
            </a:r>
            <a:r>
              <a:rPr lang="en-ID" sz="2400" dirty="0" err="1"/>
              <a:t>kelas</a:t>
            </a:r>
            <a:r>
              <a:rPr lang="en-ID" sz="2400" dirty="0"/>
              <a:t> dunia </a:t>
            </a:r>
            <a:r>
              <a:rPr lang="en-ID" sz="2400" dirty="0" err="1"/>
              <a:t>berbasis</a:t>
            </a:r>
            <a:r>
              <a:rPr lang="en-ID" sz="2400" dirty="0"/>
              <a:t> </a:t>
            </a:r>
            <a:r>
              <a:rPr lang="en-ID" sz="2400" dirty="0" err="1"/>
              <a:t>intelektualitas</a:t>
            </a:r>
            <a:r>
              <a:rPr lang="en-ID" sz="2400" dirty="0"/>
              <a:t>, </a:t>
            </a:r>
            <a:r>
              <a:rPr lang="en-ID" sz="2400" dirty="0" err="1"/>
              <a:t>kreatifitas</a:t>
            </a:r>
            <a:r>
              <a:rPr lang="en-ID" sz="2400" dirty="0"/>
              <a:t> dan </a:t>
            </a:r>
            <a:r>
              <a:rPr lang="en-ID" sz="2400" dirty="0" err="1"/>
              <a:t>kewirausahaan</a:t>
            </a:r>
            <a:r>
              <a:rPr lang="en-ID" sz="2400" dirty="0"/>
              <a:t>, yang </a:t>
            </a:r>
            <a:r>
              <a:rPr lang="en-ID" sz="2400" dirty="0" err="1"/>
              <a:t>unggul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mutu</a:t>
            </a:r>
            <a:r>
              <a:rPr lang="en-ID" sz="2400" dirty="0"/>
              <a:t> </a:t>
            </a:r>
            <a:r>
              <a:rPr lang="en-ID" sz="2400" dirty="0" err="1"/>
              <a:t>pengelolaan</a:t>
            </a:r>
            <a:r>
              <a:rPr lang="en-ID" sz="2400" dirty="0"/>
              <a:t> dan </a:t>
            </a:r>
            <a:r>
              <a:rPr lang="en-ID" sz="2400" dirty="0" err="1"/>
              <a:t>hasil</a:t>
            </a:r>
            <a:r>
              <a:rPr lang="en-ID" sz="2400" dirty="0"/>
              <a:t> </a:t>
            </a:r>
            <a:r>
              <a:rPr lang="en-ID" sz="2400" dirty="0" err="1"/>
              <a:t>pelaksanaan</a:t>
            </a:r>
            <a:r>
              <a:rPr lang="en-ID" sz="2400" dirty="0"/>
              <a:t> </a:t>
            </a:r>
            <a:r>
              <a:rPr lang="en-ID" sz="2400" dirty="0" err="1"/>
              <a:t>Tridarma</a:t>
            </a:r>
            <a:r>
              <a:rPr lang="en-ID" sz="2400" dirty="0"/>
              <a:t> </a:t>
            </a:r>
            <a:r>
              <a:rPr lang="en-ID" sz="2400" dirty="0" err="1"/>
              <a:t>Perguruan</a:t>
            </a:r>
            <a:r>
              <a:rPr lang="en-ID" sz="2400" dirty="0"/>
              <a:t> Tinggi.​</a:t>
            </a:r>
          </a:p>
          <a:p>
            <a:pPr marL="0" indent="0">
              <a:buNone/>
            </a:pPr>
            <a:endParaRPr lang="en-ID" sz="2400" dirty="0"/>
          </a:p>
          <a:p>
            <a:pPr marL="0" indent="0" algn="ctr">
              <a:buNone/>
            </a:pPr>
            <a:r>
              <a:rPr lang="en-ID" sz="2400" b="1" dirty="0">
                <a:solidFill>
                  <a:schemeClr val="bg2"/>
                </a:solidFill>
              </a:rPr>
              <a:t>MISI</a:t>
            </a:r>
            <a:r>
              <a:rPr lang="en-ID" sz="2400" b="1" dirty="0">
                <a:solidFill>
                  <a:schemeClr val="accent6"/>
                </a:solidFill>
              </a:rPr>
              <a:t>​</a:t>
            </a:r>
            <a:endParaRPr lang="en-ID" sz="2400" dirty="0"/>
          </a:p>
          <a:p>
            <a:r>
              <a:rPr lang="en-ID" sz="2400" dirty="0" err="1"/>
              <a:t>Menyelenggarakan</a:t>
            </a:r>
            <a:r>
              <a:rPr lang="en-ID" sz="2400" dirty="0"/>
              <a:t> </a:t>
            </a:r>
            <a:r>
              <a:rPr lang="en-ID" sz="2400" dirty="0" err="1"/>
              <a:t>pendidikan</a:t>
            </a:r>
            <a:r>
              <a:rPr lang="en-ID" sz="2400" dirty="0"/>
              <a:t> </a:t>
            </a:r>
            <a:r>
              <a:rPr lang="en-ID" sz="2400" dirty="0" err="1"/>
              <a:t>tinggi</a:t>
            </a:r>
            <a:r>
              <a:rPr lang="en-ID" sz="2400" dirty="0"/>
              <a:t> yang </a:t>
            </a:r>
            <a:r>
              <a:rPr lang="en-ID" sz="2400" dirty="0" err="1"/>
              <a:t>bermutu</a:t>
            </a:r>
            <a:r>
              <a:rPr lang="en-ID" sz="2400" dirty="0"/>
              <a:t> dan </a:t>
            </a:r>
            <a:r>
              <a:rPr lang="en-ID" sz="2400" dirty="0" err="1"/>
              <a:t>relevan</a:t>
            </a:r>
            <a:r>
              <a:rPr lang="en-ID" sz="2400" dirty="0"/>
              <a:t>​</a:t>
            </a:r>
          </a:p>
          <a:p>
            <a:r>
              <a:rPr lang="en-ID" sz="2400" dirty="0" err="1"/>
              <a:t>Menciptakan</a:t>
            </a:r>
            <a:r>
              <a:rPr lang="en-ID" sz="2400" dirty="0"/>
              <a:t> </a:t>
            </a:r>
            <a:r>
              <a:rPr lang="en-ID" sz="2400" dirty="0" err="1"/>
              <a:t>suasana</a:t>
            </a:r>
            <a:r>
              <a:rPr lang="en-ID" sz="2400" dirty="0"/>
              <a:t> </a:t>
            </a:r>
            <a:r>
              <a:rPr lang="en-ID" sz="2400" dirty="0" err="1"/>
              <a:t>akademik</a:t>
            </a:r>
            <a:r>
              <a:rPr lang="en-ID" sz="2400" dirty="0"/>
              <a:t> yang </a:t>
            </a:r>
            <a:r>
              <a:rPr lang="en-ID" sz="2400" dirty="0" err="1"/>
              <a:t>kondusif</a:t>
            </a:r>
            <a:r>
              <a:rPr lang="en-ID" sz="2400" dirty="0"/>
              <a:t>​</a:t>
            </a:r>
          </a:p>
          <a:p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pelayanan</a:t>
            </a:r>
            <a:r>
              <a:rPr lang="en-ID" sz="2400" dirty="0"/>
              <a:t> prima </a:t>
            </a:r>
            <a:r>
              <a:rPr lang="en-ID" sz="2400" dirty="0" err="1"/>
              <a:t>kepada</a:t>
            </a:r>
            <a:r>
              <a:rPr lang="en-ID" sz="2400" dirty="0"/>
              <a:t> </a:t>
            </a:r>
            <a:r>
              <a:rPr lang="en-ID" sz="2400" dirty="0" err="1"/>
              <a:t>seluruh</a:t>
            </a:r>
            <a:r>
              <a:rPr lang="en-ID" sz="2400" dirty="0"/>
              <a:t> </a:t>
            </a:r>
            <a:r>
              <a:rPr lang="en-ID" sz="2400" dirty="0" err="1"/>
              <a:t>pemangku</a:t>
            </a:r>
            <a:r>
              <a:rPr lang="en-ID" sz="2400" dirty="0"/>
              <a:t> </a:t>
            </a:r>
            <a:r>
              <a:rPr lang="en-ID" sz="2400" dirty="0" err="1"/>
              <a:t>kepentingan</a:t>
            </a:r>
            <a:r>
              <a:rPr lang="en-ID" sz="2400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4619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81728" y="1011677"/>
            <a:ext cx="5382282" cy="73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College Contract</a:t>
            </a:r>
            <a:endParaRPr dirty="0"/>
          </a:p>
        </p:txBody>
      </p:sp>
      <p:sp>
        <p:nvSpPr>
          <p:cNvPr id="6" name="Google Shape;278;p6">
            <a:extLst>
              <a:ext uri="{FF2B5EF4-FFF2-40B4-BE49-F238E27FC236}">
                <a16:creationId xmlns:a16="http://schemas.microsoft.com/office/drawing/2014/main" id="{8E5C8D1D-465C-425B-A892-6223D508DE3A}"/>
              </a:ext>
            </a:extLst>
          </p:cNvPr>
          <p:cNvSpPr txBox="1">
            <a:spLocks/>
          </p:cNvSpPr>
          <p:nvPr/>
        </p:nvSpPr>
        <p:spPr>
          <a:xfrm>
            <a:off x="781728" y="1979702"/>
            <a:ext cx="10628544" cy="4313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-457200">
              <a:lnSpc>
                <a:spcPct val="100000"/>
              </a:lnSpc>
              <a:spcBef>
                <a:spcPts val="0"/>
              </a:spcBef>
              <a:buClr>
                <a:srgbClr val="CC9900"/>
              </a:buClr>
              <a:buSzPts val="1300"/>
              <a:buFont typeface="+mj-lt"/>
              <a:buAutoNum type="arabicPeriod"/>
            </a:pPr>
            <a:r>
              <a:rPr lang="en-GB" sz="2400" dirty="0">
                <a:solidFill>
                  <a:srgbClr val="1F2328"/>
                </a:solidFill>
              </a:rPr>
              <a:t>Students are required to attend or join the class on time with a maximum </a:t>
            </a:r>
            <a:r>
              <a:rPr lang="en-GB" sz="2400" b="1" dirty="0">
                <a:solidFill>
                  <a:srgbClr val="FF0000"/>
                </a:solidFill>
              </a:rPr>
              <a:t>delay of 15 minutes</a:t>
            </a:r>
            <a:r>
              <a:rPr lang="en-GB" sz="2400" dirty="0">
                <a:solidFill>
                  <a:srgbClr val="1F2328"/>
                </a:solidFill>
              </a:rPr>
              <a:t>.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Clr>
                <a:srgbClr val="CC9900"/>
              </a:buClr>
              <a:buSzPts val="1300"/>
              <a:buFont typeface="+mj-lt"/>
              <a:buAutoNum type="arabicPeriod"/>
            </a:pPr>
            <a:r>
              <a:rPr lang="en-GB" sz="2400" dirty="0">
                <a:solidFill>
                  <a:srgbClr val="1F2328"/>
                </a:solidFill>
              </a:rPr>
              <a:t>Every student's class is required to do a presence </a:t>
            </a:r>
            <a:r>
              <a:rPr lang="en-GB" sz="2400" b="1" dirty="0">
                <a:solidFill>
                  <a:schemeClr val="bg2"/>
                </a:solidFill>
              </a:rPr>
              <a:t>scan QR Code on SIAKAD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Clr>
                <a:srgbClr val="CC9900"/>
              </a:buClr>
              <a:buSzPts val="1300"/>
              <a:buFont typeface="+mj-lt"/>
              <a:buAutoNum type="arabicPeriod"/>
            </a:pPr>
            <a:r>
              <a:rPr lang="en-GB" sz="2400" dirty="0">
                <a:solidFill>
                  <a:srgbClr val="1F2328"/>
                </a:solidFill>
              </a:rPr>
              <a:t>Students should attend at least 80% of the scheduled lectures to be able to take the Final test.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CC9900"/>
              </a:buClr>
              <a:buSzPts val="1300"/>
              <a:buFont typeface="Twentieth Century"/>
              <a:buNone/>
            </a:pPr>
            <a:endParaRPr lang="en-US" sz="2400" dirty="0">
              <a:solidFill>
                <a:srgbClr val="1F23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39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81728" y="996554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Assessment</a:t>
            </a:r>
            <a:endParaRPr dirty="0"/>
          </a:p>
        </p:txBody>
      </p:sp>
      <p:sp>
        <p:nvSpPr>
          <p:cNvPr id="6" name="Google Shape;278;p6">
            <a:extLst>
              <a:ext uri="{FF2B5EF4-FFF2-40B4-BE49-F238E27FC236}">
                <a16:creationId xmlns:a16="http://schemas.microsoft.com/office/drawing/2014/main" id="{8E5C8D1D-465C-425B-A892-6223D508DE3A}"/>
              </a:ext>
            </a:extLst>
          </p:cNvPr>
          <p:cNvSpPr txBox="1">
            <a:spLocks/>
          </p:cNvSpPr>
          <p:nvPr/>
        </p:nvSpPr>
        <p:spPr>
          <a:xfrm>
            <a:off x="781728" y="2030966"/>
            <a:ext cx="10628544" cy="318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88900" indent="0" algn="just">
              <a:buNone/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Coursework evaluation will be weighted as follows:</a:t>
            </a:r>
          </a:p>
          <a:p>
            <a:pPr marL="88900" indent="0" algn="just">
              <a:buNone/>
            </a:pPr>
            <a:endParaRPr lang="en-ID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Mid-Term Examination 				 			10%</a:t>
            </a:r>
            <a:endParaRPr lang="en-ID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Final Examination 	 				 			10 %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Final Project									 50%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Others (class participation 10%,</a:t>
            </a:r>
            <a:r>
              <a:rPr lang="fi-FI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quiz 10%, practical assignments 10%)</a:t>
            </a:r>
            <a:r>
              <a:rPr lang="fi-FI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fi-FI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30 </a:t>
            </a: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ID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US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Total  									100%</a:t>
            </a:r>
            <a:endParaRPr lang="en-ID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24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tx1"/>
                </a:solidFill>
              </a:rPr>
              <a:t>Introduction to Object Oriented Programming</a:t>
            </a:r>
          </a:p>
          <a:p>
            <a:br>
              <a:rPr lang="en-US" sz="1800" dirty="0"/>
            </a:br>
            <a:endParaRPr lang="en-US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0" u="none" strike="noStrike" dirty="0">
                <a:solidFill>
                  <a:srgbClr val="0070C0"/>
                </a:solidFill>
                <a:effectLst/>
              </a:rPr>
              <a:t>Data Type, Variable, Method and Expression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ID" sz="1800" b="0" u="none" strike="noStrike" dirty="0">
                <a:solidFill>
                  <a:srgbClr val="000000"/>
                </a:solidFill>
                <a:effectLst/>
              </a:rPr>
              <a:t>Control Statement</a:t>
            </a:r>
            <a:endParaRPr lang="en-US" sz="2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ID" sz="1800" b="0" u="none" strike="noStrike" dirty="0">
                <a:solidFill>
                  <a:srgbClr val="000000"/>
                </a:solidFill>
                <a:effectLst/>
              </a:rPr>
              <a:t>Function and Parameter</a:t>
            </a:r>
            <a:endParaRPr lang="en-US" sz="20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ID" sz="1800" b="0" i="1" u="none" strike="noStrike" dirty="0">
                <a:solidFill>
                  <a:srgbClr val="000000"/>
                </a:solidFill>
                <a:effectLst/>
              </a:rPr>
              <a:t>Encapsulation (Concept)</a:t>
            </a:r>
            <a:endParaRPr lang="en-US" sz="2000" i="1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0" i="1" u="none" strike="noStrike" dirty="0">
                <a:solidFill>
                  <a:srgbClr val="000000"/>
                </a:solidFill>
                <a:effectLst/>
              </a:rPr>
              <a:t> Implementation Encapsulations In Case Study</a:t>
            </a:r>
            <a:endParaRPr lang="en-US" sz="1900" i="1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ID" sz="1800" b="0" i="1" u="none" strike="noStrike" dirty="0">
                <a:solidFill>
                  <a:srgbClr val="000000"/>
                </a:solidFill>
                <a:effectLst/>
              </a:rPr>
              <a:t>Pointer and Memory Management</a:t>
            </a:r>
            <a:endParaRPr lang="en-US" sz="1900" i="1" dirty="0"/>
          </a:p>
        </p:txBody>
      </p:sp>
      <p:sp>
        <p:nvSpPr>
          <p:cNvPr id="9" name="Rectangle 8"/>
          <p:cNvSpPr/>
          <p:nvPr/>
        </p:nvSpPr>
        <p:spPr>
          <a:xfrm>
            <a:off x="3449388" y="1840832"/>
            <a:ext cx="2531165" cy="1588168"/>
          </a:xfrm>
          <a:prstGeom prst="rect">
            <a:avLst/>
          </a:prstGeom>
          <a:noFill/>
          <a:ln w="57150">
            <a:solidFill>
              <a:srgbClr val="0E60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4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"/>
          <p:cNvSpPr txBox="1">
            <a:spLocks noGrp="1"/>
          </p:cNvSpPr>
          <p:nvPr>
            <p:ph type="body" idx="1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Inheritance Basic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74" name="Google Shape;274;p4"/>
          <p:cNvSpPr txBox="1">
            <a:spLocks noGrp="1"/>
          </p:cNvSpPr>
          <p:nvPr>
            <p:ph type="body" idx="3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Polymorphism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75" name="Google Shape;275;p4"/>
          <p:cNvSpPr txBox="1">
            <a:spLocks noGrp="1"/>
          </p:cNvSpPr>
          <p:nvPr>
            <p:ph type="body" idx="4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Exception Handling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76" name="Google Shape;276;p4"/>
          <p:cNvSpPr txBox="1">
            <a:spLocks noGrp="1"/>
          </p:cNvSpPr>
          <p:nvPr>
            <p:ph type="body" idx="5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Standard Template Library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77" name="Google Shape;277;p4"/>
          <p:cNvSpPr txBox="1">
            <a:spLocks noGrp="1"/>
          </p:cNvSpPr>
          <p:nvPr>
            <p:ph type="body" idx="6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Class Presentation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78" name="Google Shape;278;p4"/>
          <p:cNvSpPr txBox="1">
            <a:spLocks noGrp="1"/>
          </p:cNvSpPr>
          <p:nvPr>
            <p:ph type="body" idx="7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Class Presentation and </a:t>
            </a:r>
            <a:r>
              <a:rPr lang="en-US" sz="1800" dirty="0" err="1">
                <a:solidFill>
                  <a:schemeClr val="tx1"/>
                </a:solidFill>
              </a:rPr>
              <a:t>Cource</a:t>
            </a:r>
            <a:r>
              <a:rPr lang="en-US" sz="1800" dirty="0">
                <a:solidFill>
                  <a:schemeClr val="tx1"/>
                </a:solidFill>
              </a:rPr>
              <a:t> Review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3D249-B2EC-4206-8FF3-9388C49AF8B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560766" y="2394949"/>
            <a:ext cx="2243579" cy="932713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Inheritance Details</a:t>
            </a:r>
          </a:p>
          <a:p>
            <a:r>
              <a:rPr lang="en-US" sz="1800" dirty="0">
                <a:solidFill>
                  <a:schemeClr val="tx1"/>
                </a:solidFill>
              </a:rPr>
              <a:t>(Case Study)</a:t>
            </a:r>
            <a:endParaRPr lang="en-ID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1629"/>
              </a:buClr>
              <a:buSzPts val="2200"/>
              <a:buNone/>
            </a:pPr>
            <a:r>
              <a:rPr lang="en-US" b="1" dirty="0"/>
              <a:t>Setelah </a:t>
            </a:r>
            <a:r>
              <a:rPr lang="en-US" b="1" dirty="0" err="1"/>
              <a:t>mempelajari</a:t>
            </a:r>
            <a:r>
              <a:rPr lang="en-US" b="1" dirty="0"/>
              <a:t> </a:t>
            </a:r>
            <a:r>
              <a:rPr lang="en-US" b="1" dirty="0" err="1"/>
              <a:t>materi</a:t>
            </a:r>
            <a:r>
              <a:rPr lang="en-US" b="1" dirty="0"/>
              <a:t> pada </a:t>
            </a:r>
            <a:r>
              <a:rPr lang="en-US" b="1" dirty="0" err="1"/>
              <a:t>pertemuan</a:t>
            </a:r>
            <a:r>
              <a:rPr lang="en-US" b="1" dirty="0"/>
              <a:t> </a:t>
            </a:r>
            <a:r>
              <a:rPr lang="en-US" b="1" dirty="0" err="1"/>
              <a:t>ini</a:t>
            </a:r>
            <a:r>
              <a:rPr lang="en-US" b="1" dirty="0"/>
              <a:t>, </a:t>
            </a:r>
            <a:r>
              <a:rPr lang="en-US" b="1" dirty="0" err="1"/>
              <a:t>diharapkan</a:t>
            </a:r>
            <a:r>
              <a:rPr lang="en-US" b="1" dirty="0"/>
              <a:t> </a:t>
            </a:r>
            <a:r>
              <a:rPr lang="en-US" b="1" dirty="0" err="1"/>
              <a:t>mahasiswa</a:t>
            </a:r>
            <a:r>
              <a:rPr lang="en-US" b="1" dirty="0"/>
              <a:t> :</a:t>
            </a:r>
            <a:endParaRPr dirty="0"/>
          </a:p>
          <a:p>
            <a:pPr marL="914400" lvl="1" indent="-457200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</a:pPr>
            <a:r>
              <a:rPr lang="en-US" dirty="0"/>
              <a:t>Mampu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Data, </a:t>
            </a:r>
            <a:r>
              <a:rPr lang="en-US" dirty="0" err="1"/>
              <a:t>Variabel</a:t>
            </a:r>
            <a:r>
              <a:rPr lang="en-US" dirty="0"/>
              <a:t>, Method, dan </a:t>
            </a:r>
            <a:r>
              <a:rPr lang="en-US" dirty="0" err="1"/>
              <a:t>Ekspresi</a:t>
            </a:r>
            <a:endParaRPr lang="en-US" dirty="0"/>
          </a:p>
          <a:p>
            <a:pPr lvl="1" indent="-457200">
              <a:lnSpc>
                <a:spcPct val="100000"/>
              </a:lnSpc>
              <a:buFont typeface="Twentieth Century"/>
              <a:buAutoNum type="arabicPeriod"/>
            </a:pPr>
            <a:r>
              <a:rPr lang="en-US" dirty="0"/>
              <a:t>Mampu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Data, </a:t>
            </a:r>
            <a:r>
              <a:rPr lang="en-US" dirty="0" err="1"/>
              <a:t>Variabel</a:t>
            </a:r>
            <a:r>
              <a:rPr lang="en-US" dirty="0"/>
              <a:t>, Method, </a:t>
            </a:r>
            <a:r>
              <a:rPr lang="en-US" dirty="0" err="1"/>
              <a:t>Ekspresi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Java (NetBeans)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"/>
          <p:cNvSpPr/>
          <p:nvPr/>
        </p:nvSpPr>
        <p:spPr>
          <a:xfrm>
            <a:off x="7255565" y="2120790"/>
            <a:ext cx="4022035" cy="3298703"/>
          </a:xfrm>
          <a:prstGeom prst="rect">
            <a:avLst/>
          </a:prstGeom>
          <a:solidFill>
            <a:srgbClr val="CDE5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6" name="Google Shape;286;p5"/>
          <p:cNvSpPr txBox="1">
            <a:spLocks noGrp="1"/>
          </p:cNvSpPr>
          <p:nvPr>
            <p:ph type="body" idx="1"/>
          </p:nvPr>
        </p:nvSpPr>
        <p:spPr>
          <a:xfrm>
            <a:off x="914400" y="2120791"/>
            <a:ext cx="5902036" cy="398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 b="1" dirty="0" err="1">
                <a:solidFill>
                  <a:schemeClr val="dk1"/>
                </a:solidFill>
              </a:rPr>
              <a:t>Tipe</a:t>
            </a:r>
            <a:r>
              <a:rPr lang="en-US" sz="1800" b="1" dirty="0">
                <a:solidFill>
                  <a:schemeClr val="dk1"/>
                </a:solidFill>
              </a:rPr>
              <a:t> Data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adalah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klasifikasi</a:t>
            </a:r>
            <a:r>
              <a:rPr lang="en-US" sz="1800" dirty="0">
                <a:solidFill>
                  <a:schemeClr val="dk1"/>
                </a:solidFill>
              </a:rPr>
              <a:t> value </a:t>
            </a:r>
            <a:r>
              <a:rPr lang="en-US" sz="1800" dirty="0" err="1">
                <a:solidFill>
                  <a:schemeClr val="dk1"/>
                </a:solidFill>
              </a:rPr>
              <a:t>suatu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variabel</a:t>
            </a:r>
            <a:r>
              <a:rPr lang="en-US" sz="1800" dirty="0">
                <a:solidFill>
                  <a:schemeClr val="dk1"/>
                </a:solidFill>
              </a:rPr>
              <a:t> yang </a:t>
            </a:r>
            <a:r>
              <a:rPr lang="en-US" sz="1800" dirty="0" err="1">
                <a:solidFill>
                  <a:schemeClr val="dk1"/>
                </a:solidFill>
              </a:rPr>
              <a:t>membantu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operasi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komputer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untuk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mengenali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nilai</a:t>
            </a:r>
            <a:r>
              <a:rPr lang="en-US" sz="1800" dirty="0">
                <a:solidFill>
                  <a:schemeClr val="dk1"/>
                </a:solidFill>
              </a:rPr>
              <a:t> data </a:t>
            </a:r>
            <a:r>
              <a:rPr lang="en-US" sz="1800" dirty="0" err="1">
                <a:solidFill>
                  <a:schemeClr val="dk1"/>
                </a:solidFill>
              </a:rPr>
              <a:t>tanpa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menghasilkan</a:t>
            </a:r>
            <a:r>
              <a:rPr lang="en-US" sz="1800" dirty="0">
                <a:solidFill>
                  <a:schemeClr val="dk1"/>
                </a:solidFill>
              </a:rPr>
              <a:t> output error.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18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 b="1" dirty="0" err="1">
                <a:solidFill>
                  <a:schemeClr val="dk1"/>
                </a:solidFill>
              </a:rPr>
              <a:t>Variabel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adalah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lokasi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memori</a:t>
            </a:r>
            <a:r>
              <a:rPr lang="en-US" sz="1800" dirty="0">
                <a:solidFill>
                  <a:schemeClr val="dk1"/>
                </a:solidFill>
              </a:rPr>
              <a:t> yang </a:t>
            </a:r>
            <a:r>
              <a:rPr lang="en-US" sz="1800" dirty="0" err="1">
                <a:solidFill>
                  <a:schemeClr val="dk1"/>
                </a:solidFill>
              </a:rPr>
              <a:t>dapat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digunakan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untuk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menyimpan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sebuah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nilai</a:t>
            </a:r>
            <a:r>
              <a:rPr lang="en-US" sz="1800" dirty="0">
                <a:solidFill>
                  <a:schemeClr val="dk1"/>
                </a:solidFill>
              </a:rPr>
              <a:t>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18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 b="1" dirty="0">
                <a:solidFill>
                  <a:schemeClr val="dk1"/>
                </a:solidFill>
              </a:rPr>
              <a:t>Method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adalah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sebuah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blok</a:t>
            </a:r>
            <a:r>
              <a:rPr lang="en-US" sz="1800" dirty="0">
                <a:solidFill>
                  <a:schemeClr val="dk1"/>
                </a:solidFill>
              </a:rPr>
              <a:t> program </a:t>
            </a:r>
            <a:r>
              <a:rPr lang="en-US" sz="1800" dirty="0" err="1">
                <a:solidFill>
                  <a:schemeClr val="dk1"/>
                </a:solidFill>
              </a:rPr>
              <a:t>terpisah</a:t>
            </a:r>
            <a:r>
              <a:rPr lang="en-US" sz="1800" dirty="0">
                <a:solidFill>
                  <a:schemeClr val="dk1"/>
                </a:solidFill>
              </a:rPr>
              <a:t> (</a:t>
            </a:r>
            <a:r>
              <a:rPr lang="en-US" sz="1800" dirty="0" err="1">
                <a:solidFill>
                  <a:schemeClr val="dk1"/>
                </a:solidFill>
              </a:rPr>
              <a:t>diluar</a:t>
            </a:r>
            <a:r>
              <a:rPr lang="en-US" sz="1800" dirty="0">
                <a:solidFill>
                  <a:schemeClr val="dk1"/>
                </a:solidFill>
              </a:rPr>
              <a:t> program </a:t>
            </a:r>
            <a:r>
              <a:rPr lang="en-US" sz="1800" dirty="0" err="1">
                <a:solidFill>
                  <a:schemeClr val="dk1"/>
                </a:solidFill>
              </a:rPr>
              <a:t>utama</a:t>
            </a:r>
            <a:r>
              <a:rPr lang="en-US" sz="1800" dirty="0">
                <a:solidFill>
                  <a:schemeClr val="dk1"/>
                </a:solidFill>
              </a:rPr>
              <a:t>) yang </a:t>
            </a:r>
            <a:r>
              <a:rPr lang="en-US" sz="1800" dirty="0" err="1">
                <a:solidFill>
                  <a:schemeClr val="dk1"/>
                </a:solidFill>
              </a:rPr>
              <a:t>kita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gunakan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untuk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menyelesaikan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masalah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khusus</a:t>
            </a:r>
            <a:r>
              <a:rPr lang="en-US" sz="1800" dirty="0">
                <a:solidFill>
                  <a:schemeClr val="dk1"/>
                </a:solidFill>
              </a:rPr>
              <a:t>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18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 b="1" dirty="0" err="1">
                <a:solidFill>
                  <a:schemeClr val="dk1"/>
                </a:solidFill>
              </a:rPr>
              <a:t>Ekspresi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dalam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ID" sz="1800" dirty="0" err="1">
                <a:solidFill>
                  <a:schemeClr val="dk1"/>
                </a:solidFill>
              </a:rPr>
              <a:t>bahasa</a:t>
            </a:r>
            <a:r>
              <a:rPr lang="en-ID" sz="1800" dirty="0">
                <a:solidFill>
                  <a:schemeClr val="dk1"/>
                </a:solidFill>
              </a:rPr>
              <a:t> </a:t>
            </a:r>
            <a:r>
              <a:rPr lang="en-ID" sz="1800" dirty="0" err="1">
                <a:solidFill>
                  <a:schemeClr val="dk1"/>
                </a:solidFill>
              </a:rPr>
              <a:t>pemrograman</a:t>
            </a:r>
            <a:r>
              <a:rPr lang="en-ID" sz="1800" dirty="0">
                <a:solidFill>
                  <a:schemeClr val="dk1"/>
                </a:solidFill>
              </a:rPr>
              <a:t> </a:t>
            </a:r>
            <a:r>
              <a:rPr lang="en-ID" sz="1800" dirty="0" err="1">
                <a:solidFill>
                  <a:schemeClr val="dk1"/>
                </a:solidFill>
              </a:rPr>
              <a:t>adalah</a:t>
            </a:r>
            <a:r>
              <a:rPr lang="en-ID" sz="1800" dirty="0">
                <a:solidFill>
                  <a:schemeClr val="dk1"/>
                </a:solidFill>
              </a:rPr>
              <a:t> </a:t>
            </a:r>
            <a:r>
              <a:rPr lang="en-ID" sz="1800" dirty="0" err="1">
                <a:solidFill>
                  <a:schemeClr val="dk1"/>
                </a:solidFill>
              </a:rPr>
              <a:t>kombinasi</a:t>
            </a:r>
            <a:r>
              <a:rPr lang="en-ID" sz="1800" dirty="0">
                <a:solidFill>
                  <a:schemeClr val="dk1"/>
                </a:solidFill>
              </a:rPr>
              <a:t> </a:t>
            </a:r>
            <a:r>
              <a:rPr lang="en-ID" sz="1800" dirty="0" err="1">
                <a:solidFill>
                  <a:schemeClr val="dk1"/>
                </a:solidFill>
              </a:rPr>
              <a:t>dari</a:t>
            </a:r>
            <a:r>
              <a:rPr lang="en-ID" sz="1800" dirty="0">
                <a:solidFill>
                  <a:schemeClr val="dk1"/>
                </a:solidFill>
              </a:rPr>
              <a:t> </a:t>
            </a:r>
            <a:r>
              <a:rPr lang="en-ID" sz="1800" dirty="0" err="1">
                <a:solidFill>
                  <a:schemeClr val="dk1"/>
                </a:solidFill>
              </a:rPr>
              <a:t>nilai-nilai</a:t>
            </a:r>
            <a:r>
              <a:rPr lang="en-ID" sz="1800" dirty="0">
                <a:solidFill>
                  <a:schemeClr val="dk1"/>
                </a:solidFill>
              </a:rPr>
              <a:t> </a:t>
            </a:r>
            <a:r>
              <a:rPr lang="en-ID" sz="1800" dirty="0" err="1">
                <a:solidFill>
                  <a:schemeClr val="dk1"/>
                </a:solidFill>
              </a:rPr>
              <a:t>eksplisit</a:t>
            </a:r>
            <a:r>
              <a:rPr lang="en-ID" sz="1800" dirty="0">
                <a:solidFill>
                  <a:schemeClr val="dk1"/>
                </a:solidFill>
              </a:rPr>
              <a:t>, </a:t>
            </a:r>
            <a:r>
              <a:rPr lang="en-ID" sz="1800" dirty="0" err="1">
                <a:solidFill>
                  <a:schemeClr val="dk1"/>
                </a:solidFill>
              </a:rPr>
              <a:t>konstanta</a:t>
            </a:r>
            <a:r>
              <a:rPr lang="en-ID" sz="1800" dirty="0">
                <a:solidFill>
                  <a:schemeClr val="dk1"/>
                </a:solidFill>
              </a:rPr>
              <a:t>, </a:t>
            </a:r>
            <a:r>
              <a:rPr lang="en-ID" sz="1800" dirty="0" err="1">
                <a:solidFill>
                  <a:schemeClr val="dk1"/>
                </a:solidFill>
              </a:rPr>
              <a:t>variabel</a:t>
            </a:r>
            <a:r>
              <a:rPr lang="en-ID" sz="1800" dirty="0">
                <a:solidFill>
                  <a:schemeClr val="dk1"/>
                </a:solidFill>
              </a:rPr>
              <a:t>, operator, dan </a:t>
            </a:r>
            <a:r>
              <a:rPr lang="en-ID" sz="1800" dirty="0" err="1">
                <a:solidFill>
                  <a:schemeClr val="dk1"/>
                </a:solidFill>
              </a:rPr>
              <a:t>fungsi</a:t>
            </a:r>
            <a:r>
              <a:rPr lang="en-ID" sz="1800" dirty="0">
                <a:solidFill>
                  <a:schemeClr val="dk1"/>
                </a:solidFill>
              </a:rPr>
              <a:t> yang </a:t>
            </a:r>
            <a:r>
              <a:rPr lang="en-ID" sz="1800" dirty="0" err="1">
                <a:solidFill>
                  <a:schemeClr val="dk1"/>
                </a:solidFill>
              </a:rPr>
              <a:t>ditafsirkan</a:t>
            </a:r>
            <a:r>
              <a:rPr lang="en-ID" sz="1800" dirty="0">
                <a:solidFill>
                  <a:schemeClr val="dk1"/>
                </a:solidFill>
              </a:rPr>
              <a:t> </a:t>
            </a:r>
            <a:r>
              <a:rPr lang="en-ID" sz="1800" dirty="0" err="1">
                <a:solidFill>
                  <a:schemeClr val="dk1"/>
                </a:solidFill>
              </a:rPr>
              <a:t>menurut</a:t>
            </a:r>
            <a:r>
              <a:rPr lang="en-ID" sz="1800" dirty="0">
                <a:solidFill>
                  <a:schemeClr val="dk1"/>
                </a:solidFill>
              </a:rPr>
              <a:t> </a:t>
            </a:r>
            <a:r>
              <a:rPr lang="en-ID" sz="1800" dirty="0" err="1">
                <a:solidFill>
                  <a:schemeClr val="dk1"/>
                </a:solidFill>
              </a:rPr>
              <a:t>aturan</a:t>
            </a:r>
            <a:r>
              <a:rPr lang="en-ID" sz="1800" dirty="0">
                <a:solidFill>
                  <a:schemeClr val="dk1"/>
                </a:solidFill>
              </a:rPr>
              <a:t> </a:t>
            </a:r>
            <a:r>
              <a:rPr lang="en-ID" sz="1800" dirty="0" err="1">
                <a:solidFill>
                  <a:schemeClr val="dk1"/>
                </a:solidFill>
              </a:rPr>
              <a:t>prioritas</a:t>
            </a:r>
            <a:r>
              <a:rPr lang="en-ID" sz="1800" dirty="0">
                <a:solidFill>
                  <a:schemeClr val="dk1"/>
                </a:solidFill>
              </a:rPr>
              <a:t> </a:t>
            </a:r>
            <a:r>
              <a:rPr lang="en-ID" sz="1800" dirty="0" err="1">
                <a:solidFill>
                  <a:schemeClr val="dk1"/>
                </a:solidFill>
              </a:rPr>
              <a:t>tertentu</a:t>
            </a:r>
            <a:r>
              <a:rPr lang="en-ID" sz="1800" dirty="0">
                <a:solidFill>
                  <a:schemeClr val="dk1"/>
                </a:solidFill>
              </a:rPr>
              <a:t> dan </a:t>
            </a:r>
            <a:r>
              <a:rPr lang="en-ID" sz="1800" dirty="0" err="1">
                <a:solidFill>
                  <a:schemeClr val="dk1"/>
                </a:solidFill>
              </a:rPr>
              <a:t>asosiasi</a:t>
            </a:r>
            <a:r>
              <a:rPr lang="en-ID" sz="1800" dirty="0">
                <a:solidFill>
                  <a:schemeClr val="dk1"/>
                </a:solidFill>
              </a:rPr>
              <a:t> </a:t>
            </a:r>
            <a:r>
              <a:rPr lang="en-ID" sz="1800" dirty="0" err="1">
                <a:solidFill>
                  <a:schemeClr val="dk1"/>
                </a:solidFill>
              </a:rPr>
              <a:t>untuk</a:t>
            </a:r>
            <a:r>
              <a:rPr lang="en-ID" sz="1800" dirty="0">
                <a:solidFill>
                  <a:schemeClr val="dk1"/>
                </a:solidFill>
              </a:rPr>
              <a:t> </a:t>
            </a:r>
            <a:r>
              <a:rPr lang="en-ID" sz="1800" dirty="0" err="1">
                <a:solidFill>
                  <a:schemeClr val="dk1"/>
                </a:solidFill>
              </a:rPr>
              <a:t>sebuah</a:t>
            </a:r>
            <a:r>
              <a:rPr lang="en-ID" sz="1800" dirty="0">
                <a:solidFill>
                  <a:schemeClr val="dk1"/>
                </a:solidFill>
              </a:rPr>
              <a:t> </a:t>
            </a:r>
            <a:r>
              <a:rPr lang="en-ID" sz="1800" dirty="0" err="1">
                <a:solidFill>
                  <a:schemeClr val="dk1"/>
                </a:solidFill>
              </a:rPr>
              <a:t>bahasa</a:t>
            </a:r>
            <a:r>
              <a:rPr lang="en-ID" sz="1800" dirty="0">
                <a:solidFill>
                  <a:schemeClr val="dk1"/>
                </a:solidFill>
              </a:rPr>
              <a:t> </a:t>
            </a:r>
            <a:r>
              <a:rPr lang="en-ID" sz="1800" dirty="0" err="1">
                <a:solidFill>
                  <a:schemeClr val="dk1"/>
                </a:solidFill>
              </a:rPr>
              <a:t>pemrograman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AF8EF8-AE64-4E42-88B4-6993A4615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565" y="2439761"/>
            <a:ext cx="3998410" cy="2660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3091" y="2770001"/>
            <a:ext cx="5529197" cy="178295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inherit"/>
              </a:rPr>
              <a:t>TIPE DATA</a:t>
            </a:r>
            <a:endParaRPr kumimoji="0" lang="en-US" altLang="en-US" sz="480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CFA13097-461B-5BB9-C632-F5737CED446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1" b="4861"/>
          <a:stretch/>
        </p:blipFill>
        <p:spPr/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C2653707-A292-45E5-8049-09CA0005A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7728"/>
            <a:ext cx="65" cy="24174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73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"/>
          <p:cNvSpPr txBox="1">
            <a:spLocks noGrp="1"/>
          </p:cNvSpPr>
          <p:nvPr>
            <p:ph type="title"/>
          </p:nvPr>
        </p:nvSpPr>
        <p:spPr>
          <a:xfrm>
            <a:off x="856995" y="962016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JAVA KEYWORD</a:t>
            </a:r>
          </a:p>
        </p:txBody>
      </p:sp>
      <p:graphicFrame>
        <p:nvGraphicFramePr>
          <p:cNvPr id="7" name="表格 4">
            <a:extLst>
              <a:ext uri="{FF2B5EF4-FFF2-40B4-BE49-F238E27FC236}">
                <a16:creationId xmlns:a16="http://schemas.microsoft.com/office/drawing/2014/main" id="{84F1B6AB-CDAC-467D-9BEA-6C89C8071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65631"/>
              </p:ext>
            </p:extLst>
          </p:nvPr>
        </p:nvGraphicFramePr>
        <p:xfrm>
          <a:off x="986685" y="2114959"/>
          <a:ext cx="10053020" cy="3781025"/>
        </p:xfrm>
        <a:graphic>
          <a:graphicData uri="http://schemas.openxmlformats.org/drawingml/2006/table">
            <a:tbl>
              <a:tblPr/>
              <a:tblGrid>
                <a:gridCol w="2010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0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068">
                <a:tc>
                  <a:txBody>
                    <a:bodyPr/>
                    <a:lstStyle/>
                    <a:p>
                      <a:r>
                        <a:rPr lang="en-US" sz="1500" dirty="0"/>
                        <a:t>abstract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do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import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public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throws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183">
                <a:tc>
                  <a:txBody>
                    <a:bodyPr/>
                    <a:lstStyle/>
                    <a:p>
                      <a:r>
                        <a:rPr lang="en-US" sz="1500" dirty="0" err="1"/>
                        <a:t>boolean</a:t>
                      </a:r>
                      <a:endParaRPr lang="en-US" sz="1500" dirty="0"/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double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instanceof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return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transient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068">
                <a:tc>
                  <a:txBody>
                    <a:bodyPr/>
                    <a:lstStyle/>
                    <a:p>
                      <a:r>
                        <a:rPr lang="en-US" sz="1500"/>
                        <a:t>break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else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int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short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try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068">
                <a:tc>
                  <a:txBody>
                    <a:bodyPr/>
                    <a:lstStyle/>
                    <a:p>
                      <a:r>
                        <a:rPr lang="en-US" sz="1500"/>
                        <a:t>byte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extends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interface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static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void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068">
                <a:tc>
                  <a:txBody>
                    <a:bodyPr/>
                    <a:lstStyle/>
                    <a:p>
                      <a:r>
                        <a:rPr lang="en-US" sz="1500"/>
                        <a:t>case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final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long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strictfp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volatile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068">
                <a:tc>
                  <a:txBody>
                    <a:bodyPr/>
                    <a:lstStyle/>
                    <a:p>
                      <a:r>
                        <a:rPr lang="en-US" sz="1500"/>
                        <a:t>catch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finally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native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super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while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068">
                <a:tc>
                  <a:txBody>
                    <a:bodyPr/>
                    <a:lstStyle/>
                    <a:p>
                      <a:r>
                        <a:rPr lang="en-US" sz="1500"/>
                        <a:t>char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float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new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switch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500"/>
                        <a:t> 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183">
                <a:tc>
                  <a:txBody>
                    <a:bodyPr/>
                    <a:lstStyle/>
                    <a:p>
                      <a:r>
                        <a:rPr lang="en-US" sz="1500"/>
                        <a:t>class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for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package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synchronized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500"/>
                        <a:t> 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068">
                <a:tc>
                  <a:txBody>
                    <a:bodyPr/>
                    <a:lstStyle/>
                    <a:p>
                      <a:r>
                        <a:rPr lang="en-US" sz="1500"/>
                        <a:t>continue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if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private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this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500"/>
                        <a:t> 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9183">
                <a:tc>
                  <a:txBody>
                    <a:bodyPr/>
                    <a:lstStyle/>
                    <a:p>
                      <a:r>
                        <a:rPr lang="en-US" sz="1500"/>
                        <a:t>default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implements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protected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throw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500" dirty="0"/>
                        <a:t> </a:t>
                      </a:r>
                    </a:p>
                  </a:txBody>
                  <a:tcPr marL="62204" marR="62204" marT="31101" marB="311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4" y="854043"/>
            <a:ext cx="11181835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MAIN COMPONENT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389ECC-1442-4FA2-B4B2-F87369DE6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50" y="2013262"/>
            <a:ext cx="7020706" cy="3015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PROGRAM SEDERHANA JAVA (NETBEANS)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60C7C-0DA5-4289-801F-E730ADD69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495" y="1880971"/>
            <a:ext cx="7059010" cy="3096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ABCDB4-2722-404F-820B-B7AF40EBA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423" y="5265376"/>
            <a:ext cx="4505954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53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KOMENTAR / COMMENT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7" name="Google Shape;272;p5">
            <a:extLst>
              <a:ext uri="{FF2B5EF4-FFF2-40B4-BE49-F238E27FC236}">
                <a16:creationId xmlns:a16="http://schemas.microsoft.com/office/drawing/2014/main" id="{3487296A-7147-4BDB-8DCE-E75CB6F6F8B4}"/>
              </a:ext>
            </a:extLst>
          </p:cNvPr>
          <p:cNvSpPr txBox="1">
            <a:spLocks/>
          </p:cNvSpPr>
          <p:nvPr/>
        </p:nvSpPr>
        <p:spPr>
          <a:xfrm>
            <a:off x="821568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2400" dirty="0" err="1">
                <a:latin typeface="Twentieth Century"/>
              </a:rPr>
              <a:t>Memberikan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penjelasan</a:t>
            </a:r>
            <a:r>
              <a:rPr lang="en-US" sz="2400" dirty="0">
                <a:latin typeface="Twentieth Century"/>
              </a:rPr>
              <a:t> pada </a:t>
            </a:r>
            <a:r>
              <a:rPr lang="en-US" sz="2400" dirty="0" err="1">
                <a:latin typeface="Twentieth Century"/>
              </a:rPr>
              <a:t>sebuah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i="1" dirty="0">
                <a:latin typeface="Twentieth Century"/>
              </a:rPr>
              <a:t>source code </a:t>
            </a:r>
            <a:r>
              <a:rPr lang="en-US" sz="2400" dirty="0" err="1">
                <a:latin typeface="Twentieth Century"/>
              </a:rPr>
              <a:t>untuk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tujuan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dokumentasi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atau</a:t>
            </a:r>
            <a:r>
              <a:rPr lang="en-US" sz="2400" dirty="0">
                <a:latin typeface="Twentieth Century"/>
              </a:rPr>
              <a:t> orang </a:t>
            </a:r>
            <a:r>
              <a:rPr lang="en-US" sz="2400" dirty="0" err="1">
                <a:latin typeface="Twentieth Century"/>
              </a:rPr>
              <a:t>akan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membaca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i="1" dirty="0">
                <a:latin typeface="Twentieth Century"/>
              </a:rPr>
              <a:t>source code </a:t>
            </a:r>
            <a:r>
              <a:rPr lang="en-US" sz="2400" dirty="0" err="1">
                <a:latin typeface="Twentieth Century"/>
              </a:rPr>
              <a:t>tsb</a:t>
            </a:r>
            <a:r>
              <a:rPr lang="en-US" sz="2400" dirty="0">
                <a:latin typeface="Twentieth Century"/>
              </a:rPr>
              <a:t>.</a:t>
            </a:r>
          </a:p>
          <a:p>
            <a:pPr algn="just"/>
            <a:r>
              <a:rPr lang="en-US" sz="2400" i="1" dirty="0">
                <a:latin typeface="Twentieth Century"/>
              </a:rPr>
              <a:t> </a:t>
            </a:r>
          </a:p>
          <a:p>
            <a:pPr algn="just"/>
            <a:r>
              <a:rPr lang="en-US" sz="2400" dirty="0">
                <a:latin typeface="Twentieth Century"/>
              </a:rPr>
              <a:t>Tanda</a:t>
            </a:r>
            <a:r>
              <a:rPr lang="en-US" sz="2400" b="1" dirty="0">
                <a:latin typeface="Twentieth Century"/>
              </a:rPr>
              <a:t> //</a:t>
            </a:r>
            <a:r>
              <a:rPr lang="en-US" sz="2400" dirty="0" err="1">
                <a:latin typeface="Twentieth Century"/>
              </a:rPr>
              <a:t>merupakan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sisa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barisnya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adalah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komentar</a:t>
            </a:r>
            <a:endParaRPr lang="en-US" sz="2400" dirty="0">
              <a:latin typeface="Twentieth Century"/>
            </a:endParaRPr>
          </a:p>
          <a:p>
            <a:pPr marL="714375" indent="-342900" algn="just"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wentieth Century"/>
              </a:rPr>
              <a:t>Dokumentasikan</a:t>
            </a:r>
            <a:r>
              <a:rPr lang="en-US" sz="2400" dirty="0">
                <a:latin typeface="Twentieth Century"/>
              </a:rPr>
              <a:t> dan </a:t>
            </a:r>
            <a:r>
              <a:rPr lang="en-US" sz="2400" dirty="0" err="1">
                <a:latin typeface="Twentieth Century"/>
              </a:rPr>
              <a:t>penjelasan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dari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i="1" dirty="0">
                <a:latin typeface="Twentieth Century"/>
              </a:rPr>
              <a:t>source code</a:t>
            </a:r>
          </a:p>
          <a:p>
            <a:pPr marL="714375" indent="-342900" algn="just">
              <a:buFont typeface="Wingdings" panose="05000000000000000000" pitchFamily="2" charset="2"/>
              <a:buChar char="Ø"/>
            </a:pPr>
            <a:endParaRPr lang="en-US" sz="2400" i="1" dirty="0">
              <a:latin typeface="Twentieth Century"/>
            </a:endParaRPr>
          </a:p>
          <a:p>
            <a:pPr marL="714375" indent="-342900" algn="just">
              <a:buFont typeface="Wingdings" panose="05000000000000000000" pitchFamily="2" charset="2"/>
              <a:buChar char="Ø"/>
            </a:pPr>
            <a:endParaRPr lang="en-US" sz="2400" i="1" dirty="0">
              <a:latin typeface="Twentieth Century"/>
            </a:endParaRPr>
          </a:p>
          <a:p>
            <a:pPr marL="714375" indent="-342900" algn="just">
              <a:buFont typeface="Wingdings" panose="05000000000000000000" pitchFamily="2" charset="2"/>
              <a:buChar char="Ø"/>
            </a:pPr>
            <a:endParaRPr lang="en-US" sz="2400" i="1" dirty="0">
              <a:latin typeface="Twentieth Century"/>
            </a:endParaRPr>
          </a:p>
          <a:p>
            <a:pPr marL="371475" algn="just"/>
            <a:endParaRPr lang="en-US" sz="2400" i="1" dirty="0">
              <a:latin typeface="Twentieth Century"/>
            </a:endParaRPr>
          </a:p>
          <a:p>
            <a:pPr marL="714375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wentieth Century"/>
              </a:rPr>
              <a:t>Tanda</a:t>
            </a:r>
            <a:r>
              <a:rPr lang="en-US" sz="2400" b="1" dirty="0">
                <a:latin typeface="Twentieth Century"/>
              </a:rPr>
              <a:t> /*…*/</a:t>
            </a:r>
          </a:p>
          <a:p>
            <a:pPr algn="just"/>
            <a:r>
              <a:rPr lang="en-US" sz="2400" b="1" dirty="0">
                <a:latin typeface="Twentieth Century"/>
              </a:rPr>
              <a:t>	</a:t>
            </a:r>
            <a:endParaRPr lang="en-US" sz="2400" dirty="0">
              <a:latin typeface="Twentieth Centur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78A8F1-FA68-4D34-AD3B-ACAC698B9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618" y="3753381"/>
            <a:ext cx="4162732" cy="10722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63B121-2D7D-40BB-B1E9-CDF9B9923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619" y="5476842"/>
            <a:ext cx="4162732" cy="88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22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DEKLARASI KELAS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7" name="Google Shape;272;p5">
            <a:extLst>
              <a:ext uri="{FF2B5EF4-FFF2-40B4-BE49-F238E27FC236}">
                <a16:creationId xmlns:a16="http://schemas.microsoft.com/office/drawing/2014/main" id="{3487296A-7147-4BDB-8DCE-E75CB6F6F8B4}"/>
              </a:ext>
            </a:extLst>
          </p:cNvPr>
          <p:cNvSpPr txBox="1">
            <a:spLocks/>
          </p:cNvSpPr>
          <p:nvPr/>
        </p:nvSpPr>
        <p:spPr>
          <a:xfrm>
            <a:off x="821568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400" dirty="0">
              <a:latin typeface="Twentieth Century"/>
            </a:endParaRPr>
          </a:p>
          <a:p>
            <a:pPr algn="just"/>
            <a:r>
              <a:rPr lang="en-US" sz="2400" dirty="0" err="1">
                <a:latin typeface="Twentieth Century"/>
              </a:rPr>
              <a:t>Setiap</a:t>
            </a:r>
            <a:r>
              <a:rPr lang="en-US" sz="2400" dirty="0">
                <a:latin typeface="Twentieth Century"/>
              </a:rPr>
              <a:t> program Java </a:t>
            </a:r>
            <a:r>
              <a:rPr lang="en-US" sz="2400" dirty="0" err="1">
                <a:latin typeface="Twentieth Century"/>
              </a:rPr>
              <a:t>memiliki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setidaknya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satu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kelas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tertentu</a:t>
            </a:r>
            <a:endParaRPr lang="en-US" sz="2400" dirty="0">
              <a:latin typeface="Twentieth Century"/>
            </a:endParaRPr>
          </a:p>
          <a:p>
            <a:pPr algn="just"/>
            <a:r>
              <a:rPr lang="en-US" sz="2400" dirty="0">
                <a:latin typeface="Twentieth Century"/>
              </a:rPr>
              <a:t>Kata </a:t>
            </a:r>
            <a:r>
              <a:rPr lang="en-US" sz="2400" dirty="0" err="1">
                <a:latin typeface="Twentieth Century"/>
              </a:rPr>
              <a:t>kunci</a:t>
            </a:r>
            <a:r>
              <a:rPr lang="en-US" sz="2400" dirty="0">
                <a:latin typeface="Twentieth Century"/>
              </a:rPr>
              <a:t> : kata-kata yang </a:t>
            </a:r>
            <a:r>
              <a:rPr lang="en-US" sz="2400" dirty="0" err="1">
                <a:latin typeface="Twentieth Century"/>
              </a:rPr>
              <a:t>disediakan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untuk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digunakan</a:t>
            </a:r>
            <a:r>
              <a:rPr lang="en-US" sz="2400" dirty="0">
                <a:latin typeface="Twentieth Century"/>
              </a:rPr>
              <a:t> oleh Java</a:t>
            </a:r>
          </a:p>
          <a:p>
            <a:pPr algn="just"/>
            <a:r>
              <a:rPr lang="en-GB" sz="2400" dirty="0">
                <a:latin typeface="Twentieth Century"/>
              </a:rPr>
              <a:t>	class keyword followed by class name</a:t>
            </a:r>
          </a:p>
          <a:p>
            <a:pPr algn="just"/>
            <a:r>
              <a:rPr lang="en-GB" sz="2400" dirty="0">
                <a:latin typeface="Twentieth Century"/>
              </a:rPr>
              <a:t>	The class name has to be an identifier</a:t>
            </a:r>
          </a:p>
          <a:p>
            <a:pPr algn="just"/>
            <a:endParaRPr lang="en-US" sz="2400" dirty="0">
              <a:latin typeface="Twentieth Century"/>
            </a:endParaRPr>
          </a:p>
          <a:p>
            <a:pPr algn="just"/>
            <a:r>
              <a:rPr lang="en-US" sz="2400" dirty="0" err="1">
                <a:latin typeface="Twentieth Century"/>
              </a:rPr>
              <a:t>Konvensi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Penamaan</a:t>
            </a:r>
            <a:r>
              <a:rPr lang="en-US" sz="2400" dirty="0">
                <a:latin typeface="Twentieth Century"/>
              </a:rPr>
              <a:t>: </a:t>
            </a:r>
            <a:r>
              <a:rPr lang="en-US" sz="2400" dirty="0" err="1">
                <a:latin typeface="Twentieth Century"/>
              </a:rPr>
              <a:t>gunakan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huruf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besar</a:t>
            </a:r>
            <a:r>
              <a:rPr lang="en-US" sz="2400" dirty="0">
                <a:latin typeface="Twentieth Century"/>
              </a:rPr>
              <a:t> pada </a:t>
            </a:r>
            <a:r>
              <a:rPr lang="en-US" sz="2400" dirty="0" err="1">
                <a:latin typeface="Twentieth Century"/>
              </a:rPr>
              <a:t>setiap</a:t>
            </a:r>
            <a:r>
              <a:rPr lang="en-US" sz="2400" dirty="0">
                <a:latin typeface="Twentieth Century"/>
              </a:rPr>
              <a:t> kata</a:t>
            </a:r>
          </a:p>
          <a:p>
            <a:pPr algn="just"/>
            <a:r>
              <a:rPr lang="en-US" sz="2400" dirty="0">
                <a:latin typeface="Twentieth Century"/>
              </a:rPr>
              <a:t>	</a:t>
            </a:r>
            <a:r>
              <a:rPr lang="en-US" sz="2400" dirty="0" err="1">
                <a:latin typeface="Twentieth Century"/>
              </a:rPr>
              <a:t>Contoh</a:t>
            </a:r>
            <a:r>
              <a:rPr lang="en-US" sz="2400" dirty="0">
                <a:latin typeface="Twentieth Century"/>
              </a:rPr>
              <a:t>: </a:t>
            </a:r>
            <a:r>
              <a:rPr lang="en-US" sz="2400" dirty="0" err="1">
                <a:latin typeface="Twentieth Century"/>
              </a:rPr>
              <a:t>NamaKelas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Sampel</a:t>
            </a:r>
            <a:endParaRPr lang="en-US" sz="2400" dirty="0">
              <a:latin typeface="Twentieth Centur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D2F271-573D-4422-8ED1-32A7556CF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374" y="4583019"/>
            <a:ext cx="6056480" cy="51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029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BLOK PROGRAM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7" name="Google Shape;272;p5">
            <a:extLst>
              <a:ext uri="{FF2B5EF4-FFF2-40B4-BE49-F238E27FC236}">
                <a16:creationId xmlns:a16="http://schemas.microsoft.com/office/drawing/2014/main" id="{3487296A-7147-4BDB-8DCE-E75CB6F6F8B4}"/>
              </a:ext>
            </a:extLst>
          </p:cNvPr>
          <p:cNvSpPr txBox="1">
            <a:spLocks/>
          </p:cNvSpPr>
          <p:nvPr/>
        </p:nvSpPr>
        <p:spPr>
          <a:xfrm>
            <a:off x="746982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2400" dirty="0">
                <a:latin typeface="Twentieth Century"/>
              </a:rPr>
              <a:t>Tanda </a:t>
            </a:r>
            <a:r>
              <a:rPr lang="en-US" sz="2400" dirty="0" err="1">
                <a:latin typeface="Twentieth Century"/>
              </a:rPr>
              <a:t>Kurung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kurawal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kiri</a:t>
            </a:r>
            <a:r>
              <a:rPr lang="en-US" sz="2400" dirty="0">
                <a:latin typeface="Twentieth Century"/>
              </a:rPr>
              <a:t> {</a:t>
            </a:r>
          </a:p>
          <a:p>
            <a:pPr marL="623888" indent="-342900" algn="just"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wentieth Century"/>
              </a:rPr>
              <a:t>Mulai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tubuh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setiap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kelas</a:t>
            </a:r>
            <a:endParaRPr lang="en-US" sz="2400" dirty="0">
              <a:latin typeface="Twentieth Century"/>
            </a:endParaRPr>
          </a:p>
          <a:p>
            <a:pPr marL="623888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wentieth Century"/>
              </a:rPr>
              <a:t>Tanda </a:t>
            </a:r>
            <a:r>
              <a:rPr lang="en-US" sz="2400" dirty="0" err="1">
                <a:latin typeface="Twentieth Century"/>
              </a:rPr>
              <a:t>kurung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kurawal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kanan</a:t>
            </a:r>
            <a:r>
              <a:rPr lang="en-US" sz="2400" dirty="0">
                <a:latin typeface="Twentieth Century"/>
              </a:rPr>
              <a:t> “}” </a:t>
            </a:r>
            <a:r>
              <a:rPr lang="en-US" sz="2400" dirty="0" err="1">
                <a:latin typeface="Twentieth Century"/>
              </a:rPr>
              <a:t>mengakhiri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definisi</a:t>
            </a:r>
            <a:endParaRPr lang="en-US" sz="2400" dirty="0">
              <a:latin typeface="Twentieth Century"/>
            </a:endParaRPr>
          </a:p>
          <a:p>
            <a:pPr marL="623888" indent="-342900" algn="just">
              <a:buFont typeface="Wingdings" panose="05000000000000000000" pitchFamily="2" charset="2"/>
              <a:buChar char="Ø"/>
            </a:pPr>
            <a:endParaRPr lang="en-US" altLang="zh-TW" sz="2400" dirty="0">
              <a:latin typeface="Twentieth Century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altLang="zh-TW" sz="2400" dirty="0">
              <a:latin typeface="Twentieth Century"/>
            </a:endParaRPr>
          </a:p>
          <a:p>
            <a:pPr algn="just"/>
            <a:r>
              <a:rPr lang="en-US" altLang="zh-TW" sz="2400" dirty="0" err="1">
                <a:latin typeface="Twentieth Century"/>
              </a:rPr>
              <a:t>Indentasi</a:t>
            </a:r>
            <a:r>
              <a:rPr lang="en-US" altLang="zh-TW" sz="2400" dirty="0">
                <a:latin typeface="Twentieth Century"/>
              </a:rPr>
              <a:t> (</a:t>
            </a:r>
            <a:r>
              <a:rPr lang="en-US" altLang="zh-TW" sz="2400" i="1" dirty="0" err="1">
                <a:latin typeface="Twentieth Century"/>
              </a:rPr>
              <a:t>souce</a:t>
            </a:r>
            <a:r>
              <a:rPr lang="en-US" altLang="zh-TW" sz="2400" i="1" dirty="0">
                <a:latin typeface="Twentieth Century"/>
              </a:rPr>
              <a:t> code </a:t>
            </a:r>
            <a:r>
              <a:rPr lang="en-US" altLang="zh-TW" sz="2400" dirty="0" err="1">
                <a:latin typeface="Twentieth Century"/>
              </a:rPr>
              <a:t>menjoroknya</a:t>
            </a:r>
            <a:r>
              <a:rPr lang="en-US" altLang="zh-TW" sz="2400" dirty="0">
                <a:latin typeface="Twentieth Century"/>
              </a:rPr>
              <a:t> </a:t>
            </a:r>
            <a:r>
              <a:rPr lang="en-US" altLang="zh-TW" sz="2400" dirty="0" err="1">
                <a:latin typeface="Twentieth Century"/>
              </a:rPr>
              <a:t>suatu</a:t>
            </a:r>
            <a:r>
              <a:rPr lang="en-US" altLang="zh-TW" sz="2400" dirty="0">
                <a:latin typeface="Twentieth Century"/>
              </a:rPr>
              <a:t> </a:t>
            </a:r>
            <a:r>
              <a:rPr lang="en-US" altLang="zh-TW" sz="2400" dirty="0" err="1">
                <a:latin typeface="Twentieth Century"/>
              </a:rPr>
              <a:t>teks</a:t>
            </a:r>
            <a:r>
              <a:rPr lang="en-US" altLang="zh-TW" sz="2400" dirty="0">
                <a:latin typeface="Twentieth Century"/>
              </a:rPr>
              <a:t>/</a:t>
            </a:r>
            <a:r>
              <a:rPr lang="en-US" altLang="zh-TW" sz="2400" dirty="0" err="1">
                <a:latin typeface="Twentieth Century"/>
              </a:rPr>
              <a:t>naskah</a:t>
            </a:r>
            <a:r>
              <a:rPr lang="en-US" altLang="zh-TW" sz="2400" dirty="0">
                <a:latin typeface="Twentieth Century"/>
              </a:rPr>
              <a:t> </a:t>
            </a:r>
            <a:r>
              <a:rPr lang="en-US" altLang="zh-TW" sz="2400" dirty="0" err="1">
                <a:latin typeface="Twentieth Century"/>
              </a:rPr>
              <a:t>dari</a:t>
            </a:r>
            <a:r>
              <a:rPr lang="en-US" altLang="zh-TW" sz="2400" dirty="0">
                <a:latin typeface="Twentieth Century"/>
              </a:rPr>
              <a:t> </a:t>
            </a:r>
            <a:r>
              <a:rPr lang="en-US" altLang="zh-TW" sz="2400" dirty="0" err="1">
                <a:latin typeface="Twentieth Century"/>
              </a:rPr>
              <a:t>batas</a:t>
            </a:r>
            <a:r>
              <a:rPr lang="en-US" altLang="zh-TW" sz="2400" dirty="0">
                <a:latin typeface="Twentieth Century"/>
              </a:rPr>
              <a:t> </a:t>
            </a:r>
            <a:r>
              <a:rPr lang="en-US" altLang="zh-TW" sz="2400" dirty="0" err="1">
                <a:latin typeface="Twentieth Century"/>
              </a:rPr>
              <a:t>kiri</a:t>
            </a:r>
            <a:r>
              <a:rPr lang="en-US" altLang="zh-TW" sz="2400" dirty="0">
                <a:latin typeface="Twentieth Century"/>
              </a:rPr>
              <a:t>, </a:t>
            </a:r>
            <a:r>
              <a:rPr lang="en-US" altLang="zh-TW" sz="2400" dirty="0" err="1">
                <a:latin typeface="Twentieth Century"/>
              </a:rPr>
              <a:t>batas</a:t>
            </a:r>
            <a:r>
              <a:rPr lang="en-US" altLang="zh-TW" sz="2400" dirty="0">
                <a:latin typeface="Twentieth Century"/>
              </a:rPr>
              <a:t> </a:t>
            </a:r>
            <a:r>
              <a:rPr lang="en-US" altLang="zh-TW" sz="2400" dirty="0" err="1">
                <a:latin typeface="Twentieth Century"/>
              </a:rPr>
              <a:t>kanan</a:t>
            </a:r>
            <a:r>
              <a:rPr lang="en-US" altLang="zh-TW" sz="2400" dirty="0">
                <a:latin typeface="Twentieth Century"/>
              </a:rPr>
              <a:t>, </a:t>
            </a:r>
            <a:r>
              <a:rPr lang="en-US" altLang="zh-TW" sz="2400" dirty="0" err="1">
                <a:latin typeface="Twentieth Century"/>
              </a:rPr>
              <a:t>atau</a:t>
            </a:r>
            <a:r>
              <a:rPr lang="en-US" altLang="zh-TW" sz="2400" dirty="0">
                <a:latin typeface="Twentieth Century"/>
              </a:rPr>
              <a:t> </a:t>
            </a:r>
            <a:r>
              <a:rPr lang="en-US" altLang="zh-TW" sz="2400" dirty="0" err="1">
                <a:latin typeface="Twentieth Century"/>
              </a:rPr>
              <a:t>keduanya</a:t>
            </a:r>
            <a:r>
              <a:rPr lang="en-US" altLang="zh-TW" sz="2400" dirty="0">
                <a:latin typeface="Twentieth Century"/>
              </a:rPr>
              <a:t>)</a:t>
            </a:r>
          </a:p>
          <a:p>
            <a:pPr marL="623888" indent="-342900" algn="just"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wentieth Century"/>
              </a:rPr>
              <a:t>Setiap</a:t>
            </a:r>
            <a:r>
              <a:rPr lang="en-US" sz="2400" dirty="0">
                <a:latin typeface="Twentieth Century"/>
              </a:rPr>
              <a:t> kali Anda </a:t>
            </a:r>
            <a:r>
              <a:rPr lang="en-US" sz="2400" dirty="0" err="1">
                <a:latin typeface="Twentieth Century"/>
              </a:rPr>
              <a:t>mengetikkan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kurung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kurawal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kiri</a:t>
            </a:r>
            <a:r>
              <a:rPr lang="en-US" sz="2400" dirty="0">
                <a:latin typeface="Twentieth Century"/>
              </a:rPr>
              <a:t> “{“, </a:t>
            </a:r>
            <a:r>
              <a:rPr lang="en-US" sz="2400" dirty="0" err="1">
                <a:latin typeface="Twentieth Century"/>
              </a:rPr>
              <a:t>segera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ketikkan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kurung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kurawal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kanan</a:t>
            </a:r>
            <a:r>
              <a:rPr lang="en-US" sz="2400" dirty="0">
                <a:latin typeface="Twentieth Century"/>
              </a:rPr>
              <a:t> “}”.</a:t>
            </a:r>
          </a:p>
          <a:p>
            <a:pPr marL="623888" indent="-342900" algn="just"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wentieth Century"/>
              </a:rPr>
              <a:t>Kemudian</a:t>
            </a:r>
            <a:r>
              <a:rPr lang="en-US" sz="2400" dirty="0">
                <a:latin typeface="Twentieth Century"/>
              </a:rPr>
              <a:t>, </a:t>
            </a:r>
            <a:r>
              <a:rPr lang="en-US" sz="2400" dirty="0" err="1">
                <a:latin typeface="Twentieth Century"/>
              </a:rPr>
              <a:t>berikan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indentasi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untuk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mulai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mengetik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isinya</a:t>
            </a:r>
            <a:r>
              <a:rPr lang="en-US" sz="2400" dirty="0">
                <a:latin typeface="Twentieth Century"/>
              </a:rPr>
              <a:t>.</a:t>
            </a:r>
          </a:p>
          <a:p>
            <a:pPr marL="623888" indent="-342900" algn="just">
              <a:buFont typeface="Wingdings" panose="05000000000000000000" pitchFamily="2" charset="2"/>
              <a:buChar char="Ø"/>
            </a:pPr>
            <a:endParaRPr lang="en-US" sz="2400" dirty="0">
              <a:latin typeface="Twentieth Century"/>
            </a:endParaRPr>
          </a:p>
          <a:p>
            <a:pPr marL="280988" algn="just"/>
            <a:endParaRPr lang="en-US" sz="2400" dirty="0">
              <a:latin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3332133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METHOD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7" name="Google Shape;272;p5">
            <a:extLst>
              <a:ext uri="{FF2B5EF4-FFF2-40B4-BE49-F238E27FC236}">
                <a16:creationId xmlns:a16="http://schemas.microsoft.com/office/drawing/2014/main" id="{3487296A-7147-4BDB-8DCE-E75CB6F6F8B4}"/>
              </a:ext>
            </a:extLst>
          </p:cNvPr>
          <p:cNvSpPr txBox="1">
            <a:spLocks/>
          </p:cNvSpPr>
          <p:nvPr/>
        </p:nvSpPr>
        <p:spPr>
          <a:xfrm>
            <a:off x="746982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400" dirty="0" err="1">
                <a:latin typeface="Twentieth Century"/>
              </a:rPr>
              <a:t>Aplikasi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mulai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dijalankan</a:t>
            </a:r>
            <a:r>
              <a:rPr lang="en-US" sz="2400" dirty="0">
                <a:latin typeface="Twentieth Century"/>
              </a:rPr>
              <a:t> di </a:t>
            </a:r>
            <a:r>
              <a:rPr lang="en-US" sz="2400" b="1" dirty="0">
                <a:solidFill>
                  <a:srgbClr val="0070C0"/>
                </a:solidFill>
                <a:latin typeface="Twentieth Century"/>
              </a:rPr>
              <a:t>main()</a:t>
            </a:r>
          </a:p>
          <a:p>
            <a:pPr marL="534988" indent="-2667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wentieth Century"/>
              </a:rPr>
              <a:t>Tepat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satu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metode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harus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disebut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b="1" dirty="0">
                <a:latin typeface="Twentieth Century"/>
              </a:rPr>
              <a:t>main</a:t>
            </a:r>
          </a:p>
          <a:p>
            <a:pPr marL="534988" indent="-2667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wentieth Century"/>
              </a:rPr>
              <a:t>Tanda </a:t>
            </a:r>
            <a:r>
              <a:rPr lang="en-US" sz="2400" dirty="0" err="1">
                <a:latin typeface="Twentieth Century"/>
              </a:rPr>
              <a:t>kurung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menunjukkan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b="1" dirty="0">
                <a:latin typeface="Twentieth Century"/>
              </a:rPr>
              <a:t>main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adalah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sebuah</a:t>
            </a:r>
            <a:r>
              <a:rPr lang="en-US" sz="2400" b="1" dirty="0">
                <a:latin typeface="Twentieth Century"/>
              </a:rPr>
              <a:t> method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err="1">
                <a:solidFill>
                  <a:srgbClr val="0070C0"/>
                </a:solidFill>
                <a:latin typeface="Twentieth Century"/>
              </a:rPr>
              <a:t>Aplikasi</a:t>
            </a:r>
            <a:r>
              <a:rPr lang="en-US" sz="2400" b="1" dirty="0">
                <a:solidFill>
                  <a:srgbClr val="0070C0"/>
                </a:solidFill>
                <a:latin typeface="Twentieth Century"/>
              </a:rPr>
              <a:t> Java </a:t>
            </a:r>
            <a:r>
              <a:rPr lang="en-US" sz="2400" dirty="0" err="1">
                <a:latin typeface="Twentieth Century"/>
              </a:rPr>
              <a:t>berisi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satu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atau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lebih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b="1" dirty="0">
                <a:latin typeface="Twentieth Century"/>
              </a:rPr>
              <a:t>method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C3B52-6EAF-47D7-AE1B-A35A7ADFC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731" y="4438636"/>
            <a:ext cx="6941095" cy="40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66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STATEMENTS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7" name="Google Shape;272;p5">
            <a:extLst>
              <a:ext uri="{FF2B5EF4-FFF2-40B4-BE49-F238E27FC236}">
                <a16:creationId xmlns:a16="http://schemas.microsoft.com/office/drawing/2014/main" id="{3487296A-7147-4BDB-8DCE-E75CB6F6F8B4}"/>
              </a:ext>
            </a:extLst>
          </p:cNvPr>
          <p:cNvSpPr txBox="1">
            <a:spLocks/>
          </p:cNvSpPr>
          <p:nvPr/>
        </p:nvSpPr>
        <p:spPr>
          <a:xfrm>
            <a:off x="746982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fi-FI" sz="2400" b="1" dirty="0">
                <a:latin typeface="Twentieth Century"/>
              </a:rPr>
              <a:t>Pernyataan</a:t>
            </a:r>
            <a:r>
              <a:rPr lang="fi-FI" sz="2400" dirty="0">
                <a:latin typeface="Twentieth Century"/>
              </a:rPr>
              <a:t> adalah instruksi untuk melakukan beberapa operasi.</a:t>
            </a:r>
          </a:p>
          <a:p>
            <a:pPr algn="just">
              <a:lnSpc>
                <a:spcPct val="150000"/>
              </a:lnSpc>
            </a:pPr>
            <a:r>
              <a:rPr lang="fi-FI" sz="2400" dirty="0">
                <a:latin typeface="Twentieth Century"/>
              </a:rPr>
              <a:t>Harus diakhiri dengan titik koma </a:t>
            </a:r>
            <a:r>
              <a:rPr lang="fi-FI" sz="3200" b="1" dirty="0">
                <a:solidFill>
                  <a:srgbClr val="0070C0"/>
                </a:solidFill>
                <a:latin typeface="Twentieth Century"/>
              </a:rPr>
              <a:t>;</a:t>
            </a:r>
            <a:endParaRPr lang="fi-FI" sz="3200" b="1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endParaRPr lang="fi-FI" sz="2400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endParaRPr lang="fi-FI" sz="2400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r>
              <a:rPr lang="en-GB" sz="2400" dirty="0" err="1">
                <a:latin typeface="Twentieth Century"/>
              </a:rPr>
              <a:t>System.out</a:t>
            </a:r>
            <a:r>
              <a:rPr lang="en-GB" sz="2400" dirty="0">
                <a:latin typeface="Twentieth Century"/>
              </a:rPr>
              <a:t>: standard output object</a:t>
            </a:r>
          </a:p>
          <a:p>
            <a:pPr algn="just">
              <a:lnSpc>
                <a:spcPct val="150000"/>
              </a:lnSpc>
            </a:pPr>
            <a:r>
              <a:rPr lang="en-GB" sz="2400" dirty="0" err="1">
                <a:latin typeface="Twentieth Century"/>
              </a:rPr>
              <a:t>System.out.println</a:t>
            </a:r>
            <a:r>
              <a:rPr lang="en-GB" sz="2400" dirty="0">
                <a:latin typeface="Twentieth Century"/>
              </a:rPr>
              <a:t>: displays line of text</a:t>
            </a:r>
          </a:p>
          <a:p>
            <a:pPr algn="just">
              <a:lnSpc>
                <a:spcPct val="150000"/>
              </a:lnSpc>
            </a:pPr>
            <a:endParaRPr lang="fi-FI" sz="2400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Twentieth Centur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0492EA-9120-4740-AFFE-A75AD191E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594" y="3002718"/>
            <a:ext cx="5897206" cy="377816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BC23826E-9794-4707-9126-71D73DD90516}"/>
              </a:ext>
            </a:extLst>
          </p:cNvPr>
          <p:cNvSpPr/>
          <p:nvPr/>
        </p:nvSpPr>
        <p:spPr>
          <a:xfrm rot="16200000">
            <a:off x="5254921" y="2359316"/>
            <a:ext cx="230036" cy="2328431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961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TEXT DISPLAYING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7" name="Google Shape;272;p5">
            <a:extLst>
              <a:ext uri="{FF2B5EF4-FFF2-40B4-BE49-F238E27FC236}">
                <a16:creationId xmlns:a16="http://schemas.microsoft.com/office/drawing/2014/main" id="{3487296A-7147-4BDB-8DCE-E75CB6F6F8B4}"/>
              </a:ext>
            </a:extLst>
          </p:cNvPr>
          <p:cNvSpPr txBox="1">
            <a:spLocks/>
          </p:cNvSpPr>
          <p:nvPr/>
        </p:nvSpPr>
        <p:spPr>
          <a:xfrm>
            <a:off x="746982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fi-FI" sz="2400" b="1" dirty="0">
                <a:latin typeface="Twentieth Century"/>
              </a:rPr>
              <a:t>Displaying Methods</a:t>
            </a:r>
          </a:p>
          <a:p>
            <a:pPr algn="just">
              <a:lnSpc>
                <a:spcPct val="150000"/>
              </a:lnSpc>
            </a:pPr>
            <a:r>
              <a:rPr lang="fi-FI" sz="2400" b="1" dirty="0">
                <a:latin typeface="Twentieth Century"/>
              </a:rPr>
              <a:t>System.out.println</a:t>
            </a:r>
          </a:p>
          <a:p>
            <a:pPr algn="just">
              <a:lnSpc>
                <a:spcPct val="150000"/>
              </a:lnSpc>
            </a:pPr>
            <a:r>
              <a:rPr lang="fi-FI" sz="2400" dirty="0">
                <a:latin typeface="Twentieth Century"/>
              </a:rPr>
              <a:t>	Prints argument, puts cursor on </a:t>
            </a:r>
            <a:r>
              <a:rPr lang="fi-FI" sz="2400" b="1" dirty="0">
                <a:latin typeface="Twentieth Century"/>
              </a:rPr>
              <a:t>new line</a:t>
            </a:r>
          </a:p>
          <a:p>
            <a:pPr algn="just">
              <a:lnSpc>
                <a:spcPct val="150000"/>
              </a:lnSpc>
            </a:pPr>
            <a:r>
              <a:rPr lang="fi-FI" sz="2400" b="1" dirty="0">
                <a:latin typeface="Twentieth Century"/>
              </a:rPr>
              <a:t>System.out.print</a:t>
            </a:r>
          </a:p>
          <a:p>
            <a:pPr algn="just">
              <a:lnSpc>
                <a:spcPct val="150000"/>
              </a:lnSpc>
            </a:pPr>
            <a:r>
              <a:rPr lang="fi-FI" sz="2400" b="1" dirty="0">
                <a:latin typeface="Twentieth Century"/>
              </a:rPr>
              <a:t>	</a:t>
            </a:r>
            <a:r>
              <a:rPr lang="fi-FI" sz="2400" dirty="0">
                <a:latin typeface="Twentieth Century"/>
              </a:rPr>
              <a:t>Prints argument, keeps cursor on </a:t>
            </a:r>
            <a:r>
              <a:rPr lang="fi-FI" sz="2400" b="1" dirty="0">
                <a:latin typeface="Twentieth Century"/>
              </a:rPr>
              <a:t>same line</a:t>
            </a:r>
          </a:p>
          <a:p>
            <a:pPr algn="just">
              <a:lnSpc>
                <a:spcPct val="150000"/>
              </a:lnSpc>
            </a:pPr>
            <a:r>
              <a:rPr lang="fi-FI" sz="2400" b="1" dirty="0">
                <a:latin typeface="Twentieth Century"/>
              </a:rPr>
              <a:t>System.out.printf</a:t>
            </a:r>
          </a:p>
          <a:p>
            <a:pPr algn="just">
              <a:lnSpc>
                <a:spcPct val="150000"/>
              </a:lnSpc>
            </a:pPr>
            <a:r>
              <a:rPr lang="fi-FI" sz="2400" b="1" dirty="0">
                <a:latin typeface="Twentieth Century"/>
              </a:rPr>
              <a:t>	</a:t>
            </a:r>
            <a:r>
              <a:rPr lang="fi-FI" sz="2400" dirty="0">
                <a:latin typeface="Twentieth Century"/>
              </a:rPr>
              <a:t>Prints argument which is a </a:t>
            </a:r>
            <a:r>
              <a:rPr lang="fi-FI" sz="2400" b="1" dirty="0">
                <a:latin typeface="Twentieth Century"/>
              </a:rPr>
              <a:t>format string</a:t>
            </a:r>
          </a:p>
          <a:p>
            <a:pPr algn="just">
              <a:lnSpc>
                <a:spcPct val="150000"/>
              </a:lnSpc>
            </a:pPr>
            <a:endParaRPr lang="fi-FI" sz="2400" b="1" dirty="0">
              <a:latin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356529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TEXT DISPLAYING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F93C91-9EA8-40D1-93A0-8A358B2139B6}"/>
              </a:ext>
            </a:extLst>
          </p:cNvPr>
          <p:cNvSpPr txBox="1">
            <a:spLocks/>
          </p:cNvSpPr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15" name="Google Shape;272;p5">
            <a:extLst>
              <a:ext uri="{FF2B5EF4-FFF2-40B4-BE49-F238E27FC236}">
                <a16:creationId xmlns:a16="http://schemas.microsoft.com/office/drawing/2014/main" id="{3810C9C1-D6F9-4702-859A-7C58DCA6EE95}"/>
              </a:ext>
            </a:extLst>
          </p:cNvPr>
          <p:cNvSpPr txBox="1">
            <a:spLocks/>
          </p:cNvSpPr>
          <p:nvPr/>
        </p:nvSpPr>
        <p:spPr>
          <a:xfrm>
            <a:off x="746982" y="1592623"/>
            <a:ext cx="10515600" cy="4810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400" b="1" dirty="0">
                <a:latin typeface="Twentieth Century"/>
              </a:rPr>
              <a:t>Escape Sequences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sz="2400" dirty="0">
                <a:latin typeface="Twentieth Century"/>
              </a:rPr>
              <a:t>Garis miring </a:t>
            </a:r>
            <a:r>
              <a:rPr lang="en-GB" sz="2400" dirty="0" err="1">
                <a:latin typeface="Twentieth Century"/>
              </a:rPr>
              <a:t>terbalik</a:t>
            </a:r>
            <a:r>
              <a:rPr lang="en-GB" sz="2400" dirty="0">
                <a:latin typeface="Twentieth Century"/>
              </a:rPr>
              <a:t> “\” </a:t>
            </a:r>
            <a:r>
              <a:rPr lang="en-GB" sz="2400" dirty="0" err="1">
                <a:latin typeface="Twentieth Century"/>
              </a:rPr>
              <a:t>disebut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karakter</a:t>
            </a:r>
            <a:r>
              <a:rPr lang="en-GB" sz="2400" dirty="0">
                <a:latin typeface="Twentieth Century"/>
              </a:rPr>
              <a:t> escape </a:t>
            </a:r>
            <a:r>
              <a:rPr lang="en-GB" sz="2400" dirty="0" err="1">
                <a:latin typeface="Twentieth Century"/>
              </a:rPr>
              <a:t>untuk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menunjukkan</a:t>
            </a:r>
            <a:r>
              <a:rPr lang="en-GB" sz="2400" dirty="0">
                <a:latin typeface="Twentieth Century"/>
              </a:rPr>
              <a:t> “</a:t>
            </a:r>
            <a:r>
              <a:rPr lang="en-GB" sz="2400" dirty="0" err="1">
                <a:latin typeface="Twentieth Century"/>
              </a:rPr>
              <a:t>karakter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khusus</a:t>
            </a:r>
            <a:r>
              <a:rPr lang="en-GB" sz="2400" dirty="0">
                <a:latin typeface="Twentieth Century"/>
              </a:rPr>
              <a:t>” yang </a:t>
            </a:r>
            <a:r>
              <a:rPr lang="en-GB" sz="2400" dirty="0" err="1">
                <a:latin typeface="Twentieth Century"/>
              </a:rPr>
              <a:t>akan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dihasilkan</a:t>
            </a:r>
            <a:r>
              <a:rPr lang="en-GB" sz="2400" dirty="0">
                <a:latin typeface="Twentieth Century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sz="2400" dirty="0">
                <a:latin typeface="Twentieth Century"/>
              </a:rPr>
              <a:t>Garis miring </a:t>
            </a:r>
            <a:r>
              <a:rPr lang="en-GB" sz="2400" dirty="0" err="1">
                <a:latin typeface="Twentieth Century"/>
              </a:rPr>
              <a:t>terbalik</a:t>
            </a:r>
            <a:r>
              <a:rPr lang="en-GB" sz="2400" dirty="0">
                <a:latin typeface="Twentieth Century"/>
              </a:rPr>
              <a:t> yang </a:t>
            </a:r>
            <a:r>
              <a:rPr lang="en-GB" sz="2400" dirty="0" err="1">
                <a:latin typeface="Twentieth Century"/>
              </a:rPr>
              <a:t>dipadukan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dengan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karakter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membuat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b="1" dirty="0">
                <a:latin typeface="Twentieth Century"/>
              </a:rPr>
              <a:t>escape sequences</a:t>
            </a:r>
          </a:p>
          <a:p>
            <a:pPr algn="just"/>
            <a:endParaRPr lang="en-GB" sz="2400" b="1" dirty="0">
              <a:latin typeface="Twentieth Century"/>
            </a:endParaRPr>
          </a:p>
          <a:p>
            <a:pPr algn="just"/>
            <a:endParaRPr lang="en-GB" sz="2400" b="1" dirty="0">
              <a:latin typeface="Twentieth Century"/>
            </a:endParaRPr>
          </a:p>
        </p:txBody>
      </p:sp>
      <p:graphicFrame>
        <p:nvGraphicFramePr>
          <p:cNvPr id="6" name="表格 3">
            <a:extLst>
              <a:ext uri="{FF2B5EF4-FFF2-40B4-BE49-F238E27FC236}">
                <a16:creationId xmlns:a16="http://schemas.microsoft.com/office/drawing/2014/main" id="{B41BF2B2-3C63-4CFA-8544-54A8CD0FF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825659"/>
              </p:ext>
            </p:extLst>
          </p:nvPr>
        </p:nvGraphicFramePr>
        <p:xfrm>
          <a:off x="1576939" y="3656306"/>
          <a:ext cx="8671962" cy="291410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61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0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wentieth Century"/>
                        </a:rPr>
                        <a:t>Escape</a:t>
                      </a:r>
                      <a:r>
                        <a:rPr lang="en-US" altLang="zh-TW" sz="1600" baseline="0" dirty="0">
                          <a:latin typeface="Twentieth Century"/>
                        </a:rPr>
                        <a:t> Sequence</a:t>
                      </a:r>
                      <a:endParaRPr lang="zh-TW" altLang="en-US" sz="1600" dirty="0">
                        <a:latin typeface="Twentieth Century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wentieth Century"/>
                        </a:rPr>
                        <a:t>Description</a:t>
                      </a:r>
                      <a:endParaRPr lang="zh-TW" altLang="en-US" sz="1600" dirty="0">
                        <a:latin typeface="Twentieth Century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latin typeface="Twentieth Century"/>
                        </a:rPr>
                        <a:t>\n</a:t>
                      </a:r>
                      <a:endParaRPr lang="zh-TW" altLang="en-US" sz="1600" b="1" dirty="0">
                        <a:latin typeface="Twentieth Century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600" i="1" dirty="0">
                          <a:latin typeface="Twentieth Century"/>
                        </a:rPr>
                        <a:t>Newline </a:t>
                      </a:r>
                      <a:endParaRPr lang="zh-TW" altLang="en-US" sz="1600" i="1" dirty="0">
                        <a:latin typeface="Twentieth Century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6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latin typeface="Twentieth Century"/>
                        </a:rPr>
                        <a:t>\t</a:t>
                      </a:r>
                      <a:endParaRPr lang="zh-TW" altLang="en-US" sz="1600" b="1" dirty="0">
                        <a:latin typeface="Twentieth Century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600" i="1" dirty="0">
                          <a:latin typeface="Twentieth Century"/>
                        </a:rPr>
                        <a:t>Horizontal Tab</a:t>
                      </a:r>
                      <a:endParaRPr lang="zh-TW" altLang="en-US" sz="1600" i="1" dirty="0">
                        <a:latin typeface="Twentieth Century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6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latin typeface="Twentieth Century"/>
                        </a:rPr>
                        <a:t>\f</a:t>
                      </a:r>
                      <a:endParaRPr lang="zh-TW" altLang="en-US" sz="1600" b="1" dirty="0">
                        <a:latin typeface="Twentieth Century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600" i="1" dirty="0" err="1">
                          <a:latin typeface="Twentieth Century"/>
                        </a:rPr>
                        <a:t>Formfeed</a:t>
                      </a:r>
                      <a:endParaRPr lang="zh-TW" altLang="en-US" sz="1600" i="1" dirty="0">
                        <a:latin typeface="Twentieth Century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47867546"/>
                  </a:ext>
                </a:extLst>
              </a:tr>
              <a:tr h="3592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latin typeface="Twentieth Century"/>
                        </a:rPr>
                        <a:t>\b</a:t>
                      </a:r>
                      <a:endParaRPr lang="zh-TW" altLang="en-US" sz="1600" b="1" dirty="0">
                        <a:latin typeface="Twentieth Century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600" i="1" dirty="0">
                          <a:latin typeface="Twentieth Century"/>
                        </a:rPr>
                        <a:t>Backspace</a:t>
                      </a:r>
                      <a:endParaRPr lang="zh-TW" altLang="en-US" sz="1600" i="1" dirty="0">
                        <a:latin typeface="Twentieth Century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latin typeface="Twentieth Century"/>
                        </a:rPr>
                        <a:t>\\</a:t>
                      </a:r>
                      <a:endParaRPr lang="zh-TW" altLang="en-US" sz="1600" b="1" dirty="0">
                        <a:latin typeface="Twentieth Century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600" i="1" dirty="0">
                          <a:latin typeface="Twentieth Century"/>
                        </a:rPr>
                        <a:t>Backslash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2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latin typeface="Twentieth Century"/>
                        </a:rPr>
                        <a:t>\”</a:t>
                      </a:r>
                      <a:endParaRPr lang="zh-TW" altLang="en-US" sz="1600" b="1" dirty="0">
                        <a:latin typeface="Twentieth Century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600" i="1" dirty="0">
                          <a:latin typeface="Twentieth Century"/>
                        </a:rPr>
                        <a:t>Double  Quote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2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latin typeface="Twentieth Century"/>
                        </a:rPr>
                        <a:t>\</a:t>
                      </a:r>
                      <a:r>
                        <a:rPr lang="en-US" altLang="zh-TW" sz="1600" b="1" dirty="0" err="1">
                          <a:latin typeface="Twentieth Century"/>
                        </a:rPr>
                        <a:t>uxxx</a:t>
                      </a:r>
                      <a:endParaRPr lang="zh-TW" altLang="en-US" sz="1600" b="1" dirty="0">
                        <a:latin typeface="Twentieth Century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600" dirty="0" err="1">
                          <a:latin typeface="Twentieth Century"/>
                        </a:rPr>
                        <a:t>Karakter</a:t>
                      </a:r>
                      <a:r>
                        <a:rPr lang="en-US" altLang="zh-TW" sz="1600" dirty="0">
                          <a:latin typeface="Twentieth Century"/>
                        </a:rPr>
                        <a:t> </a:t>
                      </a:r>
                      <a:r>
                        <a:rPr lang="en-US" altLang="zh-TW" sz="1600" dirty="0" err="1">
                          <a:latin typeface="Twentieth Century"/>
                        </a:rPr>
                        <a:t>dalam</a:t>
                      </a:r>
                      <a:r>
                        <a:rPr lang="en-US" altLang="zh-TW" sz="1600" dirty="0">
                          <a:latin typeface="Twentieth Century"/>
                        </a:rPr>
                        <a:t> Unicode </a:t>
                      </a:r>
                      <a:r>
                        <a:rPr lang="en-US" altLang="zh-TW" sz="1600" dirty="0" err="1">
                          <a:latin typeface="Twentieth Century"/>
                        </a:rPr>
                        <a:t>dengan</a:t>
                      </a:r>
                      <a:r>
                        <a:rPr lang="en-US" altLang="zh-TW" sz="1600" dirty="0">
                          <a:latin typeface="Twentieth Century"/>
                        </a:rPr>
                        <a:t> </a:t>
                      </a:r>
                      <a:r>
                        <a:rPr lang="en-US" altLang="zh-TW" sz="1600" dirty="0" err="1">
                          <a:latin typeface="Twentieth Century"/>
                        </a:rPr>
                        <a:t>satu</a:t>
                      </a:r>
                      <a:r>
                        <a:rPr lang="en-US" altLang="zh-TW" sz="1600" dirty="0">
                          <a:latin typeface="Twentieth Century"/>
                        </a:rPr>
                        <a:t> x </a:t>
                      </a:r>
                      <a:r>
                        <a:rPr lang="en-US" altLang="zh-TW" sz="1600" dirty="0" err="1">
                          <a:latin typeface="Twentieth Century"/>
                        </a:rPr>
                        <a:t>menyatakan</a:t>
                      </a:r>
                      <a:r>
                        <a:rPr lang="en-US" altLang="zh-TW" sz="1600" dirty="0">
                          <a:latin typeface="Twentieth Century"/>
                        </a:rPr>
                        <a:t> </a:t>
                      </a:r>
                      <a:r>
                        <a:rPr lang="en-US" altLang="zh-TW" sz="1600" dirty="0" err="1">
                          <a:latin typeface="Twentieth Century"/>
                        </a:rPr>
                        <a:t>satu</a:t>
                      </a:r>
                      <a:r>
                        <a:rPr lang="en-US" altLang="zh-TW" sz="1600" dirty="0">
                          <a:latin typeface="Twentieth Century"/>
                        </a:rPr>
                        <a:t> symbol </a:t>
                      </a:r>
                      <a:r>
                        <a:rPr lang="en-US" altLang="zh-TW" sz="1600" dirty="0" err="1">
                          <a:latin typeface="Twentieth Century"/>
                        </a:rPr>
                        <a:t>dalam</a:t>
                      </a:r>
                      <a:r>
                        <a:rPr lang="en-US" altLang="zh-TW" sz="1600" dirty="0">
                          <a:latin typeface="Twentieth Century"/>
                        </a:rPr>
                        <a:t> system </a:t>
                      </a:r>
                      <a:r>
                        <a:rPr lang="en-US" altLang="zh-TW" sz="1600" dirty="0" err="1">
                          <a:latin typeface="Twentieth Century"/>
                        </a:rPr>
                        <a:t>heksadesimal</a:t>
                      </a:r>
                      <a:endParaRPr lang="en-US" altLang="zh-TW" sz="1600" dirty="0">
                        <a:latin typeface="Twentieth Century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2264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032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TEXT DISPLAYING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F93C91-9EA8-40D1-93A0-8A358B2139B6}"/>
              </a:ext>
            </a:extLst>
          </p:cNvPr>
          <p:cNvSpPr txBox="1">
            <a:spLocks/>
          </p:cNvSpPr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15" name="Google Shape;272;p5">
            <a:extLst>
              <a:ext uri="{FF2B5EF4-FFF2-40B4-BE49-F238E27FC236}">
                <a16:creationId xmlns:a16="http://schemas.microsoft.com/office/drawing/2014/main" id="{3810C9C1-D6F9-4702-859A-7C58DCA6EE95}"/>
              </a:ext>
            </a:extLst>
          </p:cNvPr>
          <p:cNvSpPr txBox="1">
            <a:spLocks/>
          </p:cNvSpPr>
          <p:nvPr/>
        </p:nvSpPr>
        <p:spPr>
          <a:xfrm>
            <a:off x="746982" y="1592623"/>
            <a:ext cx="10515600" cy="4810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400" b="1" dirty="0">
                <a:latin typeface="Twentieth Century"/>
              </a:rPr>
              <a:t>Escape Sequences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sz="2400" dirty="0" err="1">
                <a:latin typeface="Twentieth Century"/>
              </a:rPr>
              <a:t>Contoh</a:t>
            </a:r>
            <a:r>
              <a:rPr lang="en-GB" sz="2400" dirty="0">
                <a:latin typeface="Twentieth Century"/>
              </a:rPr>
              <a:t> program</a:t>
            </a:r>
            <a:endParaRPr lang="en-GB" sz="2400" b="1" dirty="0">
              <a:latin typeface="Twentieth Century"/>
            </a:endParaRPr>
          </a:p>
          <a:p>
            <a:pPr algn="just"/>
            <a:endParaRPr lang="en-GB" sz="2400" b="1" dirty="0">
              <a:latin typeface="Twentieth Century"/>
            </a:endParaRPr>
          </a:p>
          <a:p>
            <a:pPr algn="just"/>
            <a:endParaRPr lang="en-GB" sz="2400" b="1" dirty="0">
              <a:latin typeface="Twentieth Centur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0E051B-331F-46B3-84B4-921BD3DB0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598" y="2953708"/>
            <a:ext cx="5321670" cy="26837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0C2323-D86E-497F-830A-83DC2C339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633" y="3429000"/>
            <a:ext cx="3286584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16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TEXT DISPLAYING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F93C91-9EA8-40D1-93A0-8A358B2139B6}"/>
              </a:ext>
            </a:extLst>
          </p:cNvPr>
          <p:cNvSpPr txBox="1">
            <a:spLocks/>
          </p:cNvSpPr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15" name="Google Shape;272;p5">
            <a:extLst>
              <a:ext uri="{FF2B5EF4-FFF2-40B4-BE49-F238E27FC236}">
                <a16:creationId xmlns:a16="http://schemas.microsoft.com/office/drawing/2014/main" id="{3810C9C1-D6F9-4702-859A-7C58DCA6EE95}"/>
              </a:ext>
            </a:extLst>
          </p:cNvPr>
          <p:cNvSpPr txBox="1">
            <a:spLocks/>
          </p:cNvSpPr>
          <p:nvPr/>
        </p:nvSpPr>
        <p:spPr>
          <a:xfrm>
            <a:off x="746982" y="1592623"/>
            <a:ext cx="10515600" cy="4810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400" b="1" dirty="0">
                <a:latin typeface="Twentieth Century"/>
              </a:rPr>
              <a:t>Format String</a:t>
            </a:r>
          </a:p>
          <a:p>
            <a:pPr algn="ctr"/>
            <a:endParaRPr lang="en-GB" sz="2400" b="1" dirty="0">
              <a:latin typeface="Twentieth Century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sz="2400" dirty="0" err="1">
                <a:latin typeface="Twentieth Century"/>
              </a:rPr>
              <a:t>Argumen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pertama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printf</a:t>
            </a:r>
            <a:r>
              <a:rPr lang="en-GB" sz="2400" dirty="0">
                <a:latin typeface="Twentieth Century"/>
              </a:rPr>
              <a:t>() </a:t>
            </a:r>
            <a:r>
              <a:rPr lang="en-GB" sz="2400" dirty="0" err="1">
                <a:latin typeface="Twentieth Century"/>
              </a:rPr>
              <a:t>adalah</a:t>
            </a:r>
            <a:r>
              <a:rPr lang="en-GB" sz="2400" dirty="0">
                <a:latin typeface="Twentieth Century"/>
              </a:rPr>
              <a:t> format string</a:t>
            </a:r>
          </a:p>
          <a:p>
            <a:pPr marL="693737" indent="-342900" algn="just">
              <a:buFont typeface="Wingdings" panose="05000000000000000000" pitchFamily="2" charset="2"/>
              <a:buChar char="§"/>
            </a:pPr>
            <a:r>
              <a:rPr lang="en-GB" sz="2400" dirty="0" err="1">
                <a:latin typeface="Twentieth Century"/>
              </a:rPr>
              <a:t>Memperbaiki</a:t>
            </a:r>
            <a:r>
              <a:rPr lang="en-GB" sz="2400" dirty="0">
                <a:latin typeface="Twentieth Century"/>
              </a:rPr>
              <a:t> Teks</a:t>
            </a:r>
          </a:p>
          <a:p>
            <a:pPr marL="693737" indent="-342900" algn="just">
              <a:buFont typeface="Wingdings" panose="05000000000000000000" pitchFamily="2" charset="2"/>
              <a:buChar char="§"/>
            </a:pPr>
            <a:r>
              <a:rPr lang="en-GB" sz="2400" dirty="0" err="1">
                <a:latin typeface="Twentieth Century"/>
              </a:rPr>
              <a:t>Penentu</a:t>
            </a:r>
            <a:r>
              <a:rPr lang="en-GB" sz="2400" dirty="0">
                <a:latin typeface="Twentieth Century"/>
              </a:rPr>
              <a:t> Format</a:t>
            </a:r>
          </a:p>
          <a:p>
            <a:pPr marL="350837" algn="just"/>
            <a:endParaRPr lang="en-GB" sz="2400" dirty="0">
              <a:latin typeface="Twentieth Century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sz="2400" dirty="0" err="1">
                <a:latin typeface="Twentieth Century"/>
              </a:rPr>
              <a:t>Penentu</a:t>
            </a:r>
            <a:r>
              <a:rPr lang="en-GB" sz="2400" dirty="0">
                <a:latin typeface="Twentieth Century"/>
              </a:rPr>
              <a:t> format </a:t>
            </a:r>
            <a:r>
              <a:rPr lang="en-GB" sz="2400" dirty="0" err="1">
                <a:latin typeface="Twentieth Century"/>
              </a:rPr>
              <a:t>adalah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pengganti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nilai</a:t>
            </a:r>
            <a:r>
              <a:rPr lang="en-GB" sz="2400" dirty="0">
                <a:latin typeface="Twentieth Century"/>
              </a:rPr>
              <a:t> dan </a:t>
            </a:r>
            <a:r>
              <a:rPr lang="en-GB" sz="2400" dirty="0" err="1">
                <a:latin typeface="Twentieth Century"/>
              </a:rPr>
              <a:t>menentukan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tipe</a:t>
            </a:r>
            <a:r>
              <a:rPr lang="en-GB" sz="2400" dirty="0">
                <a:latin typeface="Twentieth Century"/>
              </a:rPr>
              <a:t> data.</a:t>
            </a:r>
          </a:p>
          <a:p>
            <a:pPr marL="719138" indent="-446088" algn="just">
              <a:buFont typeface="Wingdings" panose="05000000000000000000" pitchFamily="2" charset="2"/>
              <a:buChar char="§"/>
            </a:pPr>
            <a:r>
              <a:rPr lang="en-GB" sz="2400" dirty="0">
                <a:latin typeface="Twentieth Century"/>
              </a:rPr>
              <a:t>Tanda </a:t>
            </a:r>
            <a:r>
              <a:rPr lang="en-GB" sz="2400" dirty="0" err="1">
                <a:latin typeface="Twentieth Century"/>
              </a:rPr>
              <a:t>Persen</a:t>
            </a:r>
            <a:r>
              <a:rPr lang="en-GB" sz="2400" dirty="0">
                <a:latin typeface="Twentieth Century"/>
              </a:rPr>
              <a:t> (“%”)</a:t>
            </a:r>
          </a:p>
          <a:p>
            <a:pPr marL="719138" indent="-446088" algn="just">
              <a:buFont typeface="Wingdings" panose="05000000000000000000" pitchFamily="2" charset="2"/>
              <a:buChar char="§"/>
            </a:pPr>
            <a:r>
              <a:rPr lang="en-GB" sz="2400" dirty="0" err="1">
                <a:latin typeface="Twentieth Century"/>
              </a:rPr>
              <a:t>Tipe</a:t>
            </a:r>
            <a:r>
              <a:rPr lang="en-GB" sz="2400" dirty="0">
                <a:latin typeface="Twentieth Century"/>
              </a:rPr>
              <a:t> Data</a:t>
            </a:r>
            <a:endParaRPr lang="en-GB" sz="2400" b="1" dirty="0">
              <a:latin typeface="Twentieth Century"/>
            </a:endParaRPr>
          </a:p>
          <a:p>
            <a:pPr algn="just"/>
            <a:endParaRPr lang="en-GB" sz="2400" b="1" dirty="0">
              <a:latin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187921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TEXT DISPLAYING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F93C91-9EA8-40D1-93A0-8A358B2139B6}"/>
              </a:ext>
            </a:extLst>
          </p:cNvPr>
          <p:cNvSpPr txBox="1">
            <a:spLocks/>
          </p:cNvSpPr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15" name="Google Shape;272;p5">
            <a:extLst>
              <a:ext uri="{FF2B5EF4-FFF2-40B4-BE49-F238E27FC236}">
                <a16:creationId xmlns:a16="http://schemas.microsoft.com/office/drawing/2014/main" id="{3810C9C1-D6F9-4702-859A-7C58DCA6EE95}"/>
              </a:ext>
            </a:extLst>
          </p:cNvPr>
          <p:cNvSpPr txBox="1">
            <a:spLocks/>
          </p:cNvSpPr>
          <p:nvPr/>
        </p:nvSpPr>
        <p:spPr>
          <a:xfrm>
            <a:off x="746982" y="1592624"/>
            <a:ext cx="105156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400" b="1" dirty="0">
                <a:latin typeface="Twentieth Century"/>
              </a:rPr>
              <a:t>Format String</a:t>
            </a:r>
          </a:p>
          <a:p>
            <a:pPr algn="just"/>
            <a:endParaRPr lang="en-GB" sz="2400" b="1" dirty="0">
              <a:latin typeface="Twentieth Century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F367436-1574-494D-8C15-F6AB650F5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149166"/>
              </p:ext>
            </p:extLst>
          </p:nvPr>
        </p:nvGraphicFramePr>
        <p:xfrm>
          <a:off x="1903244" y="2307841"/>
          <a:ext cx="8479006" cy="1981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3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Type Character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String Result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%c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char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character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%d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signed</a:t>
                      </a:r>
                      <a:r>
                        <a:rPr lang="en-US" altLang="zh-TW" sz="1800" baseline="0" dirty="0"/>
                        <a:t> </a:t>
                      </a:r>
                      <a:r>
                        <a:rPr lang="en-US" altLang="zh-TW" sz="1800" baseline="0" dirty="0" err="1"/>
                        <a:t>int</a:t>
                      </a:r>
                      <a:endParaRPr lang="en-US" altLang="zh-TW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signed decimal integer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%f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float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real number,</a:t>
                      </a:r>
                      <a:r>
                        <a:rPr lang="en-US" altLang="zh-TW" sz="1800" baseline="0" dirty="0"/>
                        <a:t> standard notation</a:t>
                      </a:r>
                      <a:endParaRPr lang="en-US" altLang="zh-TW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%s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string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string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C997067-148E-4A47-A0CE-A625BE79C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888" y="4753462"/>
            <a:ext cx="5952335" cy="4039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7D2CAA-C5CE-412E-B303-D629027A5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888" y="5546590"/>
            <a:ext cx="3972479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70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SEPARATOR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F93C91-9EA8-40D1-93A0-8A358B2139B6}"/>
              </a:ext>
            </a:extLst>
          </p:cNvPr>
          <p:cNvSpPr txBox="1">
            <a:spLocks/>
          </p:cNvSpPr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15" name="Google Shape;272;p5">
            <a:extLst>
              <a:ext uri="{FF2B5EF4-FFF2-40B4-BE49-F238E27FC236}">
                <a16:creationId xmlns:a16="http://schemas.microsoft.com/office/drawing/2014/main" id="{3810C9C1-D6F9-4702-859A-7C58DCA6EE95}"/>
              </a:ext>
            </a:extLst>
          </p:cNvPr>
          <p:cNvSpPr txBox="1">
            <a:spLocks/>
          </p:cNvSpPr>
          <p:nvPr/>
        </p:nvSpPr>
        <p:spPr>
          <a:xfrm>
            <a:off x="746982" y="1592624"/>
            <a:ext cx="10515600" cy="315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sv-SE" sz="9600" dirty="0">
                <a:latin typeface="Twentieth Century"/>
              </a:rPr>
              <a:t>Separator digunakan untuk memisahkan salah satu bagian program dengan bagian lainnya</a:t>
            </a:r>
          </a:p>
          <a:p>
            <a:pPr>
              <a:lnSpc>
                <a:spcPct val="120000"/>
              </a:lnSpc>
            </a:pPr>
            <a:r>
              <a:rPr lang="sv-SE" sz="9600" dirty="0">
                <a:latin typeface="Twentieth Century"/>
              </a:rPr>
              <a:t>Separator yang umum digunakan antara lain:</a:t>
            </a:r>
          </a:p>
          <a:p>
            <a:r>
              <a:rPr lang="sv-SE" sz="9600" dirty="0">
                <a:latin typeface="Twentieth Century"/>
              </a:rPr>
              <a:t>	() </a:t>
            </a:r>
          </a:p>
          <a:p>
            <a:r>
              <a:rPr lang="sv-SE" sz="9600" dirty="0">
                <a:latin typeface="Twentieth Century"/>
              </a:rPr>
              <a:t>	{}</a:t>
            </a:r>
          </a:p>
          <a:p>
            <a:r>
              <a:rPr lang="sv-SE" sz="9600" dirty="0">
                <a:latin typeface="Twentieth Century"/>
              </a:rPr>
              <a:t>	[]</a:t>
            </a:r>
          </a:p>
          <a:p>
            <a:r>
              <a:rPr lang="sv-SE" sz="9600" dirty="0">
                <a:latin typeface="Twentieth Century"/>
              </a:rPr>
              <a:t>	;</a:t>
            </a:r>
          </a:p>
          <a:p>
            <a:r>
              <a:rPr lang="sv-SE" sz="9600" dirty="0">
                <a:latin typeface="Twentieth Century"/>
              </a:rPr>
              <a:t>	,</a:t>
            </a:r>
          </a:p>
          <a:p>
            <a:r>
              <a:rPr lang="sv-SE" sz="9600" dirty="0">
                <a:latin typeface="Twentieth Century"/>
              </a:rPr>
              <a:t>	.</a:t>
            </a:r>
          </a:p>
          <a:p>
            <a:pPr algn="just"/>
            <a:endParaRPr lang="en-GB" sz="2400" b="1" dirty="0">
              <a:latin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422324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SEPARATOR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F93C91-9EA8-40D1-93A0-8A358B2139B6}"/>
              </a:ext>
            </a:extLst>
          </p:cNvPr>
          <p:cNvSpPr txBox="1">
            <a:spLocks/>
          </p:cNvSpPr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15" name="Google Shape;272;p5">
            <a:extLst>
              <a:ext uri="{FF2B5EF4-FFF2-40B4-BE49-F238E27FC236}">
                <a16:creationId xmlns:a16="http://schemas.microsoft.com/office/drawing/2014/main" id="{3810C9C1-D6F9-4702-859A-7C58DCA6EE95}"/>
              </a:ext>
            </a:extLst>
          </p:cNvPr>
          <p:cNvSpPr txBox="1">
            <a:spLocks/>
          </p:cNvSpPr>
          <p:nvPr/>
        </p:nvSpPr>
        <p:spPr>
          <a:xfrm>
            <a:off x="746982" y="1592623"/>
            <a:ext cx="10515600" cy="404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sv-SE" sz="2400" dirty="0">
                <a:latin typeface="Twentieth Century"/>
              </a:rPr>
              <a:t>Separator tanda kurung atau </a:t>
            </a:r>
            <a:r>
              <a:rPr lang="sv-SE" sz="2400" b="1" dirty="0">
                <a:latin typeface="Twentieth Century"/>
              </a:rPr>
              <a:t>() </a:t>
            </a:r>
            <a:r>
              <a:rPr lang="sv-SE" sz="2400" dirty="0">
                <a:latin typeface="Twentieth Century"/>
              </a:rPr>
              <a:t>digunakan untuk</a:t>
            </a:r>
          </a:p>
          <a:p>
            <a:pPr marL="544513" indent="-27146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sv-SE" sz="2400" dirty="0">
                <a:latin typeface="Twentieth Century"/>
              </a:rPr>
              <a:t>Mengisikan daftar parameter di dalam method</a:t>
            </a:r>
          </a:p>
          <a:p>
            <a:pPr marL="544513" indent="-27146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sv-SE" sz="2400" dirty="0">
                <a:latin typeface="Twentieth Century"/>
              </a:rPr>
              <a:t>Mengapit sebuah operasi tertentu (misal aritmetika)</a:t>
            </a:r>
          </a:p>
          <a:p>
            <a:pPr marL="544513" indent="-27146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sv-SE" sz="2400" dirty="0">
                <a:latin typeface="Twentieth Century"/>
              </a:rPr>
              <a:t>Mengapit ekspresi di dalam statement control</a:t>
            </a:r>
          </a:p>
          <a:p>
            <a:pPr marL="273050">
              <a:lnSpc>
                <a:spcPct val="120000"/>
              </a:lnSpc>
            </a:pPr>
            <a:r>
              <a:rPr lang="sv-SE" sz="2400" dirty="0">
                <a:latin typeface="Twentieth Century"/>
              </a:rPr>
              <a:t> </a:t>
            </a:r>
          </a:p>
          <a:p>
            <a:r>
              <a:rPr lang="sv-SE" sz="2400" dirty="0">
                <a:latin typeface="Twentieth Century"/>
              </a:rPr>
              <a:t>	</a:t>
            </a:r>
            <a:endParaRPr lang="en-GB" sz="2400" b="1" dirty="0">
              <a:latin typeface="Twentieth Century"/>
            </a:endParaRP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856EE3A0-094A-4B81-A0A5-FF8E66C3D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1264" y="3656306"/>
            <a:ext cx="5761442" cy="1431161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/>
            </a:pPr>
            <a:r>
              <a:rPr lang="en-US" altLang="zh-TW" sz="24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p</a:t>
            </a:r>
            <a:r>
              <a:rPr kumimoji="0" lang="en-US" altLang="zh-TW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ublic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 </a:t>
            </a:r>
            <a:r>
              <a:rPr kumimoji="0" lang="en-US" altLang="zh-TW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int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 </a:t>
            </a:r>
            <a:r>
              <a:rPr kumimoji="0" lang="en-US" altLang="zh-TW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tambah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 (</a:t>
            </a:r>
            <a:r>
              <a:rPr kumimoji="0" lang="en-US" altLang="zh-TW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int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 a, </a:t>
            </a:r>
            <a:r>
              <a:rPr kumimoji="0" lang="en-US" altLang="zh-TW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int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 b){ return </a:t>
            </a:r>
            <a:r>
              <a:rPr kumimoji="0" lang="en-US" altLang="zh-TW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a+b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}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/>
            </a:pPr>
            <a:r>
              <a:rPr lang="en-US" altLang="zh-TW" sz="2400" b="1" dirty="0" err="1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int</a:t>
            </a:r>
            <a:r>
              <a:rPr lang="en-US" altLang="zh-TW" sz="24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 </a:t>
            </a:r>
            <a:r>
              <a:rPr lang="en-US" altLang="zh-TW" sz="2400" b="1" dirty="0" err="1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hasil</a:t>
            </a:r>
            <a:r>
              <a:rPr lang="en-US" altLang="zh-TW" sz="24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 = (1*2)+8;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For (</a:t>
            </a:r>
            <a:r>
              <a:rPr kumimoji="0" lang="en-US" altLang="zh-TW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int</a:t>
            </a:r>
            <a:r>
              <a:rPr lang="en-US" altLang="zh-TW" sz="24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 </a:t>
            </a:r>
            <a:r>
              <a:rPr lang="en-US" altLang="zh-TW" sz="2400" b="1" dirty="0" err="1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i</a:t>
            </a:r>
            <a:r>
              <a:rPr lang="en-US" altLang="zh-TW" sz="24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=0,i++){ . . . }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entieth Century"/>
              <a:ea typeface="PMingLiU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/>
            </a:pPr>
            <a:endParaRPr kumimoji="0" lang="en-US" altLang="zh-TW" sz="1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PMingLiU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301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SEPARATOR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F93C91-9EA8-40D1-93A0-8A358B2139B6}"/>
              </a:ext>
            </a:extLst>
          </p:cNvPr>
          <p:cNvSpPr txBox="1">
            <a:spLocks/>
          </p:cNvSpPr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15" name="Google Shape;272;p5">
            <a:extLst>
              <a:ext uri="{FF2B5EF4-FFF2-40B4-BE49-F238E27FC236}">
                <a16:creationId xmlns:a16="http://schemas.microsoft.com/office/drawing/2014/main" id="{3810C9C1-D6F9-4702-859A-7C58DCA6EE95}"/>
              </a:ext>
            </a:extLst>
          </p:cNvPr>
          <p:cNvSpPr txBox="1">
            <a:spLocks/>
          </p:cNvSpPr>
          <p:nvPr/>
        </p:nvSpPr>
        <p:spPr>
          <a:xfrm>
            <a:off x="746982" y="1592624"/>
            <a:ext cx="10515600" cy="315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sv-SE" sz="2400" dirty="0">
                <a:latin typeface="Twentieth Century"/>
              </a:rPr>
              <a:t>Separator tanda kurung kurawal atau </a:t>
            </a:r>
            <a:r>
              <a:rPr lang="sv-SE" sz="2400" b="1" dirty="0">
                <a:latin typeface="Twentieth Century"/>
              </a:rPr>
              <a:t>{} </a:t>
            </a:r>
            <a:r>
              <a:rPr lang="sv-SE" sz="2400" dirty="0">
                <a:latin typeface="Twentieth Century"/>
              </a:rPr>
              <a:t>digunakan untuk</a:t>
            </a:r>
          </a:p>
          <a:p>
            <a:pPr marL="544513" indent="-27146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sv-SE" sz="2400" dirty="0">
                <a:latin typeface="Twentieth Century"/>
              </a:rPr>
              <a:t>Membuat blok program (kelas, method, kontrol pemilihan, kontrol pengulangan);</a:t>
            </a:r>
          </a:p>
          <a:p>
            <a:pPr marL="544513" indent="-27146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sv-SE" sz="2400" dirty="0">
                <a:latin typeface="Twentieth Century"/>
              </a:rPr>
              <a:t>Mengisikan nilai inisial pada deklarasi array.</a:t>
            </a:r>
          </a:p>
          <a:p>
            <a:pPr marL="273050">
              <a:lnSpc>
                <a:spcPct val="120000"/>
              </a:lnSpc>
            </a:pPr>
            <a:r>
              <a:rPr lang="sv-SE" sz="2400" dirty="0">
                <a:latin typeface="Twentieth Century"/>
              </a:rPr>
              <a:t> </a:t>
            </a:r>
          </a:p>
          <a:p>
            <a:r>
              <a:rPr lang="sv-SE" sz="2400" dirty="0">
                <a:latin typeface="Twentieth Century"/>
              </a:rPr>
              <a:t>	</a:t>
            </a:r>
            <a:endParaRPr lang="en-GB" sz="2400" b="1" dirty="0">
              <a:latin typeface="Twentieth Century"/>
            </a:endParaRPr>
          </a:p>
        </p:txBody>
      </p:sp>
      <p:sp>
        <p:nvSpPr>
          <p:cNvPr id="6" name="Rectangle 32">
            <a:extLst>
              <a:ext uri="{FF2B5EF4-FFF2-40B4-BE49-F238E27FC236}">
                <a16:creationId xmlns:a16="http://schemas.microsoft.com/office/drawing/2014/main" id="{2EE43286-CD88-45E6-8958-88132CCDD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9385" y="3656306"/>
            <a:ext cx="5761442" cy="707886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/>
            </a:pPr>
            <a:r>
              <a:rPr lang="en-US" altLang="zh-TW" sz="20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Class Pertemuan2 {. . . }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/>
            </a:pP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Int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[] B = {1,2,3,4};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085E16D-444E-4BCF-86CD-A401C1FE745F}"/>
              </a:ext>
            </a:extLst>
          </p:cNvPr>
          <p:cNvCxnSpPr>
            <a:cxnSpLocks/>
          </p:cNvCxnSpPr>
          <p:nvPr/>
        </p:nvCxnSpPr>
        <p:spPr>
          <a:xfrm flipH="1">
            <a:off x="3390900" y="3429000"/>
            <a:ext cx="2933700" cy="7148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921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SEPARATOR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F93C91-9EA8-40D1-93A0-8A358B2139B6}"/>
              </a:ext>
            </a:extLst>
          </p:cNvPr>
          <p:cNvSpPr txBox="1">
            <a:spLocks/>
          </p:cNvSpPr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15" name="Google Shape;272;p5">
            <a:extLst>
              <a:ext uri="{FF2B5EF4-FFF2-40B4-BE49-F238E27FC236}">
                <a16:creationId xmlns:a16="http://schemas.microsoft.com/office/drawing/2014/main" id="{3810C9C1-D6F9-4702-859A-7C58DCA6EE95}"/>
              </a:ext>
            </a:extLst>
          </p:cNvPr>
          <p:cNvSpPr txBox="1">
            <a:spLocks/>
          </p:cNvSpPr>
          <p:nvPr/>
        </p:nvSpPr>
        <p:spPr>
          <a:xfrm>
            <a:off x="746982" y="1592624"/>
            <a:ext cx="10515600" cy="315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sv-SE" sz="2400" dirty="0">
                <a:latin typeface="Twentieth Century"/>
              </a:rPr>
              <a:t>Separator tanda kurung siku atau </a:t>
            </a:r>
            <a:r>
              <a:rPr lang="sv-SE" sz="2400" b="1" dirty="0">
                <a:latin typeface="Twentieth Century"/>
              </a:rPr>
              <a:t>[] </a:t>
            </a:r>
            <a:r>
              <a:rPr lang="sv-SE" sz="2400" dirty="0">
                <a:latin typeface="Twentieth Century"/>
              </a:rPr>
              <a:t>digunakan untuk</a:t>
            </a:r>
          </a:p>
          <a:p>
            <a:pPr marL="544513" indent="-27146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sv-SE" sz="2400" dirty="0">
                <a:latin typeface="Twentieth Century"/>
              </a:rPr>
              <a:t>Mendeklarasikan array;</a:t>
            </a:r>
          </a:p>
          <a:p>
            <a:pPr marL="544513" indent="-27146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sv-SE" sz="2400" dirty="0">
                <a:latin typeface="Twentieth Century"/>
              </a:rPr>
              <a:t>Mengambil/ mengisi nilai dari elemen array. </a:t>
            </a:r>
          </a:p>
          <a:p>
            <a:r>
              <a:rPr lang="sv-SE" sz="2400" dirty="0">
                <a:latin typeface="Twentieth Century"/>
              </a:rPr>
              <a:t>	</a:t>
            </a:r>
            <a:endParaRPr lang="en-GB" sz="2400" b="1" dirty="0">
              <a:latin typeface="Twentieth Century"/>
            </a:endParaRP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3C31F933-D697-4694-AD52-D913B2D5D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0475" y="3169861"/>
            <a:ext cx="5761442" cy="707886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/>
            </a:pPr>
            <a:r>
              <a:rPr lang="en-US" altLang="zh-TW" sz="2000" b="1" dirty="0" err="1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Int</a:t>
            </a:r>
            <a:r>
              <a:rPr lang="en-US" altLang="zh-TW" sz="20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 [] C = new </a:t>
            </a:r>
            <a:r>
              <a:rPr lang="en-US" altLang="zh-TW" sz="2000" b="1" dirty="0" err="1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int</a:t>
            </a:r>
            <a:r>
              <a:rPr lang="en-US" altLang="zh-TW" sz="20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 [10]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/>
            </a:pPr>
            <a:r>
              <a:rPr lang="en-US" altLang="zh-TW" sz="20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C[0] = 10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entieth Century"/>
              <a:ea typeface="PMingLiU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618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SEPARATOR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F93C91-9EA8-40D1-93A0-8A358B2139B6}"/>
              </a:ext>
            </a:extLst>
          </p:cNvPr>
          <p:cNvSpPr txBox="1">
            <a:spLocks/>
          </p:cNvSpPr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15" name="Google Shape;272;p5">
            <a:extLst>
              <a:ext uri="{FF2B5EF4-FFF2-40B4-BE49-F238E27FC236}">
                <a16:creationId xmlns:a16="http://schemas.microsoft.com/office/drawing/2014/main" id="{3810C9C1-D6F9-4702-859A-7C58DCA6EE95}"/>
              </a:ext>
            </a:extLst>
          </p:cNvPr>
          <p:cNvSpPr txBox="1">
            <a:spLocks/>
          </p:cNvSpPr>
          <p:nvPr/>
        </p:nvSpPr>
        <p:spPr>
          <a:xfrm>
            <a:off x="746982" y="1592623"/>
            <a:ext cx="10312400" cy="474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sv-SE" sz="2400" dirty="0">
                <a:latin typeface="Twentieth Century"/>
              </a:rPr>
              <a:t>Separator tanda titik koma atau </a:t>
            </a:r>
            <a:r>
              <a:rPr lang="sv-SE" sz="2400" b="1" dirty="0">
                <a:latin typeface="Twentieth Century"/>
              </a:rPr>
              <a:t>; </a:t>
            </a:r>
            <a:r>
              <a:rPr lang="sv-SE" sz="2400" dirty="0">
                <a:latin typeface="Twentieth Century"/>
              </a:rPr>
              <a:t>digunakan untuk</a:t>
            </a:r>
          </a:p>
          <a:p>
            <a:pPr marL="544513" indent="-27146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sv-SE" sz="2400" dirty="0">
                <a:latin typeface="Twentieth Century"/>
              </a:rPr>
              <a:t>Memisahkan statement.</a:t>
            </a:r>
          </a:p>
          <a:p>
            <a:pPr marL="544513" indent="-271463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sv-SE" sz="2400" dirty="0">
              <a:latin typeface="Twentieth Century"/>
            </a:endParaRPr>
          </a:p>
          <a:p>
            <a:pPr marL="544513" indent="-271463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sv-SE" sz="2400" dirty="0">
              <a:latin typeface="Twentieth Century"/>
            </a:endParaRPr>
          </a:p>
          <a:p>
            <a:pPr>
              <a:lnSpc>
                <a:spcPct val="120000"/>
              </a:lnSpc>
            </a:pPr>
            <a:r>
              <a:rPr lang="sv-SE" sz="2400" dirty="0">
                <a:latin typeface="Twentieth Century"/>
              </a:rPr>
              <a:t>Separator tanda koma atau </a:t>
            </a:r>
            <a:r>
              <a:rPr lang="sv-SE" sz="2400" b="1" dirty="0">
                <a:latin typeface="Twentieth Century"/>
              </a:rPr>
              <a:t>, </a:t>
            </a:r>
            <a:r>
              <a:rPr lang="sv-SE" sz="2400" dirty="0">
                <a:latin typeface="Twentieth Century"/>
              </a:rPr>
              <a:t>digunakan untuk</a:t>
            </a:r>
          </a:p>
          <a:p>
            <a:pPr marL="544513" indent="-27146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sv-SE" sz="2400" dirty="0">
                <a:latin typeface="Twentieth Century"/>
              </a:rPr>
              <a:t>Memisahkan variable pada saat proses deklarasi;</a:t>
            </a:r>
          </a:p>
          <a:p>
            <a:pPr marL="544513" indent="-27146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sv-SE" sz="2400" dirty="0">
                <a:latin typeface="Twentieth Century"/>
              </a:rPr>
              <a:t>Dapat digunakan pada saat menggunakan statement for.</a:t>
            </a:r>
          </a:p>
          <a:p>
            <a:pPr marL="273050">
              <a:lnSpc>
                <a:spcPct val="120000"/>
              </a:lnSpc>
            </a:pPr>
            <a:endParaRPr lang="sv-SE" sz="2400" dirty="0">
              <a:latin typeface="Twentieth Century"/>
            </a:endParaRPr>
          </a:p>
          <a:p>
            <a:pPr marL="273050">
              <a:lnSpc>
                <a:spcPct val="120000"/>
              </a:lnSpc>
            </a:pPr>
            <a:endParaRPr lang="sv-SE" sz="2400" dirty="0">
              <a:latin typeface="Twentieth Century"/>
            </a:endParaRPr>
          </a:p>
          <a:p>
            <a:pPr>
              <a:lnSpc>
                <a:spcPct val="120000"/>
              </a:lnSpc>
            </a:pPr>
            <a:r>
              <a:rPr lang="sv-SE" sz="2400" dirty="0">
                <a:latin typeface="Twentieth Century"/>
              </a:rPr>
              <a:t>Separator tanda period atau </a:t>
            </a:r>
            <a:r>
              <a:rPr lang="sv-SE" sz="2400" b="1" dirty="0">
                <a:latin typeface="Twentieth Century"/>
              </a:rPr>
              <a:t>; </a:t>
            </a:r>
            <a:r>
              <a:rPr lang="sv-SE" sz="2400" dirty="0">
                <a:latin typeface="Twentieth Century"/>
              </a:rPr>
              <a:t>digunakan untuk</a:t>
            </a:r>
          </a:p>
          <a:p>
            <a:pPr marL="544513" indent="-27146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sv-SE" sz="2400" dirty="0">
                <a:latin typeface="Twentieth Century"/>
              </a:rPr>
              <a:t>Memisahkan nama paket, subpaket dan kelas;</a:t>
            </a:r>
          </a:p>
          <a:p>
            <a:pPr marL="544513" indent="-27146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sv-SE" sz="2400" dirty="0">
                <a:latin typeface="Twentieth Century"/>
              </a:rPr>
              <a:t>Memisahkan data/method dari sebuah referensi objek</a:t>
            </a:r>
          </a:p>
          <a:p>
            <a:pPr marL="273050">
              <a:lnSpc>
                <a:spcPct val="120000"/>
              </a:lnSpc>
            </a:pPr>
            <a:endParaRPr lang="sv-SE" sz="2400" dirty="0">
              <a:latin typeface="Twentieth Century"/>
            </a:endParaRPr>
          </a:p>
          <a:p>
            <a:r>
              <a:rPr lang="sv-SE" sz="2400" dirty="0">
                <a:latin typeface="Twentieth Century"/>
              </a:rPr>
              <a:t>	</a:t>
            </a:r>
            <a:endParaRPr lang="en-GB" sz="2400" b="1" dirty="0">
              <a:latin typeface="Twentieth Century"/>
            </a:endParaRPr>
          </a:p>
        </p:txBody>
      </p:sp>
      <p:sp>
        <p:nvSpPr>
          <p:cNvPr id="6" name="Rectangle 32">
            <a:extLst>
              <a:ext uri="{FF2B5EF4-FFF2-40B4-BE49-F238E27FC236}">
                <a16:creationId xmlns:a16="http://schemas.microsoft.com/office/drawing/2014/main" id="{E16C8328-D803-4DBF-A691-270B01EAE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2917" y="2479443"/>
            <a:ext cx="5761442" cy="369332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/>
            </a:pPr>
            <a:r>
              <a:rPr lang="en-US" altLang="zh-TW" sz="18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a = b; b = c; c = a;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entieth Century"/>
              <a:ea typeface="PMingLiU" charset="-120"/>
              <a:cs typeface="Times New Roman" panose="02020603050405020304" pitchFamily="18" charset="0"/>
            </a:endParaRPr>
          </a:p>
        </p:txBody>
      </p:sp>
      <p:sp>
        <p:nvSpPr>
          <p:cNvPr id="8" name="Rectangle 32">
            <a:extLst>
              <a:ext uri="{FF2B5EF4-FFF2-40B4-BE49-F238E27FC236}">
                <a16:creationId xmlns:a16="http://schemas.microsoft.com/office/drawing/2014/main" id="{441BE9B6-8E19-4503-BBD6-85BD6BD91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2917" y="4009225"/>
            <a:ext cx="5761442" cy="646331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/>
            </a:pPr>
            <a:r>
              <a:rPr lang="en-US" altLang="zh-TW" sz="1800" b="1" dirty="0" err="1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Int</a:t>
            </a:r>
            <a:r>
              <a:rPr lang="en-US" altLang="zh-TW" sz="18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 </a:t>
            </a:r>
            <a:r>
              <a:rPr lang="en-US" altLang="zh-TW" sz="1800" b="1" dirty="0" err="1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x,y,z</a:t>
            </a:r>
            <a:r>
              <a:rPr lang="en-US" altLang="zh-TW" sz="18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;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For (</a:t>
            </a:r>
            <a:r>
              <a:rPr kumimoji="0" lang="en-US" altLang="zh-TW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int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 </a:t>
            </a:r>
            <a:r>
              <a:rPr kumimoji="0" lang="en-US" altLang="zh-TW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i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=0;</a:t>
            </a:r>
            <a:r>
              <a:rPr kumimoji="0" lang="en-US" altLang="zh-TW" sz="18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 </a:t>
            </a:r>
            <a:r>
              <a:rPr kumimoji="0" lang="en-US" altLang="zh-TW" sz="1800" b="1" i="0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i</a:t>
            </a:r>
            <a:r>
              <a:rPr lang="en-US" altLang="zh-TW" sz="18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&lt;3; </a:t>
            </a:r>
            <a:r>
              <a:rPr lang="en-US" altLang="zh-TW" sz="1800" b="1" dirty="0" err="1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i</a:t>
            </a:r>
            <a:r>
              <a:rPr lang="en-US" altLang="zh-TW" sz="18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++, b +=4) {. . .}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entieth Century"/>
              <a:ea typeface="PMingLiU" charset="-120"/>
              <a:cs typeface="Times New Roman" panose="02020603050405020304" pitchFamily="18" charset="0"/>
            </a:endParaRPr>
          </a:p>
        </p:txBody>
      </p:sp>
      <p:sp>
        <p:nvSpPr>
          <p:cNvPr id="9" name="Rectangle 32">
            <a:extLst>
              <a:ext uri="{FF2B5EF4-FFF2-40B4-BE49-F238E27FC236}">
                <a16:creationId xmlns:a16="http://schemas.microsoft.com/office/drawing/2014/main" id="{2B1E4ECC-FACC-4438-BCC6-EE3E9E91D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2917" y="5754750"/>
            <a:ext cx="5761442" cy="923330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/>
            </a:pPr>
            <a:r>
              <a:rPr lang="en-US" altLang="zh-TW" sz="18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Import </a:t>
            </a:r>
            <a:r>
              <a:rPr lang="en-US" altLang="zh-TW" sz="1800" b="1" dirty="0" err="1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java.io.IOException</a:t>
            </a:r>
            <a:r>
              <a:rPr lang="en-US" altLang="zh-TW" sz="18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;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/>
            </a:pPr>
            <a:r>
              <a:rPr kumimoji="0" lang="en-US" altLang="zh-TW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Obj.x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ntieth Century"/>
                <a:ea typeface="PMingLiU" charset="-120"/>
                <a:cs typeface="Times New Roman" panose="02020603050405020304" pitchFamily="18" charset="0"/>
              </a:rPr>
              <a:t> = 1;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/>
            </a:pPr>
            <a:r>
              <a:rPr lang="en-US" altLang="zh-TW" sz="1800" b="1" dirty="0" err="1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Obj.getX</a:t>
            </a:r>
            <a:r>
              <a:rPr lang="en-US" altLang="zh-TW" sz="1800" b="1" dirty="0">
                <a:solidFill>
                  <a:srgbClr val="000000"/>
                </a:solidFill>
                <a:latin typeface="Twentieth Century"/>
                <a:ea typeface="PMingLiU" charset="-120"/>
                <a:cs typeface="Times New Roman" panose="02020603050405020304" pitchFamily="18" charset="0"/>
              </a:rPr>
              <a:t>();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entieth Century"/>
              <a:ea typeface="PMingLiU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50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TIPE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C3A597-CA5E-48FE-BBD8-2992B959C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988" y="1592623"/>
            <a:ext cx="6111818" cy="468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4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TIPE DATA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283DFC6-8EFF-4ADF-BB98-881EEF260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07240"/>
              </p:ext>
            </p:extLst>
          </p:nvPr>
        </p:nvGraphicFramePr>
        <p:xfrm>
          <a:off x="1234331" y="2023173"/>
          <a:ext cx="9497684" cy="397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235">
                  <a:extLst>
                    <a:ext uri="{9D8B030D-6E8A-4147-A177-3AD203B41FA5}">
                      <a16:colId xmlns:a16="http://schemas.microsoft.com/office/drawing/2014/main" val="1359480371"/>
                    </a:ext>
                  </a:extLst>
                </a:gridCol>
                <a:gridCol w="1789889">
                  <a:extLst>
                    <a:ext uri="{9D8B030D-6E8A-4147-A177-3AD203B41FA5}">
                      <a16:colId xmlns:a16="http://schemas.microsoft.com/office/drawing/2014/main" val="931276117"/>
                    </a:ext>
                  </a:extLst>
                </a:gridCol>
                <a:gridCol w="1556426">
                  <a:extLst>
                    <a:ext uri="{9D8B030D-6E8A-4147-A177-3AD203B41FA5}">
                      <a16:colId xmlns:a16="http://schemas.microsoft.com/office/drawing/2014/main" val="4115341787"/>
                    </a:ext>
                  </a:extLst>
                </a:gridCol>
                <a:gridCol w="4584134">
                  <a:extLst>
                    <a:ext uri="{9D8B030D-6E8A-4147-A177-3AD203B41FA5}">
                      <a16:colId xmlns:a16="http://schemas.microsoft.com/office/drawing/2014/main" val="30030317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wentieth Century"/>
                        </a:rPr>
                        <a:t>Data Type</a:t>
                      </a:r>
                      <a:endParaRPr lang="en-US" sz="2000" dirty="0">
                        <a:latin typeface="Twentieth Century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Twentieth Century"/>
                        </a:rPr>
                        <a:t>Default Value</a:t>
                      </a:r>
                      <a:endParaRPr lang="en-US" sz="2000">
                        <a:latin typeface="Twentieth Century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wentieth Century"/>
                        </a:rPr>
                        <a:t>Default size</a:t>
                      </a:r>
                      <a:endParaRPr lang="en-US" sz="2000" dirty="0">
                        <a:latin typeface="Twentieth Century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Twentieth Century"/>
                        </a:rPr>
                        <a:t>Rentang</a:t>
                      </a:r>
                      <a:endParaRPr lang="en-US" sz="2000" dirty="0">
                        <a:latin typeface="Twentieth Century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744742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boolean</a:t>
                      </a:r>
                      <a:endParaRPr lang="en-US" sz="2000" dirty="0">
                        <a:latin typeface="Twentieth Century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false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1 bit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True </a:t>
                      </a:r>
                      <a:r>
                        <a:rPr lang="en-US" sz="2000" dirty="0" err="1">
                          <a:latin typeface="Twentieth Century"/>
                        </a:rPr>
                        <a:t>atau</a:t>
                      </a:r>
                      <a:r>
                        <a:rPr lang="en-US" sz="2000" dirty="0">
                          <a:latin typeface="Twentieth Century"/>
                        </a:rPr>
                        <a:t> False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954176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char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'\u0000'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2 byte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wentieth Century"/>
                        </a:rPr>
                        <a:t>Satu </a:t>
                      </a:r>
                      <a:r>
                        <a:rPr lang="en-US" sz="2000" b="1" dirty="0" err="1">
                          <a:latin typeface="Twentieth Century"/>
                        </a:rPr>
                        <a:t>karakter</a:t>
                      </a:r>
                      <a:r>
                        <a:rPr lang="en-US" sz="2000" b="1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berupa</a:t>
                      </a:r>
                      <a:r>
                        <a:rPr lang="en-US" sz="2000" dirty="0">
                          <a:latin typeface="Twentieth Century"/>
                        </a:rPr>
                        <a:t> Unicode. </a:t>
                      </a:r>
                      <a:r>
                        <a:rPr lang="en-US" sz="2000" dirty="0" err="1">
                          <a:latin typeface="Twentieth Century"/>
                        </a:rPr>
                        <a:t>Karakter</a:t>
                      </a:r>
                      <a:r>
                        <a:rPr lang="en-US" sz="2000" dirty="0">
                          <a:latin typeface="Twentieth Century"/>
                        </a:rPr>
                        <a:t> ASCII </a:t>
                      </a:r>
                      <a:r>
                        <a:rPr lang="en-US" sz="2000" dirty="0" err="1">
                          <a:latin typeface="Twentieth Century"/>
                        </a:rPr>
                        <a:t>antara</a:t>
                      </a:r>
                      <a:r>
                        <a:rPr lang="en-US" sz="2000" dirty="0">
                          <a:latin typeface="Twentieth Century"/>
                        </a:rPr>
                        <a:t> ‘\u000’ </a:t>
                      </a:r>
                      <a:r>
                        <a:rPr lang="en-US" sz="2000" dirty="0" err="1">
                          <a:latin typeface="Twentieth Century"/>
                        </a:rPr>
                        <a:t>sampai</a:t>
                      </a:r>
                      <a:r>
                        <a:rPr lang="en-US" sz="2000" dirty="0">
                          <a:latin typeface="Twentieth Century"/>
                        </a:rPr>
                        <a:t> ‘\u00ff’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390432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latin typeface="Twentieth Century"/>
                        </a:rPr>
                        <a:t>byte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1 byte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-128 to</a:t>
                      </a:r>
                      <a:r>
                        <a:rPr lang="en-US" sz="2000" baseline="0" dirty="0">
                          <a:latin typeface="Twentieth Century"/>
                        </a:rPr>
                        <a:t> 127</a:t>
                      </a:r>
                      <a:endParaRPr lang="en-US" sz="2000" dirty="0">
                        <a:latin typeface="Twentieth Century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253638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short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2 byte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-32.768 to 32.767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921282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int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4 byte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-2.147.483.648 to 2.147.483.647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300030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latin typeface="Twentieth Century"/>
                        </a:rPr>
                        <a:t>long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0L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8 byte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-9.223.372.036.854.775.808</a:t>
                      </a:r>
                      <a:r>
                        <a:rPr lang="en-US" sz="2000" baseline="0" dirty="0">
                          <a:latin typeface="Twentieth Century"/>
                        </a:rPr>
                        <a:t> to </a:t>
                      </a:r>
                      <a:r>
                        <a:rPr lang="en-US" sz="2000" dirty="0">
                          <a:latin typeface="Twentieth Century"/>
                        </a:rPr>
                        <a:t>9.223.372.036.854.775.807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1732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latin typeface="Twentieth Century"/>
                        </a:rPr>
                        <a:t>float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0.0f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4 byte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3.4e-038 to 3.4e+038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678337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double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0.0d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8 byte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1.7e-308</a:t>
                      </a:r>
                      <a:r>
                        <a:rPr lang="en-US" sz="2000" baseline="0" dirty="0">
                          <a:latin typeface="Twentieth Century"/>
                        </a:rPr>
                        <a:t> to 1.7e+308</a:t>
                      </a:r>
                      <a:endParaRPr lang="en-US" sz="2000" dirty="0">
                        <a:latin typeface="Twentieth Century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841645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52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"/>
          <p:cNvSpPr txBox="1">
            <a:spLocks noGrp="1"/>
          </p:cNvSpPr>
          <p:nvPr>
            <p:ph type="ctrTitle"/>
          </p:nvPr>
        </p:nvSpPr>
        <p:spPr>
          <a:xfrm>
            <a:off x="5844923" y="2638446"/>
            <a:ext cx="5529197" cy="258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</a:pPr>
            <a:r>
              <a:rPr lang="en-US" dirty="0" err="1"/>
              <a:t>Variabel</a:t>
            </a:r>
            <a:endParaRPr dirty="0"/>
          </a:p>
        </p:txBody>
      </p:sp>
      <p:pic>
        <p:nvPicPr>
          <p:cNvPr id="287" name="Google Shape;287;p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738" r="19739"/>
          <a:stretch/>
        </p:blipFill>
        <p:spPr>
          <a:xfrm>
            <a:off x="0" y="1001270"/>
            <a:ext cx="5316718" cy="5856730"/>
          </a:xfrm>
          <a:prstGeom prst="flowChartDelay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838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 txBox="1">
            <a:spLocks noGrp="1"/>
          </p:cNvSpPr>
          <p:nvPr>
            <p:ph type="body" idx="1"/>
          </p:nvPr>
        </p:nvSpPr>
        <p:spPr>
          <a:xfrm>
            <a:off x="334918" y="1853626"/>
            <a:ext cx="4373269" cy="373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Variabel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adalah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lokasi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memori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dapat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digunakan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menyimpan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sebuah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nilai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dimana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nilai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tersebut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dapat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diubah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sewaktu-waktu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sesuai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dengan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kebutuhan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pemakainya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lang="en-US" sz="2400" dirty="0"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sz="24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173B63D3-84CF-45B4-9B92-B4BE58F1A3C1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9986" r="9986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"/>
          <p:cNvSpPr txBox="1">
            <a:spLocks noGrp="1"/>
          </p:cNvSpPr>
          <p:nvPr>
            <p:ph type="title"/>
          </p:nvPr>
        </p:nvSpPr>
        <p:spPr>
          <a:xfrm>
            <a:off x="508001" y="1135634"/>
            <a:ext cx="2902469" cy="110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 err="1"/>
              <a:t>Variabel</a:t>
            </a:r>
            <a:r>
              <a:rPr lang="en-US" dirty="0"/>
              <a:t> pada Java</a:t>
            </a:r>
            <a:endParaRPr dirty="0"/>
          </a:p>
        </p:txBody>
      </p:sp>
      <p:sp>
        <p:nvSpPr>
          <p:cNvPr id="300" name="Google Shape;300;p8"/>
          <p:cNvSpPr/>
          <p:nvPr/>
        </p:nvSpPr>
        <p:spPr>
          <a:xfrm>
            <a:off x="4021491" y="1090231"/>
            <a:ext cx="7028619" cy="434440"/>
          </a:xfrm>
          <a:prstGeom prst="rect">
            <a:avLst/>
          </a:prstGeom>
          <a:solidFill>
            <a:srgbClr val="C0DF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Karakter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pertama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harus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berupa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huruf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atau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garis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bawah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(_)</a:t>
            </a:r>
          </a:p>
        </p:txBody>
      </p:sp>
      <p:sp>
        <p:nvSpPr>
          <p:cNvPr id="301" name="Google Shape;301;p8"/>
          <p:cNvSpPr/>
          <p:nvPr/>
        </p:nvSpPr>
        <p:spPr>
          <a:xfrm>
            <a:off x="4021490" y="1687799"/>
            <a:ext cx="7028619" cy="716170"/>
          </a:xfrm>
          <a:prstGeom prst="rect">
            <a:avLst/>
          </a:prstGeom>
          <a:solidFill>
            <a:srgbClr val="C0DF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Karakter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berikutnya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digunakan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adalah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huruf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angka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atau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penyambung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garis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bawah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</a:t>
            </a:r>
            <a:r>
              <a:rPr lang="en-US" sz="18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(_)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jika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lebih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dari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satu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kata.</a:t>
            </a:r>
          </a:p>
        </p:txBody>
      </p:sp>
      <p:sp>
        <p:nvSpPr>
          <p:cNvPr id="302" name="Google Shape;302;p8"/>
          <p:cNvSpPr/>
          <p:nvPr/>
        </p:nvSpPr>
        <p:spPr>
          <a:xfrm>
            <a:off x="4021489" y="2567096"/>
            <a:ext cx="7028619" cy="713625"/>
          </a:xfrm>
          <a:prstGeom prst="rect">
            <a:avLst/>
          </a:prstGeom>
          <a:solidFill>
            <a:srgbClr val="C0DF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Huruf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b="1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kecil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dan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huruf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b="1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kapital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dibedakan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 Jadi,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nama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seperti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b="1" dirty="0">
                <a:solidFill>
                  <a:srgbClr val="0070C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</a:t>
            </a:r>
            <a:r>
              <a:rPr lang="en-US" sz="18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las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dan </a:t>
            </a:r>
            <a:r>
              <a:rPr lang="en-US" sz="1800" b="1" dirty="0">
                <a:solidFill>
                  <a:srgbClr val="0070C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</a:t>
            </a:r>
            <a:r>
              <a:rPr lang="en-US" sz="1800" b="1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las </a:t>
            </a:r>
            <a:r>
              <a:rPr lang="en-US" sz="18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menyatakan</a:t>
            </a:r>
            <a:r>
              <a:rPr lang="en-US" sz="18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dua</a:t>
            </a:r>
            <a:r>
              <a:rPr lang="en-US" sz="18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nama</a:t>
            </a:r>
            <a:r>
              <a:rPr lang="en-US" sz="18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variable yang </a:t>
            </a:r>
            <a:r>
              <a:rPr lang="en-US" sz="18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berbeda</a:t>
            </a:r>
            <a:r>
              <a:rPr lang="en-US" sz="18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lang="en-US" sz="1800" b="1" dirty="0">
              <a:solidFill>
                <a:schemeClr val="tx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021486" y="3473660"/>
            <a:ext cx="7028619" cy="713624"/>
          </a:xfrm>
          <a:prstGeom prst="rect">
            <a:avLst/>
          </a:prstGeom>
          <a:solidFill>
            <a:srgbClr val="C0DF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Penamaan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variable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bersifat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case sensitive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artinya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bahwa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kita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harus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konsisten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dalam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penulisan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besar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kecil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huruf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dalam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nama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variable</a:t>
            </a:r>
          </a:p>
        </p:txBody>
      </p:sp>
      <p:sp>
        <p:nvSpPr>
          <p:cNvPr id="305" name="Google Shape;305;p8"/>
          <p:cNvSpPr/>
          <p:nvPr/>
        </p:nvSpPr>
        <p:spPr>
          <a:xfrm>
            <a:off x="4021487" y="4352958"/>
            <a:ext cx="7028619" cy="1174082"/>
          </a:xfrm>
          <a:prstGeom prst="rect">
            <a:avLst/>
          </a:prstGeom>
          <a:solidFill>
            <a:srgbClr val="C0DF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deklarasi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variabel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cukup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menuliskan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nama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variable,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kemudian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mengisinya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suatu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nilai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Tambahkan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tanda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“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sama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dengan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atau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“=“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antara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nama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variable dan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nilai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ingin</a:t>
            </a:r>
            <a:r>
              <a:rPr lang="en-US" sz="18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dimasukkan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F7DCD1-557D-4A4B-9C17-821C49975EB6}"/>
              </a:ext>
            </a:extLst>
          </p:cNvPr>
          <p:cNvSpPr txBox="1"/>
          <p:nvPr/>
        </p:nvSpPr>
        <p:spPr>
          <a:xfrm>
            <a:off x="508001" y="2399680"/>
            <a:ext cx="3149600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dirty="0">
                <a:solidFill>
                  <a:schemeClr val="bg1"/>
                </a:solidFill>
                <a:latin typeface="Twentieth Century"/>
              </a:rPr>
              <a:t>Java </a:t>
            </a:r>
            <a:r>
              <a:rPr lang="en-ID" sz="2000" dirty="0" err="1">
                <a:solidFill>
                  <a:schemeClr val="bg1"/>
                </a:solidFill>
                <a:latin typeface="Twentieth Century"/>
              </a:rPr>
              <a:t>mengatur</a:t>
            </a:r>
            <a:r>
              <a:rPr lang="en-ID" sz="2000" dirty="0">
                <a:solidFill>
                  <a:schemeClr val="bg1"/>
                </a:solidFill>
                <a:latin typeface="Twentieth Century"/>
              </a:rPr>
              <a:t> </a:t>
            </a:r>
            <a:r>
              <a:rPr lang="en-ID" sz="2000" dirty="0" err="1">
                <a:solidFill>
                  <a:schemeClr val="bg1"/>
                </a:solidFill>
                <a:latin typeface="Twentieth Century"/>
              </a:rPr>
              <a:t>penamaan</a:t>
            </a:r>
            <a:r>
              <a:rPr lang="en-ID" sz="2000" dirty="0">
                <a:solidFill>
                  <a:schemeClr val="bg1"/>
                </a:solidFill>
                <a:latin typeface="Twentieth Century"/>
              </a:rPr>
              <a:t> </a:t>
            </a:r>
            <a:r>
              <a:rPr lang="en-ID" sz="2000" dirty="0" err="1">
                <a:solidFill>
                  <a:schemeClr val="bg1"/>
                </a:solidFill>
                <a:latin typeface="Twentieth Century"/>
              </a:rPr>
              <a:t>sebuah</a:t>
            </a:r>
            <a:r>
              <a:rPr lang="en-ID" sz="2000" dirty="0">
                <a:solidFill>
                  <a:schemeClr val="bg1"/>
                </a:solidFill>
                <a:latin typeface="Twentieth Century"/>
              </a:rPr>
              <a:t> variable </a:t>
            </a:r>
            <a:r>
              <a:rPr lang="en-ID" sz="2000" dirty="0" err="1">
                <a:solidFill>
                  <a:schemeClr val="bg1"/>
                </a:solidFill>
                <a:latin typeface="Twentieth Century"/>
              </a:rPr>
              <a:t>dengan</a:t>
            </a:r>
            <a:r>
              <a:rPr lang="en-ID" sz="2000" dirty="0">
                <a:solidFill>
                  <a:schemeClr val="bg1"/>
                </a:solidFill>
                <a:latin typeface="Twentieth Century"/>
              </a:rPr>
              <a:t> </a:t>
            </a:r>
            <a:r>
              <a:rPr lang="en-ID" sz="2000" dirty="0" err="1">
                <a:solidFill>
                  <a:schemeClr val="bg1"/>
                </a:solidFill>
                <a:latin typeface="Twentieth Century"/>
              </a:rPr>
              <a:t>beberapa</a:t>
            </a:r>
            <a:r>
              <a:rPr lang="en-ID" sz="2000" dirty="0">
                <a:solidFill>
                  <a:schemeClr val="bg1"/>
                </a:solidFill>
                <a:latin typeface="Twentieth Century"/>
              </a:rPr>
              <a:t> </a:t>
            </a:r>
            <a:r>
              <a:rPr lang="en-ID" sz="2000" dirty="0" err="1">
                <a:solidFill>
                  <a:schemeClr val="bg1"/>
                </a:solidFill>
                <a:latin typeface="Twentieth Century"/>
              </a:rPr>
              <a:t>aturan</a:t>
            </a:r>
            <a:r>
              <a:rPr lang="en-ID" sz="2000" dirty="0">
                <a:solidFill>
                  <a:schemeClr val="bg1"/>
                </a:solidFill>
                <a:latin typeface="Twentieth Century"/>
              </a:rPr>
              <a:t> </a:t>
            </a:r>
            <a:r>
              <a:rPr lang="en-ID" sz="2000" dirty="0" err="1">
                <a:solidFill>
                  <a:schemeClr val="bg1"/>
                </a:solidFill>
                <a:latin typeface="Twentieth Century"/>
              </a:rPr>
              <a:t>seperti</a:t>
            </a:r>
            <a:r>
              <a:rPr lang="en-ID" sz="2000" dirty="0">
                <a:solidFill>
                  <a:schemeClr val="bg1"/>
                </a:solidFill>
                <a:latin typeface="Twentieth Century"/>
              </a:rPr>
              <a:t> </a:t>
            </a:r>
            <a:r>
              <a:rPr lang="en-ID" sz="2000" dirty="0" err="1">
                <a:solidFill>
                  <a:schemeClr val="bg1"/>
                </a:solidFill>
                <a:latin typeface="Twentieth Century"/>
              </a:rPr>
              <a:t>berikut</a:t>
            </a:r>
            <a:r>
              <a:rPr lang="en-ID" sz="2000" dirty="0">
                <a:solidFill>
                  <a:schemeClr val="bg1"/>
                </a:solidFill>
                <a:latin typeface="Twentieth Century"/>
              </a:rPr>
              <a:t> 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PENAMAAN VARIABEL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F93C91-9EA8-40D1-93A0-8A358B2139B6}"/>
              </a:ext>
            </a:extLst>
          </p:cNvPr>
          <p:cNvSpPr txBox="1">
            <a:spLocks/>
          </p:cNvSpPr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24" name="Google Shape;398;p14">
            <a:extLst>
              <a:ext uri="{FF2B5EF4-FFF2-40B4-BE49-F238E27FC236}">
                <a16:creationId xmlns:a16="http://schemas.microsoft.com/office/drawing/2014/main" id="{2D83D6C2-0789-4B76-A83D-31884AE63451}"/>
              </a:ext>
            </a:extLst>
          </p:cNvPr>
          <p:cNvSpPr/>
          <p:nvPr/>
        </p:nvSpPr>
        <p:spPr>
          <a:xfrm>
            <a:off x="850208" y="1828798"/>
            <a:ext cx="5153551" cy="37538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" name="Google Shape;399;p14">
            <a:extLst>
              <a:ext uri="{FF2B5EF4-FFF2-40B4-BE49-F238E27FC236}">
                <a16:creationId xmlns:a16="http://schemas.microsoft.com/office/drawing/2014/main" id="{0E652C20-19C9-4C57-9F57-DCF871B45195}"/>
              </a:ext>
            </a:extLst>
          </p:cNvPr>
          <p:cNvSpPr/>
          <p:nvPr/>
        </p:nvSpPr>
        <p:spPr>
          <a:xfrm>
            <a:off x="850207" y="1828798"/>
            <a:ext cx="5153551" cy="457200"/>
          </a:xfrm>
          <a:prstGeom prst="rect">
            <a:avLst/>
          </a:prstGeom>
          <a:solidFill>
            <a:srgbClr val="4AA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Penulisan</a:t>
            </a:r>
            <a:r>
              <a:rPr lang="en-US" sz="2400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400" b="1" dirty="0" err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Benar</a:t>
            </a:r>
            <a:endParaRPr sz="2400" b="1" dirty="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" name="Google Shape;400;p14">
            <a:extLst>
              <a:ext uri="{FF2B5EF4-FFF2-40B4-BE49-F238E27FC236}">
                <a16:creationId xmlns:a16="http://schemas.microsoft.com/office/drawing/2014/main" id="{49D363AB-26F5-4AA5-AD2B-5DBA39CBFE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1594" y="2395902"/>
            <a:ext cx="4903082" cy="345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dirty="0" err="1">
                <a:solidFill>
                  <a:schemeClr val="dk1"/>
                </a:solidFill>
              </a:rPr>
              <a:t>Sesuai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aturan-aturan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diatas</a:t>
            </a:r>
            <a:r>
              <a:rPr lang="en-US" dirty="0">
                <a:solidFill>
                  <a:schemeClr val="dk1"/>
                </a:solidFill>
              </a:rPr>
              <a:t>, </a:t>
            </a:r>
            <a:r>
              <a:rPr lang="en-US" dirty="0" err="1">
                <a:solidFill>
                  <a:schemeClr val="dk1"/>
                </a:solidFill>
              </a:rPr>
              <a:t>berikut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ini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adalah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contoh-contoh</a:t>
            </a:r>
            <a:r>
              <a:rPr lang="en-US" dirty="0">
                <a:solidFill>
                  <a:schemeClr val="dk1"/>
                </a:solidFill>
              </a:rPr>
              <a:t> variable yang </a:t>
            </a:r>
            <a:r>
              <a:rPr lang="en-US" dirty="0" err="1">
                <a:solidFill>
                  <a:schemeClr val="dk1"/>
                </a:solidFill>
              </a:rPr>
              <a:t>benar</a:t>
            </a:r>
            <a:r>
              <a:rPr lang="en-US" dirty="0">
                <a:solidFill>
                  <a:schemeClr val="dk1"/>
                </a:solidFill>
              </a:rPr>
              <a:t> :</a:t>
            </a: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</a:rPr>
              <a:t>_</a:t>
            </a:r>
            <a:r>
              <a:rPr lang="en-US" dirty="0" err="1">
                <a:solidFill>
                  <a:schemeClr val="dk1"/>
                </a:solidFill>
              </a:rPr>
              <a:t>nama</a:t>
            </a:r>
            <a:endParaRPr lang="en-US" dirty="0">
              <a:solidFill>
                <a:schemeClr val="dk1"/>
              </a:solidFill>
            </a:endParaRP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dk1"/>
                </a:solidFill>
              </a:rPr>
              <a:t>alamat</a:t>
            </a:r>
            <a:endParaRPr lang="en-US" dirty="0">
              <a:solidFill>
                <a:schemeClr val="dk1"/>
              </a:solidFill>
            </a:endParaRP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dk1"/>
                </a:solidFill>
              </a:rPr>
              <a:t>Alamat2</a:t>
            </a:r>
          </a:p>
        </p:txBody>
      </p:sp>
      <p:sp>
        <p:nvSpPr>
          <p:cNvPr id="27" name="Google Shape;401;p14">
            <a:extLst>
              <a:ext uri="{FF2B5EF4-FFF2-40B4-BE49-F238E27FC236}">
                <a16:creationId xmlns:a16="http://schemas.microsoft.com/office/drawing/2014/main" id="{816628DC-BC03-4E11-9A9F-521BA9E4AADC}"/>
              </a:ext>
            </a:extLst>
          </p:cNvPr>
          <p:cNvSpPr/>
          <p:nvPr/>
        </p:nvSpPr>
        <p:spPr>
          <a:xfrm>
            <a:off x="6244389" y="1828798"/>
            <a:ext cx="5097381" cy="37538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" name="Google Shape;402;p14">
            <a:extLst>
              <a:ext uri="{FF2B5EF4-FFF2-40B4-BE49-F238E27FC236}">
                <a16:creationId xmlns:a16="http://schemas.microsoft.com/office/drawing/2014/main" id="{780BC901-6505-43F1-8CAF-6A4D7B0F23F7}"/>
              </a:ext>
            </a:extLst>
          </p:cNvPr>
          <p:cNvSpPr/>
          <p:nvPr/>
        </p:nvSpPr>
        <p:spPr>
          <a:xfrm>
            <a:off x="6244390" y="1828798"/>
            <a:ext cx="5097379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Penulisan</a:t>
            </a:r>
            <a:r>
              <a:rPr lang="en-US" sz="2400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Salah</a:t>
            </a:r>
            <a:endParaRPr sz="2400" b="1" dirty="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" name="Google Shape;403;p14">
            <a:extLst>
              <a:ext uri="{FF2B5EF4-FFF2-40B4-BE49-F238E27FC236}">
                <a16:creationId xmlns:a16="http://schemas.microsoft.com/office/drawing/2014/main" id="{CB794676-852C-4F5F-9017-84CCC8894F73}"/>
              </a:ext>
            </a:extLst>
          </p:cNvPr>
          <p:cNvSpPr txBox="1"/>
          <p:nvPr/>
        </p:nvSpPr>
        <p:spPr>
          <a:xfrm>
            <a:off x="6374741" y="2395902"/>
            <a:ext cx="4849640" cy="318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</a:pPr>
            <a:r>
              <a:rPr lang="en-US" sz="20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Sedangkan</a:t>
            </a: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contoh</a:t>
            </a: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variable yang salah </a:t>
            </a:r>
            <a:r>
              <a:rPr lang="en-US" sz="20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antara</a:t>
            </a: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lain :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nama</a:t>
            </a: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mahasiswa</a:t>
            </a: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(salah, </a:t>
            </a:r>
            <a:r>
              <a:rPr lang="en-US" sz="20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karena</a:t>
            </a: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ada</a:t>
            </a: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spasi</a:t>
            </a: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)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2alamat (salah, </a:t>
            </a:r>
            <a:r>
              <a:rPr lang="en-US" sz="20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karena</a:t>
            </a: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diawali</a:t>
            </a: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angka</a:t>
            </a: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)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alamat-alamat</a:t>
            </a: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(salah, </a:t>
            </a:r>
            <a:r>
              <a:rPr lang="en-US" sz="20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karena</a:t>
            </a: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ada</a:t>
            </a: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tanda</a:t>
            </a: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sambung</a:t>
            </a:r>
            <a:r>
              <a:rPr lang="en-US" sz="20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46069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E9BFF4-8F7E-4E78-9C30-7A9C30718DD5}"/>
              </a:ext>
            </a:extLst>
          </p:cNvPr>
          <p:cNvSpPr/>
          <p:nvPr/>
        </p:nvSpPr>
        <p:spPr>
          <a:xfrm>
            <a:off x="3093396" y="2334638"/>
            <a:ext cx="3002604" cy="583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PENUGASAN VARIABEL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F93C91-9EA8-40D1-93A0-8A358B2139B6}"/>
              </a:ext>
            </a:extLst>
          </p:cNvPr>
          <p:cNvSpPr txBox="1">
            <a:spLocks/>
          </p:cNvSpPr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15" name="Google Shape;272;p5">
            <a:extLst>
              <a:ext uri="{FF2B5EF4-FFF2-40B4-BE49-F238E27FC236}">
                <a16:creationId xmlns:a16="http://schemas.microsoft.com/office/drawing/2014/main" id="{3810C9C1-D6F9-4702-859A-7C58DCA6EE95}"/>
              </a:ext>
            </a:extLst>
          </p:cNvPr>
          <p:cNvSpPr txBox="1">
            <a:spLocks/>
          </p:cNvSpPr>
          <p:nvPr/>
        </p:nvSpPr>
        <p:spPr>
          <a:xfrm>
            <a:off x="821568" y="1675131"/>
            <a:ext cx="10515600" cy="465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GB" sz="2400" dirty="0" err="1">
                <a:latin typeface="Twentieth Century"/>
              </a:rPr>
              <a:t>Pemberian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nilai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ke</a:t>
            </a:r>
            <a:r>
              <a:rPr lang="en-GB" sz="2400" dirty="0">
                <a:latin typeface="Twentieth Century"/>
              </a:rPr>
              <a:t> variable </a:t>
            </a:r>
            <a:r>
              <a:rPr lang="en-GB" sz="2400" dirty="0" err="1">
                <a:latin typeface="Twentieth Century"/>
              </a:rPr>
              <a:t>biasa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dinamakan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penugasan</a:t>
            </a:r>
            <a:r>
              <a:rPr lang="en-GB" sz="2400" dirty="0">
                <a:latin typeface="Twentieth Century"/>
              </a:rPr>
              <a:t> variable. </a:t>
            </a:r>
          </a:p>
          <a:p>
            <a:pPr algn="just"/>
            <a:endParaRPr lang="en-GB" sz="2400" b="1" dirty="0">
              <a:solidFill>
                <a:srgbClr val="0070C0"/>
              </a:solidFill>
              <a:latin typeface="Twentieth Century"/>
            </a:endParaRPr>
          </a:p>
          <a:p>
            <a:pPr algn="just"/>
            <a:r>
              <a:rPr lang="en-GB" sz="2400" b="1" dirty="0">
                <a:solidFill>
                  <a:srgbClr val="0070C0"/>
                </a:solidFill>
                <a:latin typeface="Twentieth Century"/>
              </a:rPr>
              <a:t>			</a:t>
            </a:r>
            <a:r>
              <a:rPr lang="en-GB" sz="2400" b="1" dirty="0" err="1">
                <a:solidFill>
                  <a:srgbClr val="0070C0"/>
                </a:solidFill>
                <a:latin typeface="Twentieth Century"/>
              </a:rPr>
              <a:t>Variabel</a:t>
            </a:r>
            <a:r>
              <a:rPr lang="en-GB" sz="2400" b="1" dirty="0">
                <a:solidFill>
                  <a:srgbClr val="0070C0"/>
                </a:solidFill>
                <a:latin typeface="Twentieth Century"/>
              </a:rPr>
              <a:t> = </a:t>
            </a:r>
            <a:r>
              <a:rPr lang="en-GB" sz="2400" b="1" dirty="0" err="1">
                <a:solidFill>
                  <a:srgbClr val="0070C0"/>
                </a:solidFill>
                <a:latin typeface="Twentieth Century"/>
              </a:rPr>
              <a:t>nilai</a:t>
            </a:r>
            <a:r>
              <a:rPr lang="en-GB" sz="2400" b="1" dirty="0">
                <a:solidFill>
                  <a:srgbClr val="0070C0"/>
                </a:solidFill>
                <a:latin typeface="Twentieth Century"/>
              </a:rPr>
              <a:t> ;</a:t>
            </a:r>
          </a:p>
          <a:p>
            <a:pPr algn="just"/>
            <a:endParaRPr lang="en-GB" sz="2400" b="1" dirty="0">
              <a:solidFill>
                <a:srgbClr val="0070C0"/>
              </a:solidFill>
              <a:latin typeface="Twentieth Century"/>
            </a:endParaRPr>
          </a:p>
          <a:p>
            <a:pPr algn="just"/>
            <a:r>
              <a:rPr lang="en-GB" sz="2400" dirty="0" err="1">
                <a:solidFill>
                  <a:schemeClr val="tx1"/>
                </a:solidFill>
                <a:latin typeface="Twentieth Century"/>
              </a:rPr>
              <a:t>Contoh</a:t>
            </a:r>
            <a:r>
              <a:rPr lang="en-GB" sz="2400" b="1" dirty="0">
                <a:solidFill>
                  <a:srgbClr val="0070C0"/>
                </a:solidFill>
                <a:latin typeface="Twentieth Century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CC246E-29EE-4308-8814-F250270F9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850" y="3425381"/>
            <a:ext cx="3820963" cy="28716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E25A2D-6502-4D67-A01F-052D42A4A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378" y="4303792"/>
            <a:ext cx="4029637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38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"/>
          <p:cNvSpPr txBox="1">
            <a:spLocks noGrp="1"/>
          </p:cNvSpPr>
          <p:nvPr>
            <p:ph type="ctrTitle"/>
          </p:nvPr>
        </p:nvSpPr>
        <p:spPr>
          <a:xfrm>
            <a:off x="5844923" y="2638446"/>
            <a:ext cx="5529197" cy="258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</a:pPr>
            <a:r>
              <a:rPr lang="en-US" dirty="0"/>
              <a:t>METODE KELAS</a:t>
            </a:r>
            <a:br>
              <a:rPr lang="en-US" dirty="0"/>
            </a:br>
            <a:r>
              <a:rPr lang="en-US" dirty="0"/>
              <a:t>(CLASS METHOD)</a:t>
            </a:r>
            <a:endParaRPr dirty="0"/>
          </a:p>
        </p:txBody>
      </p:sp>
      <p:pic>
        <p:nvPicPr>
          <p:cNvPr id="287" name="Google Shape;287;p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738" r="19739"/>
          <a:stretch/>
        </p:blipFill>
        <p:spPr>
          <a:xfrm>
            <a:off x="0" y="1001270"/>
            <a:ext cx="5316718" cy="5856730"/>
          </a:xfrm>
          <a:prstGeom prst="flowChartDelay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381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 txBox="1">
            <a:spLocks noGrp="1"/>
          </p:cNvSpPr>
          <p:nvPr>
            <p:ph type="body" idx="1"/>
          </p:nvPr>
        </p:nvSpPr>
        <p:spPr>
          <a:xfrm>
            <a:off x="334918" y="1853626"/>
            <a:ext cx="4373269" cy="373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Metode</a:t>
            </a:r>
            <a:r>
              <a:rPr lang="en-US" b="1" dirty="0">
                <a:latin typeface="Twentieth Century"/>
                <a:ea typeface="Twentieth Century"/>
                <a:cs typeface="Twentieth Century"/>
                <a:sym typeface="Twentieth Century"/>
              </a:rPr>
              <a:t> Kelas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adalah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suatu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nama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melekat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dalam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suatu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kelas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mewakili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sekumpulan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pernyataan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ditujukan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melaksanakan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tugas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tertentu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dan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memberikan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nilai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balik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Ketika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dipanggil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. 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lang="en-US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sv-SE" dirty="0"/>
              <a:t>M</a:t>
            </a:r>
            <a:r>
              <a:rPr lang="sv-SE" dirty="0">
                <a:latin typeface="Twentieth Century"/>
                <a:ea typeface="Twentieth Century"/>
                <a:cs typeface="Twentieth Century"/>
                <a:sym typeface="Twentieth Century"/>
              </a:rPr>
              <a:t>etode yang dipanggil pada kelas itu sendiri, bukan pada instance objek tertentu.</a:t>
            </a:r>
            <a:endParaRPr lang="en-US" sz="2400" dirty="0"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sz="24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D1A7D73C-F38C-4A86-9C74-E0403911AEB5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8089" r="18089"/>
          <a:stretch>
            <a:fillRect/>
          </a:stretch>
        </p:blipFill>
        <p:spPr/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9A718F-AC13-41A2-9730-2784C3CCB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18" y="5436632"/>
            <a:ext cx="4324954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445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METHOD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7" name="Google Shape;272;p5">
            <a:extLst>
              <a:ext uri="{FF2B5EF4-FFF2-40B4-BE49-F238E27FC236}">
                <a16:creationId xmlns:a16="http://schemas.microsoft.com/office/drawing/2014/main" id="{3487296A-7147-4BDB-8DCE-E75CB6F6F8B4}"/>
              </a:ext>
            </a:extLst>
          </p:cNvPr>
          <p:cNvSpPr txBox="1">
            <a:spLocks/>
          </p:cNvSpPr>
          <p:nvPr/>
        </p:nvSpPr>
        <p:spPr>
          <a:xfrm>
            <a:off x="746982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fi-FI" sz="2400" dirty="0">
                <a:latin typeface="Twentieth Century"/>
              </a:rPr>
              <a:t>Bentuk pemanggilan metode sebagai berikut :</a:t>
            </a:r>
          </a:p>
          <a:p>
            <a:pPr algn="just">
              <a:lnSpc>
                <a:spcPct val="150000"/>
              </a:lnSpc>
            </a:pPr>
            <a:endParaRPr lang="fi-FI" sz="2400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endParaRPr lang="fi-FI" sz="2400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wentieth Century"/>
              </a:rPr>
              <a:t>argument1 </a:t>
            </a:r>
            <a:r>
              <a:rPr lang="en-US" sz="2400" dirty="0" err="1">
                <a:latin typeface="Twentieth Century"/>
              </a:rPr>
              <a:t>hingga</a:t>
            </a:r>
            <a:r>
              <a:rPr lang="en-US" sz="2400" b="1" dirty="0">
                <a:latin typeface="Twentieth Century"/>
              </a:rPr>
              <a:t> </a:t>
            </a:r>
            <a:r>
              <a:rPr lang="en-US" sz="2400" b="1" dirty="0" err="1">
                <a:latin typeface="Twentieth Century"/>
              </a:rPr>
              <a:t>argumenN</a:t>
            </a:r>
            <a:r>
              <a:rPr lang="en-US" sz="2400" b="1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menyatakan</a:t>
            </a:r>
            <a:r>
              <a:rPr lang="en-US" sz="2400" dirty="0">
                <a:latin typeface="Twentieth Century"/>
              </a:rPr>
              <a:t> data yang </a:t>
            </a:r>
            <a:r>
              <a:rPr lang="en-US" sz="2400" dirty="0" err="1">
                <a:latin typeface="Twentieth Century"/>
              </a:rPr>
              <a:t>dilewatkkan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ke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metode</a:t>
            </a:r>
            <a:r>
              <a:rPr lang="en-US" sz="2400" dirty="0">
                <a:latin typeface="Twentieth Century"/>
              </a:rPr>
              <a:t>. Oleh </a:t>
            </a:r>
            <a:r>
              <a:rPr lang="en-US" sz="2400" dirty="0" err="1">
                <a:latin typeface="Twentieth Century"/>
              </a:rPr>
              <a:t>karena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itu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metode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memberikan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nilai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balik</a:t>
            </a:r>
            <a:r>
              <a:rPr lang="en-US" sz="2400" dirty="0">
                <a:latin typeface="Twentieth Century"/>
              </a:rPr>
              <a:t>, </a:t>
            </a:r>
            <a:r>
              <a:rPr lang="en-US" sz="2400" dirty="0" err="1">
                <a:latin typeface="Twentieth Century"/>
              </a:rPr>
              <a:t>pemanggilan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metode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dapat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ditulis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sebagai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berikut</a:t>
            </a:r>
            <a:r>
              <a:rPr lang="en-US" sz="2400" dirty="0">
                <a:latin typeface="Twentieth Century"/>
              </a:rPr>
              <a:t> :</a:t>
            </a:r>
          </a:p>
          <a:p>
            <a:pPr algn="just">
              <a:lnSpc>
                <a:spcPct val="150000"/>
              </a:lnSpc>
            </a:pPr>
            <a:endParaRPr lang="en-US" sz="2400" b="1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err="1">
                <a:latin typeface="Twentieth Century"/>
              </a:rPr>
              <a:t>Dengan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demikian</a:t>
            </a:r>
            <a:r>
              <a:rPr lang="en-US" sz="2400" dirty="0">
                <a:latin typeface="Twentieth Century"/>
              </a:rPr>
              <a:t>, </a:t>
            </a:r>
            <a:r>
              <a:rPr lang="en-US" sz="2400" dirty="0" err="1">
                <a:latin typeface="Twentieth Century"/>
              </a:rPr>
              <a:t>nilai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balik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metode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akan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tersimpan</a:t>
            </a:r>
            <a:r>
              <a:rPr lang="en-US" sz="2400" dirty="0">
                <a:latin typeface="Twentieth Century"/>
              </a:rPr>
              <a:t> </a:t>
            </a:r>
            <a:r>
              <a:rPr lang="en-US" sz="2400" dirty="0" err="1">
                <a:latin typeface="Twentieth Century"/>
              </a:rPr>
              <a:t>divariabel</a:t>
            </a:r>
            <a:r>
              <a:rPr lang="en-US" sz="2400" dirty="0">
                <a:latin typeface="Twentieth Century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wentieth Centur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9D246A-C9A8-4E47-8F56-B726B2AD4213}"/>
              </a:ext>
            </a:extLst>
          </p:cNvPr>
          <p:cNvSpPr/>
          <p:nvPr/>
        </p:nvSpPr>
        <p:spPr>
          <a:xfrm>
            <a:off x="1283182" y="4903086"/>
            <a:ext cx="8704594" cy="5646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0070C0"/>
                </a:solidFill>
                <a:latin typeface="Twentieth Century"/>
              </a:rPr>
              <a:t>Variabel</a:t>
            </a:r>
            <a:r>
              <a:rPr lang="en-US" sz="2400" dirty="0">
                <a:solidFill>
                  <a:srgbClr val="0070C0"/>
                </a:solidFill>
                <a:latin typeface="Twentieth Century"/>
              </a:rPr>
              <a:t> =</a:t>
            </a:r>
            <a:r>
              <a:rPr lang="en-US" sz="2400" dirty="0" err="1">
                <a:solidFill>
                  <a:srgbClr val="0070C0"/>
                </a:solidFill>
                <a:latin typeface="Twentieth Century"/>
              </a:rPr>
              <a:t>Kelas.metode</a:t>
            </a:r>
            <a:r>
              <a:rPr lang="en-US" sz="2400" dirty="0">
                <a:solidFill>
                  <a:srgbClr val="0070C0"/>
                </a:solidFill>
                <a:latin typeface="Twentieth Century"/>
              </a:rPr>
              <a:t>(argumen1, argumen2, …, </a:t>
            </a:r>
            <a:r>
              <a:rPr lang="en-US" sz="2400" dirty="0" err="1">
                <a:solidFill>
                  <a:srgbClr val="0070C0"/>
                </a:solidFill>
                <a:latin typeface="Twentieth Century"/>
              </a:rPr>
              <a:t>argumenN</a:t>
            </a:r>
            <a:r>
              <a:rPr lang="en-US" sz="2400" dirty="0">
                <a:solidFill>
                  <a:srgbClr val="0070C0"/>
                </a:solidFill>
                <a:latin typeface="Twentieth Century"/>
              </a:rPr>
              <a:t>)</a:t>
            </a:r>
            <a:endParaRPr lang="en-ID" sz="2400" dirty="0">
              <a:solidFill>
                <a:srgbClr val="0070C0"/>
              </a:solidFill>
              <a:latin typeface="Twentieth Century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12FC2E-B3F6-42D2-8A91-AFE86FCE11F5}"/>
              </a:ext>
            </a:extLst>
          </p:cNvPr>
          <p:cNvSpPr/>
          <p:nvPr/>
        </p:nvSpPr>
        <p:spPr>
          <a:xfrm>
            <a:off x="1283182" y="2304204"/>
            <a:ext cx="8704594" cy="5646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0070C0"/>
                </a:solidFill>
                <a:latin typeface="Twentieth Century"/>
              </a:rPr>
              <a:t>NamaKelas.namaMetode</a:t>
            </a:r>
            <a:r>
              <a:rPr lang="en-US" sz="2400" dirty="0">
                <a:solidFill>
                  <a:srgbClr val="0070C0"/>
                </a:solidFill>
                <a:latin typeface="Twentieth Century"/>
              </a:rPr>
              <a:t>(argumen1, argumen2, …, </a:t>
            </a:r>
            <a:r>
              <a:rPr lang="en-US" sz="2400" dirty="0" err="1">
                <a:solidFill>
                  <a:srgbClr val="0070C0"/>
                </a:solidFill>
                <a:latin typeface="Twentieth Century"/>
              </a:rPr>
              <a:t>argumenN</a:t>
            </a:r>
            <a:r>
              <a:rPr lang="en-US" sz="2400" dirty="0">
                <a:solidFill>
                  <a:srgbClr val="0070C0"/>
                </a:solidFill>
                <a:latin typeface="Twentieth Century"/>
              </a:rPr>
              <a:t>)</a:t>
            </a:r>
            <a:endParaRPr lang="en-ID" sz="2400" dirty="0">
              <a:solidFill>
                <a:srgbClr val="0070C0"/>
              </a:solidFill>
              <a:latin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1063873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METHOD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7" name="Google Shape;272;p5">
            <a:extLst>
              <a:ext uri="{FF2B5EF4-FFF2-40B4-BE49-F238E27FC236}">
                <a16:creationId xmlns:a16="http://schemas.microsoft.com/office/drawing/2014/main" id="{3487296A-7147-4BDB-8DCE-E75CB6F6F8B4}"/>
              </a:ext>
            </a:extLst>
          </p:cNvPr>
          <p:cNvSpPr txBox="1">
            <a:spLocks/>
          </p:cNvSpPr>
          <p:nvPr/>
        </p:nvSpPr>
        <p:spPr>
          <a:xfrm>
            <a:off x="746982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fi-FI" sz="2400" dirty="0">
                <a:latin typeface="Twentieth Century"/>
              </a:rPr>
              <a:t>Java menyediakan banyak sekali metode di kelas Math yang berhubungan dengan matematika (menghitung akar kuadrat, logaritma suatu bilangan, dan mendapatkan sinus suatu sudut dengan mudah)</a:t>
            </a:r>
          </a:p>
          <a:p>
            <a:pPr algn="just">
              <a:lnSpc>
                <a:spcPct val="150000"/>
              </a:lnSpc>
            </a:pPr>
            <a:endParaRPr lang="fi-FI" sz="2400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endParaRPr lang="fi-FI" sz="2400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endParaRPr lang="fi-FI" sz="2400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endParaRPr lang="fi-FI" sz="2400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r>
              <a:rPr lang="fi-FI" sz="2400" dirty="0">
                <a:latin typeface="Twentieth Century"/>
              </a:rPr>
              <a:t>Dokumentasi lengkap bisa dibaca </a:t>
            </a:r>
            <a:r>
              <a:rPr lang="fi-FI" sz="2400" dirty="0">
                <a:latin typeface="Twentieth Century"/>
                <a:hlinkClick r:id="rId3"/>
              </a:rPr>
              <a:t>https://docs.oracle.com/javase/8/docs/api/</a:t>
            </a:r>
            <a:r>
              <a:rPr lang="fi-FI" sz="2400" dirty="0">
                <a:latin typeface="Twentieth Century"/>
              </a:rPr>
              <a:t> </a:t>
            </a:r>
          </a:p>
          <a:p>
            <a:pPr algn="just">
              <a:lnSpc>
                <a:spcPct val="150000"/>
              </a:lnSpc>
            </a:pPr>
            <a:endParaRPr lang="fi-FI" sz="2400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Twentieth Century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12FC2E-B3F6-42D2-8A91-AFE86FCE11F5}"/>
              </a:ext>
            </a:extLst>
          </p:cNvPr>
          <p:cNvSpPr/>
          <p:nvPr/>
        </p:nvSpPr>
        <p:spPr>
          <a:xfrm>
            <a:off x="1104762" y="3386735"/>
            <a:ext cx="8704594" cy="5646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Twentieth Century"/>
              </a:rPr>
              <a:t>Import </a:t>
            </a:r>
            <a:r>
              <a:rPr lang="en-US" sz="2400" dirty="0" err="1">
                <a:solidFill>
                  <a:srgbClr val="0070C0"/>
                </a:solidFill>
                <a:latin typeface="Twentieth Century"/>
              </a:rPr>
              <a:t>java.lang.Math</a:t>
            </a:r>
            <a:r>
              <a:rPr lang="en-US" sz="2400" dirty="0">
                <a:solidFill>
                  <a:srgbClr val="0070C0"/>
                </a:solidFill>
                <a:latin typeface="Twentieth Century"/>
              </a:rPr>
              <a:t>;</a:t>
            </a:r>
            <a:endParaRPr lang="en-ID" sz="2400" dirty="0">
              <a:solidFill>
                <a:srgbClr val="0070C0"/>
              </a:solidFill>
              <a:latin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2157208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METHOD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7" name="Google Shape;272;p5">
            <a:extLst>
              <a:ext uri="{FF2B5EF4-FFF2-40B4-BE49-F238E27FC236}">
                <a16:creationId xmlns:a16="http://schemas.microsoft.com/office/drawing/2014/main" id="{3487296A-7147-4BDB-8DCE-E75CB6F6F8B4}"/>
              </a:ext>
            </a:extLst>
          </p:cNvPr>
          <p:cNvSpPr txBox="1">
            <a:spLocks/>
          </p:cNvSpPr>
          <p:nvPr/>
        </p:nvSpPr>
        <p:spPr>
          <a:xfrm>
            <a:off x="713718" y="1265140"/>
            <a:ext cx="10515600" cy="80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fi-FI" sz="2400" dirty="0">
                <a:latin typeface="Twentieth Century"/>
              </a:rPr>
              <a:t>Metode –metode kelas yang berhubungan dengan matematika</a:t>
            </a:r>
          </a:p>
          <a:p>
            <a:pPr algn="just">
              <a:lnSpc>
                <a:spcPct val="150000"/>
              </a:lnSpc>
            </a:pPr>
            <a:endParaRPr lang="fi-FI" sz="2400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endParaRPr lang="fi-FI" sz="2400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Twentieth Century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2372B0E-0C57-4F91-AF73-E2361E660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486866"/>
              </p:ext>
            </p:extLst>
          </p:nvPr>
        </p:nvGraphicFramePr>
        <p:xfrm>
          <a:off x="1728129" y="2016152"/>
          <a:ext cx="8128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230">
                  <a:extLst>
                    <a:ext uri="{9D8B030D-6E8A-4147-A177-3AD203B41FA5}">
                      <a16:colId xmlns:a16="http://schemas.microsoft.com/office/drawing/2014/main" val="3593654706"/>
                    </a:ext>
                  </a:extLst>
                </a:gridCol>
                <a:gridCol w="6234770">
                  <a:extLst>
                    <a:ext uri="{9D8B030D-6E8A-4147-A177-3AD203B41FA5}">
                      <a16:colId xmlns:a16="http://schemas.microsoft.com/office/drawing/2014/main" val="2951656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Metode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Keterangan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05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Math.abs</a:t>
                      </a:r>
                      <a:r>
                        <a:rPr lang="en-US" sz="2000" dirty="0">
                          <a:latin typeface="Twentieth Century"/>
                        </a:rPr>
                        <a:t>(x)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Metode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ini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memberikan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nilai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balik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berupa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nilai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mutlak</a:t>
                      </a:r>
                      <a:r>
                        <a:rPr lang="en-US" sz="2000" dirty="0">
                          <a:latin typeface="Twentieth Century"/>
                        </a:rPr>
                        <a:t> argument x . </a:t>
                      </a:r>
                      <a:r>
                        <a:rPr lang="en-US" sz="2000" dirty="0" err="1">
                          <a:latin typeface="Twentieth Century"/>
                        </a:rPr>
                        <a:t>Tipe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nilai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balik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sama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dengan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tipe</a:t>
                      </a:r>
                      <a:r>
                        <a:rPr lang="en-US" sz="2000" dirty="0">
                          <a:latin typeface="Twentieth Century"/>
                        </a:rPr>
                        <a:t> argument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237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Math.ceil</a:t>
                      </a:r>
                      <a:r>
                        <a:rPr lang="en-US" sz="2000" dirty="0">
                          <a:latin typeface="Twentieth Century"/>
                        </a:rPr>
                        <a:t>(x)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Twentieth Century"/>
                        </a:rPr>
                        <a:t>Metode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ini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memberikan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nilai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balik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berupa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bilangan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bulat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terkecil</a:t>
                      </a:r>
                      <a:r>
                        <a:rPr lang="en-US" sz="2000" dirty="0">
                          <a:latin typeface="Twentieth Century"/>
                        </a:rPr>
                        <a:t> yang </a:t>
                      </a:r>
                      <a:r>
                        <a:rPr lang="en-US" sz="2000" dirty="0" err="1">
                          <a:latin typeface="Twentieth Century"/>
                        </a:rPr>
                        <a:t>tidak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kurang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dari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nilai</a:t>
                      </a:r>
                      <a:r>
                        <a:rPr lang="en-US" sz="2000" dirty="0">
                          <a:latin typeface="Twentieth Century"/>
                        </a:rPr>
                        <a:t> argument x . Nilai </a:t>
                      </a:r>
                      <a:r>
                        <a:rPr lang="en-US" sz="2000" dirty="0" err="1">
                          <a:latin typeface="Twentieth Century"/>
                        </a:rPr>
                        <a:t>balik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bertipe</a:t>
                      </a:r>
                      <a:r>
                        <a:rPr lang="en-US" sz="2000" dirty="0">
                          <a:latin typeface="Twentieth Century"/>
                        </a:rPr>
                        <a:t> double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698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Math.round</a:t>
                      </a:r>
                      <a:r>
                        <a:rPr lang="en-US" sz="2000" dirty="0">
                          <a:latin typeface="Twentieth Century"/>
                        </a:rPr>
                        <a:t>(x)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Twentieth Century"/>
                        </a:rPr>
                        <a:t>Metode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ini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memberikan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nilai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balik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berupa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bilangan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bulat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terdekat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dengan</a:t>
                      </a:r>
                      <a:r>
                        <a:rPr lang="en-US" sz="2000" dirty="0">
                          <a:latin typeface="Twentieth Century"/>
                        </a:rPr>
                        <a:t> argument x . Nilai </a:t>
                      </a:r>
                      <a:r>
                        <a:rPr lang="en-US" sz="2000" dirty="0" err="1">
                          <a:latin typeface="Twentieth Century"/>
                        </a:rPr>
                        <a:t>balik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bertipe</a:t>
                      </a:r>
                      <a:r>
                        <a:rPr lang="en-US" sz="2000" dirty="0">
                          <a:latin typeface="Twentieth Century"/>
                        </a:rPr>
                        <a:t> int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00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Math.sin</a:t>
                      </a:r>
                      <a:r>
                        <a:rPr lang="en-US" sz="2000" dirty="0">
                          <a:latin typeface="Twentieth Century"/>
                        </a:rPr>
                        <a:t>(x)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Twentieth Century"/>
                        </a:rPr>
                        <a:t>Metode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ini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memberikan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nilai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balik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berupa</a:t>
                      </a:r>
                      <a:r>
                        <a:rPr lang="en-US" sz="2000" dirty="0">
                          <a:latin typeface="Twentieth Century"/>
                        </a:rPr>
                        <a:t> sinus argument x. </a:t>
                      </a:r>
                      <a:r>
                        <a:rPr lang="en-US" sz="2000" dirty="0" err="1">
                          <a:latin typeface="Twentieth Century"/>
                        </a:rPr>
                        <a:t>Dalam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hal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ini</a:t>
                      </a:r>
                      <a:r>
                        <a:rPr lang="en-US" sz="2000" dirty="0">
                          <a:latin typeface="Twentieth Century"/>
                        </a:rPr>
                        <a:t>, x </a:t>
                      </a:r>
                      <a:r>
                        <a:rPr lang="en-US" sz="2000" dirty="0" err="1">
                          <a:latin typeface="Twentieth Century"/>
                        </a:rPr>
                        <a:t>harus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dalam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satuan</a:t>
                      </a:r>
                      <a:r>
                        <a:rPr lang="en-US" sz="2000" dirty="0">
                          <a:latin typeface="Twentieth Century"/>
                        </a:rPr>
                        <a:t> radian. Nilai </a:t>
                      </a:r>
                      <a:r>
                        <a:rPr lang="en-US" sz="2000" dirty="0" err="1">
                          <a:latin typeface="Twentieth Century"/>
                        </a:rPr>
                        <a:t>balik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bertipe</a:t>
                      </a:r>
                      <a:r>
                        <a:rPr lang="en-US" sz="2000" dirty="0">
                          <a:latin typeface="Twentieth Century"/>
                        </a:rPr>
                        <a:t> double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445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38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"/>
          <p:cNvSpPr txBox="1">
            <a:spLocks noGrp="1"/>
          </p:cNvSpPr>
          <p:nvPr>
            <p:ph type="ctrTitle"/>
          </p:nvPr>
        </p:nvSpPr>
        <p:spPr>
          <a:xfrm>
            <a:off x="5844923" y="2638446"/>
            <a:ext cx="5529197" cy="258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</a:pPr>
            <a:r>
              <a:rPr lang="en-US" dirty="0"/>
              <a:t>EKSPRESI, OPERATOR DAN OPERAN</a:t>
            </a:r>
            <a:endParaRPr dirty="0"/>
          </a:p>
        </p:txBody>
      </p:sp>
      <p:pic>
        <p:nvPicPr>
          <p:cNvPr id="7" name="Picture Placeholder 3">
            <a:extLst>
              <a:ext uri="{FF2B5EF4-FFF2-40B4-BE49-F238E27FC236}">
                <a16:creationId xmlns:a16="http://schemas.microsoft.com/office/drawing/2014/main" id="{ECF665E8-684B-4CD5-8F85-AE5ED240D0E8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4581" r="24581"/>
          <a:stretch>
            <a:fillRect/>
          </a:stretch>
        </p:blipFill>
        <p:spPr>
          <a:xfrm>
            <a:off x="0" y="1001713"/>
            <a:ext cx="5316538" cy="5856287"/>
          </a:xfrm>
        </p:spPr>
      </p:pic>
    </p:spTree>
    <p:extLst>
      <p:ext uri="{BB962C8B-B14F-4D97-AF65-F5344CB8AC3E}">
        <p14:creationId xmlns:p14="http://schemas.microsoft.com/office/powerpoint/2010/main" val="337137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 txBox="1">
            <a:spLocks noGrp="1"/>
          </p:cNvSpPr>
          <p:nvPr>
            <p:ph type="body" idx="1"/>
          </p:nvPr>
        </p:nvSpPr>
        <p:spPr>
          <a:xfrm>
            <a:off x="334918" y="1853626"/>
            <a:ext cx="4373269" cy="373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Ekspresi</a:t>
            </a:r>
            <a:r>
              <a:rPr lang="en-US" b="1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adalah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suatu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bentuk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penulisan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perintah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dimasukkan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menghasilkan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suatu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nilai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. 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lang="en-US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ID" b="1" dirty="0">
                <a:latin typeface="Twentieth Century"/>
                <a:ea typeface="Twentieth Century"/>
                <a:cs typeface="Twentieth Century"/>
                <a:sym typeface="Twentieth Century"/>
              </a:rPr>
              <a:t>Operator</a:t>
            </a:r>
            <a:r>
              <a:rPr lang="en-ID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digunakan</a:t>
            </a:r>
            <a:r>
              <a:rPr lang="en-ID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ID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memanipulasi</a:t>
            </a:r>
            <a:r>
              <a:rPr lang="en-ID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dirty="0" err="1">
                <a:latin typeface="Twentieth Century"/>
                <a:ea typeface="Twentieth Century"/>
                <a:cs typeface="Twentieth Century"/>
                <a:sym typeface="Twentieth Century"/>
              </a:rPr>
              <a:t>nilai</a:t>
            </a:r>
            <a:r>
              <a:rPr lang="en-ID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suatu</a:t>
            </a:r>
            <a:r>
              <a:rPr lang="en-ID" dirty="0">
                <a:latin typeface="Twentieth Century"/>
                <a:ea typeface="Twentieth Century"/>
                <a:cs typeface="Twentieth Century"/>
                <a:sym typeface="Twentieth Century"/>
              </a:rPr>
              <a:t> variable. </a:t>
            </a:r>
            <a:r>
              <a:rPr lang="en-ID" dirty="0" err="1">
                <a:latin typeface="Twentieth Century"/>
                <a:ea typeface="Twentieth Century"/>
                <a:cs typeface="Twentieth Century"/>
                <a:sym typeface="Twentieth Century"/>
              </a:rPr>
              <a:t>Variabel</a:t>
            </a:r>
            <a:r>
              <a:rPr lang="en-ID" dirty="0"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ID" dirty="0" err="1">
                <a:latin typeface="Twentieth Century"/>
                <a:ea typeface="Twentieth Century"/>
                <a:cs typeface="Twentieth Century"/>
                <a:sym typeface="Twentieth Century"/>
              </a:rPr>
              <a:t>nilainya</a:t>
            </a:r>
            <a:r>
              <a:rPr lang="en-ID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dimodifikasi</a:t>
            </a:r>
            <a:r>
              <a:rPr lang="en-ID" dirty="0">
                <a:latin typeface="Twentieth Century"/>
                <a:ea typeface="Twentieth Century"/>
                <a:cs typeface="Twentieth Century"/>
                <a:sym typeface="Twentieth Century"/>
              </a:rPr>
              <a:t> oleh operator </a:t>
            </a:r>
            <a:r>
              <a:rPr lang="en-ID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disebut</a:t>
            </a:r>
            <a:r>
              <a:rPr lang="en-ID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b="1" dirty="0">
                <a:solidFill>
                  <a:srgbClr val="FFFF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operand</a:t>
            </a:r>
            <a:r>
              <a:rPr lang="en-ID" dirty="0"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lang="en-US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lang="en-US" dirty="0"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6" name="Picture Placeholder 3">
            <a:extLst>
              <a:ext uri="{FF2B5EF4-FFF2-40B4-BE49-F238E27FC236}">
                <a16:creationId xmlns:a16="http://schemas.microsoft.com/office/drawing/2014/main" id="{24180177-F0B1-443D-B57D-48BAAAF082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81" r="20381"/>
          <a:stretch>
            <a:fillRect/>
          </a:stretch>
        </p:blipFill>
        <p:spPr>
          <a:xfrm>
            <a:off x="5562456" y="1077673"/>
            <a:ext cx="5141912" cy="48603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634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750694-44B3-4837-ACF4-184C99E42D1C}"/>
              </a:ext>
            </a:extLst>
          </p:cNvPr>
          <p:cNvSpPr/>
          <p:nvPr/>
        </p:nvSpPr>
        <p:spPr>
          <a:xfrm>
            <a:off x="1549830" y="3526917"/>
            <a:ext cx="8424441" cy="27655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4" name="Google Shape;314;p10"/>
          <p:cNvSpPr txBox="1">
            <a:spLocks noGrp="1"/>
          </p:cNvSpPr>
          <p:nvPr>
            <p:ph type="title"/>
          </p:nvPr>
        </p:nvSpPr>
        <p:spPr>
          <a:xfrm>
            <a:off x="2390562" y="884107"/>
            <a:ext cx="7410875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EKSPRESI, OPERATOR DAN OPERAN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533E5-CA10-4598-8209-B0A517491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543"/>
            <a:ext cx="9944100" cy="1415543"/>
          </a:xfrm>
        </p:spPr>
        <p:txBody>
          <a:bodyPr>
            <a:normAutofit lnSpcReduction="10000"/>
          </a:bodyPr>
          <a:lstStyle/>
          <a:p>
            <a:pPr marL="88900" indent="0">
              <a:buNone/>
              <a:tabLst>
                <a:tab pos="1611313" algn="l"/>
              </a:tabLst>
            </a:pPr>
            <a:r>
              <a:rPr lang="en-ID" sz="2400" b="1" dirty="0" err="1"/>
              <a:t>Ekspresi</a:t>
            </a:r>
            <a:r>
              <a:rPr lang="en-ID" sz="2400" dirty="0"/>
              <a:t> </a:t>
            </a:r>
            <a:r>
              <a:rPr lang="en-ID" sz="2400" dirty="0" err="1"/>
              <a:t>melibatkan</a:t>
            </a:r>
            <a:r>
              <a:rPr lang="en-ID" sz="2400" dirty="0"/>
              <a:t> operator dan </a:t>
            </a:r>
            <a:r>
              <a:rPr lang="en-ID" sz="2400" dirty="0" err="1"/>
              <a:t>operan</a:t>
            </a:r>
            <a:r>
              <a:rPr lang="en-ID" sz="2400" dirty="0"/>
              <a:t>.</a:t>
            </a:r>
          </a:p>
          <a:p>
            <a:pPr marL="88900" indent="0">
              <a:buNone/>
              <a:tabLst>
                <a:tab pos="1611313" algn="l"/>
              </a:tabLst>
            </a:pPr>
            <a:r>
              <a:rPr lang="en-ID" sz="2400" b="1" dirty="0"/>
              <a:t>Operator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simbol</a:t>
            </a:r>
            <a:r>
              <a:rPr lang="en-ID" sz="2400" dirty="0"/>
              <a:t> yang </a:t>
            </a:r>
            <a:r>
              <a:rPr lang="en-ID" sz="2400" dirty="0" err="1"/>
              <a:t>mewakili</a:t>
            </a:r>
            <a:r>
              <a:rPr lang="en-ID" sz="2400" dirty="0"/>
              <a:t> </a:t>
            </a:r>
            <a:r>
              <a:rPr lang="en-ID" sz="2400" dirty="0" err="1"/>
              <a:t>suatu</a:t>
            </a:r>
            <a:r>
              <a:rPr lang="en-ID" sz="2400" dirty="0"/>
              <a:t> </a:t>
            </a:r>
            <a:r>
              <a:rPr lang="en-ID" sz="2400" dirty="0" err="1"/>
              <a:t>operasi</a:t>
            </a:r>
            <a:r>
              <a:rPr lang="en-ID" sz="2400" dirty="0"/>
              <a:t>.</a:t>
            </a:r>
          </a:p>
          <a:p>
            <a:pPr marL="88900" indent="0">
              <a:buNone/>
              <a:tabLst>
                <a:tab pos="1611313" algn="l"/>
              </a:tabLst>
            </a:pPr>
            <a:r>
              <a:rPr lang="en-ID" sz="2400" b="1" dirty="0" err="1"/>
              <a:t>Operan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bagian</a:t>
            </a:r>
            <a:r>
              <a:rPr lang="en-ID" sz="2400" dirty="0"/>
              <a:t> yang </a:t>
            </a:r>
            <a:r>
              <a:rPr lang="en-ID" sz="2400" dirty="0" err="1"/>
              <a:t>dikenai</a:t>
            </a:r>
            <a:r>
              <a:rPr lang="en-ID" sz="2400" dirty="0"/>
              <a:t> </a:t>
            </a:r>
            <a:r>
              <a:rPr lang="en-ID" sz="2400" dirty="0" err="1"/>
              <a:t>operasi</a:t>
            </a:r>
            <a:r>
              <a:rPr lang="en-ID" sz="2400" dirty="0"/>
              <a:t> oleh operator.</a:t>
            </a:r>
          </a:p>
          <a:p>
            <a:pPr>
              <a:tabLst>
                <a:tab pos="1611313" algn="l"/>
              </a:tabLst>
            </a:pPr>
            <a:endParaRPr lang="en-ID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F8F0C36-F16A-487A-93D9-DCB97F281A3C}"/>
              </a:ext>
            </a:extLst>
          </p:cNvPr>
          <p:cNvSpPr/>
          <p:nvPr/>
        </p:nvSpPr>
        <p:spPr>
          <a:xfrm>
            <a:off x="4133132" y="4017571"/>
            <a:ext cx="3813718" cy="1784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rgbClr val="0070C0"/>
                </a:solidFill>
                <a:latin typeface="Twentieth Century"/>
              </a:rPr>
              <a:t>5 + 7 - 2</a:t>
            </a:r>
            <a:endParaRPr lang="en-ID" sz="4800" dirty="0">
              <a:solidFill>
                <a:srgbClr val="0070C0"/>
              </a:solidFill>
              <a:latin typeface="Twentieth Century"/>
            </a:endParaRP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F2CCBBB6-C75A-49B0-9194-DFDD1525781C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74890" y="3772244"/>
            <a:ext cx="1873407" cy="1137424"/>
          </a:xfrm>
          <a:prstGeom prst="curvedConnector3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26ED53A6-6AAE-46BC-8FD9-760AAFC37E13}"/>
              </a:ext>
            </a:extLst>
          </p:cNvPr>
          <p:cNvCxnSpPr/>
          <p:nvPr/>
        </p:nvCxnSpPr>
        <p:spPr>
          <a:xfrm rot="10800000" flipV="1">
            <a:off x="5605095" y="3772244"/>
            <a:ext cx="2743203" cy="981308"/>
          </a:xfrm>
          <a:prstGeom prst="curvedConnector3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E82484D-B120-4BA3-A27D-482AD6D923D2}"/>
              </a:ext>
            </a:extLst>
          </p:cNvPr>
          <p:cNvCxnSpPr/>
          <p:nvPr/>
        </p:nvCxnSpPr>
        <p:spPr>
          <a:xfrm flipV="1">
            <a:off x="2933002" y="5088089"/>
            <a:ext cx="2159136" cy="713678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E032A0E-0CEA-40A0-A3BB-616976CA6B82}"/>
              </a:ext>
            </a:extLst>
          </p:cNvPr>
          <p:cNvCxnSpPr>
            <a:cxnSpLocks/>
          </p:cNvCxnSpPr>
          <p:nvPr/>
        </p:nvCxnSpPr>
        <p:spPr>
          <a:xfrm flipV="1">
            <a:off x="2845893" y="5177301"/>
            <a:ext cx="3194098" cy="79629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AD8FC90-660C-42A7-8FE5-44871ED60E91}"/>
              </a:ext>
            </a:extLst>
          </p:cNvPr>
          <p:cNvCxnSpPr>
            <a:cxnSpLocks/>
          </p:cNvCxnSpPr>
          <p:nvPr/>
        </p:nvCxnSpPr>
        <p:spPr>
          <a:xfrm flipV="1">
            <a:off x="2933002" y="5244208"/>
            <a:ext cx="4043694" cy="912455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004B704-757A-4531-9A5C-6A45126BD328}"/>
              </a:ext>
            </a:extLst>
          </p:cNvPr>
          <p:cNvSpPr/>
          <p:nvPr/>
        </p:nvSpPr>
        <p:spPr>
          <a:xfrm>
            <a:off x="1549830" y="3534940"/>
            <a:ext cx="1870379" cy="3912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latin typeface="Twentieth Century"/>
              </a:rPr>
              <a:t>Ekspresi</a:t>
            </a:r>
            <a:endParaRPr lang="en-ID" b="1" dirty="0">
              <a:latin typeface="Twentieth Century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B688EA-9F07-473E-B7A6-079E9EC77DED}"/>
              </a:ext>
            </a:extLst>
          </p:cNvPr>
          <p:cNvSpPr/>
          <p:nvPr/>
        </p:nvSpPr>
        <p:spPr>
          <a:xfrm>
            <a:off x="1751308" y="5760781"/>
            <a:ext cx="1181694" cy="39123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latin typeface="Twentieth Century"/>
              </a:rPr>
              <a:t>Operan</a:t>
            </a:r>
            <a:endParaRPr lang="en-ID" b="1" dirty="0">
              <a:latin typeface="Twentieth Century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916D127-FC9A-438A-8A19-9D3DFF3EE651}"/>
              </a:ext>
            </a:extLst>
          </p:cNvPr>
          <p:cNvSpPr/>
          <p:nvPr/>
        </p:nvSpPr>
        <p:spPr>
          <a:xfrm>
            <a:off x="8348297" y="3576625"/>
            <a:ext cx="1471963" cy="391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wentieth Century"/>
              </a:rPr>
              <a:t>Operator</a:t>
            </a:r>
            <a:endParaRPr lang="en-ID" b="1" dirty="0">
              <a:latin typeface="Twentieth Centur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 txBox="1">
            <a:spLocks noGrp="1"/>
          </p:cNvSpPr>
          <p:nvPr>
            <p:ph type="title"/>
          </p:nvPr>
        </p:nvSpPr>
        <p:spPr>
          <a:xfrm>
            <a:off x="2390562" y="884107"/>
            <a:ext cx="7410875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ARITHMETIC OPERATOR 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4EB741E-632C-44A1-AD30-39772B3DC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463281"/>
              </p:ext>
            </p:extLst>
          </p:nvPr>
        </p:nvGraphicFramePr>
        <p:xfrm>
          <a:off x="1914633" y="1622687"/>
          <a:ext cx="8686904" cy="471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368">
                  <a:extLst>
                    <a:ext uri="{9D8B030D-6E8A-4147-A177-3AD203B41FA5}">
                      <a16:colId xmlns:a16="http://schemas.microsoft.com/office/drawing/2014/main" val="841527076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348680603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979233605"/>
                    </a:ext>
                  </a:extLst>
                </a:gridCol>
                <a:gridCol w="3381586">
                  <a:extLst>
                    <a:ext uri="{9D8B030D-6E8A-4147-A177-3AD203B41FA5}">
                      <a16:colId xmlns:a16="http://schemas.microsoft.com/office/drawing/2014/main" val="3937132258"/>
                    </a:ext>
                  </a:extLst>
                </a:gridCol>
              </a:tblGrid>
              <a:tr h="3770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wentieth Century"/>
                        </a:rPr>
                        <a:t>Operator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Twentieth Century"/>
                        </a:rPr>
                        <a:t>Operasi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Twentieth Century"/>
                        </a:rPr>
                        <a:t>Prioritas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Twentieth Century"/>
                        </a:rPr>
                        <a:t>Contoh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538976"/>
                  </a:ext>
                </a:extLst>
              </a:tr>
              <a:tr h="5785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wentieth Century"/>
                        </a:rPr>
                        <a:t>+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wentieth Century"/>
                        </a:rPr>
                        <a:t>Penjumlahan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wentieth Century"/>
                        </a:rPr>
                        <a:t>2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wentieth Century"/>
                        </a:rPr>
                        <a:t>4 + 3 = 7</a:t>
                      </a:r>
                    </a:p>
                    <a:p>
                      <a:pPr algn="l"/>
                      <a:r>
                        <a:rPr lang="en-US" sz="1800" dirty="0">
                          <a:latin typeface="Twentieth Century"/>
                        </a:rPr>
                        <a:t>4 + 3.0 = 7.0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204255"/>
                  </a:ext>
                </a:extLst>
              </a:tr>
              <a:tr h="5785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wentieth Century"/>
                        </a:rPr>
                        <a:t>-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wentieth Century"/>
                        </a:rPr>
                        <a:t>Pengurangan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wentieth Century"/>
                        </a:rPr>
                        <a:t>2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wentieth Century"/>
                        </a:rPr>
                        <a:t>5 – 4 = 1</a:t>
                      </a:r>
                    </a:p>
                    <a:p>
                      <a:pPr algn="l"/>
                      <a:r>
                        <a:rPr lang="en-US" sz="1800" dirty="0">
                          <a:latin typeface="Twentieth Century"/>
                        </a:rPr>
                        <a:t>5.0 – 4 = 1.0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360656"/>
                  </a:ext>
                </a:extLst>
              </a:tr>
              <a:tr h="3770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wentieth Century"/>
                        </a:rPr>
                        <a:t>*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wentieth Century"/>
                        </a:rPr>
                        <a:t>Perkalian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wentieth Century"/>
                        </a:rPr>
                        <a:t>1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wentieth Century"/>
                        </a:rPr>
                        <a:t>4 * 2 = 8</a:t>
                      </a:r>
                      <a:endParaRPr lang="en-US" sz="1800" dirty="0">
                        <a:latin typeface="Twentieth Century"/>
                        <a:sym typeface="Wingdings" panose="05000000000000000000" pitchFamily="2" charset="2"/>
                      </a:endParaRPr>
                    </a:p>
                    <a:p>
                      <a:pPr algn="l"/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4 * 2.0 = 8.0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697357"/>
                  </a:ext>
                </a:extLst>
              </a:tr>
              <a:tr h="5785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wentieth Century"/>
                        </a:rPr>
                        <a:t>/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wentieth Century"/>
                        </a:rPr>
                        <a:t>Pembagian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wentieth Century"/>
                        </a:rPr>
                        <a:t>1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wentieth Century"/>
                        </a:rPr>
                        <a:t>9 / 2 = 4</a:t>
                      </a:r>
                    </a:p>
                    <a:p>
                      <a:pPr algn="l"/>
                      <a:r>
                        <a:rPr lang="en-US" sz="1800" dirty="0">
                          <a:latin typeface="Twentieth Century"/>
                        </a:rPr>
                        <a:t>9 / 2.0 = 4.5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076015"/>
                  </a:ext>
                </a:extLst>
              </a:tr>
              <a:tr h="8264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wentieth Century"/>
                        </a:rPr>
                        <a:t>% 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wentieth Century"/>
                        </a:rPr>
                        <a:t>Modulus </a:t>
                      </a:r>
                      <a:r>
                        <a:rPr lang="en-US" sz="1800" dirty="0" err="1">
                          <a:latin typeface="Twentieth Century"/>
                        </a:rPr>
                        <a:t>atau</a:t>
                      </a:r>
                      <a:r>
                        <a:rPr lang="en-US" sz="1800" dirty="0">
                          <a:latin typeface="Twentieth Century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</a:rPr>
                        <a:t>sisa</a:t>
                      </a:r>
                      <a:r>
                        <a:rPr lang="en-US" sz="1800" dirty="0">
                          <a:latin typeface="Twentieth Century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</a:rPr>
                        <a:t>hasil</a:t>
                      </a:r>
                      <a:r>
                        <a:rPr lang="en-US" sz="1800" dirty="0">
                          <a:latin typeface="Twentieth Century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</a:rPr>
                        <a:t>bagi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wentieth Century"/>
                        </a:rPr>
                        <a:t>1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wentieth Century"/>
                        </a:rPr>
                        <a:t>7 % 2 = 1</a:t>
                      </a:r>
                    </a:p>
                    <a:p>
                      <a:pPr algn="l"/>
                      <a:r>
                        <a:rPr lang="en-US" sz="1800" dirty="0">
                          <a:latin typeface="Twentieth Century"/>
                        </a:rPr>
                        <a:t>8 % 3 = 2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10309"/>
                  </a:ext>
                </a:extLst>
              </a:tr>
              <a:tr h="3770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wentieth Century"/>
                        </a:rPr>
                        <a:t>**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wentieth Century"/>
                        </a:rPr>
                        <a:t>Pangkat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wentieth Century"/>
                          <a:ea typeface="+mn-ea"/>
                          <a:cs typeface="+mn-cs"/>
                          <a:sym typeface="Arial"/>
                        </a:rPr>
                        <a:t>3^4 = 81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283329"/>
                  </a:ext>
                </a:extLst>
              </a:tr>
              <a:tr h="5785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wentieth Century"/>
                        </a:rPr>
                        <a:t>//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wentieth Century"/>
                        </a:rPr>
                        <a:t>Pembagian</a:t>
                      </a:r>
                      <a:r>
                        <a:rPr lang="en-US" sz="1800" dirty="0">
                          <a:latin typeface="Twentieth Century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</a:rPr>
                        <a:t>Bulat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wentieth Century"/>
                        </a:rPr>
                        <a:t>100 : 2 = 50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992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59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 txBox="1">
            <a:spLocks noGrp="1"/>
          </p:cNvSpPr>
          <p:nvPr>
            <p:ph type="title"/>
          </p:nvPr>
        </p:nvSpPr>
        <p:spPr>
          <a:xfrm>
            <a:off x="2390562" y="884107"/>
            <a:ext cx="7410875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EKSPRESI, OPERATOR DAN OPERAN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533E5-CA10-4598-8209-B0A517491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8489" y="1826542"/>
            <a:ext cx="10515600" cy="3926557"/>
          </a:xfrm>
        </p:spPr>
        <p:txBody>
          <a:bodyPr>
            <a:normAutofit/>
          </a:bodyPr>
          <a:lstStyle/>
          <a:p>
            <a:pPr marL="88900" indent="0">
              <a:buNone/>
              <a:tabLst>
                <a:tab pos="1611313" algn="l"/>
              </a:tabLst>
            </a:pPr>
            <a:r>
              <a:rPr lang="en-ID" sz="2400" b="1" dirty="0" err="1"/>
              <a:t>Ekspresi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memperoleh</a:t>
            </a:r>
            <a:r>
              <a:rPr lang="en-ID" sz="2400" dirty="0"/>
              <a:t> </a:t>
            </a:r>
            <a:r>
              <a:rPr lang="en-ID" sz="2400" dirty="0" err="1"/>
              <a:t>suatu</a:t>
            </a:r>
            <a:r>
              <a:rPr lang="en-ID" sz="2400" dirty="0"/>
              <a:t> </a:t>
            </a:r>
            <a:r>
              <a:rPr lang="en-ID" sz="2400" dirty="0" err="1"/>
              <a:t>nilai</a:t>
            </a:r>
            <a:r>
              <a:rPr lang="en-ID" sz="2400" dirty="0"/>
              <a:t>. Nilai yang </a:t>
            </a:r>
            <a:r>
              <a:rPr lang="en-ID" sz="2400" dirty="0" err="1"/>
              <a:t>dihasilkan</a:t>
            </a:r>
            <a:r>
              <a:rPr lang="en-ID" sz="2400" dirty="0"/>
              <a:t> </a:t>
            </a:r>
            <a:r>
              <a:rPr lang="en-ID" sz="2400" dirty="0" err="1"/>
              <a:t>hanya</a:t>
            </a:r>
            <a:r>
              <a:rPr lang="en-ID" sz="2400" dirty="0"/>
              <a:t> </a:t>
            </a:r>
            <a:r>
              <a:rPr lang="en-ID" sz="2400" dirty="0" err="1"/>
              <a:t>sementara</a:t>
            </a:r>
            <a:r>
              <a:rPr lang="en-ID" sz="2400" dirty="0"/>
              <a:t> dan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disimpan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memori</a:t>
            </a:r>
            <a:r>
              <a:rPr lang="en-ID" sz="2400" dirty="0"/>
              <a:t> computer, </a:t>
            </a:r>
            <a:r>
              <a:rPr lang="en-ID" sz="2400" dirty="0" err="1"/>
              <a:t>nilai</a:t>
            </a:r>
            <a:r>
              <a:rPr lang="en-ID" sz="2400" dirty="0"/>
              <a:t> </a:t>
            </a:r>
            <a:r>
              <a:rPr lang="en-ID" sz="2400" dirty="0" err="1"/>
              <a:t>hasil</a:t>
            </a:r>
            <a:r>
              <a:rPr lang="en-ID" sz="2400" dirty="0"/>
              <a:t> </a:t>
            </a:r>
            <a:r>
              <a:rPr lang="en-ID" sz="2400" dirty="0" err="1"/>
              <a:t>ekspresi</a:t>
            </a:r>
            <a:r>
              <a:rPr lang="en-ID" sz="2400" dirty="0"/>
              <a:t> </a:t>
            </a:r>
            <a:r>
              <a:rPr lang="en-ID" sz="2400" dirty="0" err="1"/>
              <a:t>perlu</a:t>
            </a:r>
            <a:r>
              <a:rPr lang="en-ID" sz="2400" dirty="0"/>
              <a:t> </a:t>
            </a:r>
            <a:r>
              <a:rPr lang="en-ID" sz="2400" dirty="0" err="1"/>
              <a:t>ditugaskan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</a:t>
            </a:r>
            <a:r>
              <a:rPr lang="en-ID" sz="2400" dirty="0" err="1"/>
              <a:t>variabel</a:t>
            </a:r>
            <a:r>
              <a:rPr lang="en-ID" sz="2400" dirty="0"/>
              <a:t> </a:t>
            </a:r>
            <a:r>
              <a:rPr lang="en-ID" sz="2400" dirty="0" err="1"/>
              <a:t>sehingga</a:t>
            </a:r>
            <a:r>
              <a:rPr lang="en-ID" sz="2400" dirty="0"/>
              <a:t>  </a:t>
            </a:r>
            <a:r>
              <a:rPr lang="en-ID" sz="2400" dirty="0" err="1"/>
              <a:t>membentuk</a:t>
            </a:r>
            <a:r>
              <a:rPr lang="en-ID" sz="2400" dirty="0"/>
              <a:t> </a:t>
            </a:r>
            <a:r>
              <a:rPr lang="en-ID" sz="2400" dirty="0" err="1"/>
              <a:t>suatu</a:t>
            </a:r>
            <a:r>
              <a:rPr lang="en-ID" sz="2400" dirty="0"/>
              <a:t> </a:t>
            </a:r>
            <a:r>
              <a:rPr lang="en-ID" sz="2400" dirty="0" err="1"/>
              <a:t>penugasan</a:t>
            </a:r>
            <a:r>
              <a:rPr lang="en-ID" sz="2400" dirty="0"/>
              <a:t>.</a:t>
            </a:r>
          </a:p>
          <a:p>
            <a:pPr marL="88900" indent="0">
              <a:buNone/>
              <a:tabLst>
                <a:tab pos="1611313" algn="l"/>
              </a:tabLst>
            </a:pPr>
            <a:endParaRPr lang="en-ID" sz="2400" dirty="0"/>
          </a:p>
          <a:p>
            <a:pPr marL="88900" indent="0">
              <a:buNone/>
              <a:tabLst>
                <a:tab pos="1611313" algn="l"/>
              </a:tabLst>
            </a:pPr>
            <a:endParaRPr lang="en-ID" sz="2400" dirty="0"/>
          </a:p>
          <a:p>
            <a:pPr marL="88900" indent="0">
              <a:buNone/>
              <a:tabLst>
                <a:tab pos="1611313" algn="l"/>
              </a:tabLst>
            </a:pPr>
            <a:r>
              <a:rPr lang="en-ID" sz="2400" dirty="0" err="1"/>
              <a:t>Pernyataan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membuat</a:t>
            </a:r>
            <a:r>
              <a:rPr lang="en-ID" sz="2400" dirty="0"/>
              <a:t> </a:t>
            </a:r>
            <a:r>
              <a:rPr lang="en-ID" sz="2400" dirty="0" err="1"/>
              <a:t>ekspresi</a:t>
            </a:r>
            <a:r>
              <a:rPr lang="en-ID" sz="2400" dirty="0"/>
              <a:t> 5 + 3 </a:t>
            </a:r>
            <a:r>
              <a:rPr lang="en-ID" sz="2400" dirty="0" err="1"/>
              <a:t>disimpan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variable x.</a:t>
            </a:r>
          </a:p>
          <a:p>
            <a:pPr marL="88900" indent="0">
              <a:buNone/>
              <a:tabLst>
                <a:tab pos="1611313" algn="l"/>
              </a:tabLst>
            </a:pPr>
            <a:endParaRPr lang="en-ID" sz="2400" dirty="0"/>
          </a:p>
          <a:p>
            <a:pPr>
              <a:tabLst>
                <a:tab pos="1611313" algn="l"/>
              </a:tabLst>
            </a:pPr>
            <a:endParaRPr lang="en-ID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840AA0-5D1B-4A62-8035-9BFF04A2A6F6}"/>
              </a:ext>
            </a:extLst>
          </p:cNvPr>
          <p:cNvSpPr/>
          <p:nvPr/>
        </p:nvSpPr>
        <p:spPr>
          <a:xfrm>
            <a:off x="5144196" y="4775921"/>
            <a:ext cx="1903606" cy="525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Twentieth Century"/>
              </a:rPr>
              <a:t>X = 5 + 3</a:t>
            </a:r>
            <a:endParaRPr lang="en-ID" sz="2400" dirty="0">
              <a:solidFill>
                <a:srgbClr val="0070C0"/>
              </a:solidFill>
              <a:latin typeface="Twentieth Century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907B52-9C98-4082-B1C5-1A0DDE05B77F}"/>
              </a:ext>
            </a:extLst>
          </p:cNvPr>
          <p:cNvSpPr/>
          <p:nvPr/>
        </p:nvSpPr>
        <p:spPr>
          <a:xfrm>
            <a:off x="3969814" y="3169742"/>
            <a:ext cx="4552950" cy="525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0070C0"/>
                </a:solidFill>
                <a:latin typeface="Twentieth Century"/>
              </a:rPr>
              <a:t>Variabel</a:t>
            </a:r>
            <a:r>
              <a:rPr lang="en-US" sz="2400" dirty="0">
                <a:solidFill>
                  <a:srgbClr val="0070C0"/>
                </a:solidFill>
                <a:latin typeface="Twentieth Century"/>
              </a:rPr>
              <a:t> = </a:t>
            </a:r>
            <a:r>
              <a:rPr lang="en-US" sz="2400" dirty="0" err="1">
                <a:solidFill>
                  <a:srgbClr val="0070C0"/>
                </a:solidFill>
                <a:latin typeface="Twentieth Century"/>
              </a:rPr>
              <a:t>ekspresi</a:t>
            </a:r>
            <a:r>
              <a:rPr lang="en-US" sz="2400" dirty="0">
                <a:solidFill>
                  <a:srgbClr val="0070C0"/>
                </a:solidFill>
                <a:latin typeface="Twentieth Century"/>
              </a:rPr>
              <a:t>;</a:t>
            </a:r>
            <a:endParaRPr lang="en-ID" sz="2400" dirty="0">
              <a:solidFill>
                <a:srgbClr val="0070C0"/>
              </a:solidFill>
              <a:latin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1126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 txBox="1">
            <a:spLocks noGrp="1"/>
          </p:cNvSpPr>
          <p:nvPr>
            <p:ph type="title"/>
          </p:nvPr>
        </p:nvSpPr>
        <p:spPr>
          <a:xfrm>
            <a:off x="2390562" y="884107"/>
            <a:ext cx="7410875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EKSPRESI DAN PENUGASAN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04EB741E-632C-44A1-AD30-39772B3DC4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0708049"/>
                  </p:ext>
                </p:extLst>
              </p:nvPr>
            </p:nvGraphicFramePr>
            <p:xfrm>
              <a:off x="2390561" y="2044366"/>
              <a:ext cx="7410875" cy="23343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28997">
                      <a:extLst>
                        <a:ext uri="{9D8B030D-6E8A-4147-A177-3AD203B41FA5}">
                          <a16:colId xmlns:a16="http://schemas.microsoft.com/office/drawing/2014/main" val="841527076"/>
                        </a:ext>
                      </a:extLst>
                    </a:gridCol>
                    <a:gridCol w="4381878">
                      <a:extLst>
                        <a:ext uri="{9D8B030D-6E8A-4147-A177-3AD203B41FA5}">
                          <a16:colId xmlns:a16="http://schemas.microsoft.com/office/drawing/2014/main" val="3486806036"/>
                        </a:ext>
                      </a:extLst>
                    </a:gridCol>
                  </a:tblGrid>
                  <a:tr h="4230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>
                              <a:latin typeface="Twentieth Century"/>
                            </a:rPr>
                            <a:t>Persamaan</a:t>
                          </a:r>
                          <a:r>
                            <a:rPr lang="en-US" sz="1800" dirty="0">
                              <a:latin typeface="Twentieth Century"/>
                            </a:rPr>
                            <a:t> </a:t>
                          </a:r>
                          <a:r>
                            <a:rPr lang="en-US" sz="1800" dirty="0" err="1">
                              <a:latin typeface="Twentieth Century"/>
                            </a:rPr>
                            <a:t>Matematis</a:t>
                          </a:r>
                          <a:endParaRPr lang="en-ID" sz="1800" dirty="0">
                            <a:latin typeface="Twentieth Century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>
                              <a:latin typeface="Twentieth Century"/>
                            </a:rPr>
                            <a:t>Pernyataan</a:t>
                          </a:r>
                          <a:r>
                            <a:rPr lang="en-US" sz="1800" dirty="0">
                              <a:latin typeface="Twentieth Century"/>
                            </a:rPr>
                            <a:t> Java</a:t>
                          </a:r>
                          <a:endParaRPr lang="en-ID" sz="1800" dirty="0">
                            <a:latin typeface="Twentieth Century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2538976"/>
                      </a:ext>
                    </a:extLst>
                  </a:tr>
                  <a:tr h="4778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latin typeface="Twentieth Century"/>
                            </a:rPr>
                            <a:t>e = mc</a:t>
                          </a:r>
                          <a:endParaRPr lang="en-ID" sz="1800" dirty="0">
                            <a:latin typeface="Twentieth Century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800" dirty="0">
                              <a:latin typeface="Twentieth Century"/>
                            </a:rPr>
                            <a:t> e = m * c * c;</a:t>
                          </a:r>
                          <a:endParaRPr lang="en-ID" sz="1800" dirty="0">
                            <a:latin typeface="Twentieth Century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8204255"/>
                      </a:ext>
                    </a:extLst>
                  </a:tr>
                  <a:tr h="4778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latin typeface="Twentieth Century"/>
                            </a:rPr>
                            <a:t>y =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𝑎𝑥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dirty="0">
                              <a:latin typeface="Twentieth Century"/>
                            </a:rPr>
                            <a:t> +bx + c</a:t>
                          </a:r>
                          <a:endParaRPr lang="en-ID" sz="1800" dirty="0">
                            <a:latin typeface="Twentieth Century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800" dirty="0">
                              <a:latin typeface="Twentieth Century"/>
                            </a:rPr>
                            <a:t>y = a * x * x * b *x + c</a:t>
                          </a:r>
                          <a:endParaRPr lang="en-ID" sz="1800" dirty="0">
                            <a:latin typeface="Twentieth Century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87360656"/>
                      </a:ext>
                    </a:extLst>
                  </a:tr>
                  <a:tr h="4778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latin typeface="Twentieth Century"/>
                            </a:rPr>
                            <a:t>y =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rad>
                            </m:oMath>
                          </a14:m>
                          <a:endParaRPr lang="en-ID" sz="1800" dirty="0">
                            <a:latin typeface="Twentieth Century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800" dirty="0">
                              <a:latin typeface="Twentieth Century"/>
                            </a:rPr>
                            <a:t>Y = </a:t>
                          </a:r>
                          <a:r>
                            <a:rPr lang="en-US" sz="1800" dirty="0" err="1">
                              <a:latin typeface="Twentieth Century"/>
                            </a:rPr>
                            <a:t>Math.sqrt</a:t>
                          </a:r>
                          <a:r>
                            <a:rPr lang="en-US" sz="1800" dirty="0">
                              <a:latin typeface="Twentieth Century"/>
                            </a:rPr>
                            <a:t>(b+2);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4697357"/>
                      </a:ext>
                    </a:extLst>
                  </a:tr>
                  <a:tr h="4778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latin typeface="Twentieth Century"/>
                            </a:rPr>
                            <a:t>y =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rad>
                            </m:oMath>
                          </a14:m>
                          <a:endParaRPr lang="en-ID" sz="1800" dirty="0">
                            <a:latin typeface="Twentieth Century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800" dirty="0">
                              <a:latin typeface="Twentieth Century"/>
                            </a:rPr>
                            <a:t>Y = </a:t>
                          </a:r>
                          <a:r>
                            <a:rPr lang="en-US" sz="1800" dirty="0" err="1">
                              <a:latin typeface="Twentieth Century"/>
                            </a:rPr>
                            <a:t>Math.pow</a:t>
                          </a:r>
                          <a:r>
                            <a:rPr lang="en-US" sz="1800" dirty="0">
                              <a:latin typeface="Twentieth Century"/>
                            </a:rPr>
                            <a:t>(c, 1.0 / 3);</a:t>
                          </a:r>
                          <a:endParaRPr lang="en-ID" sz="1800" dirty="0">
                            <a:latin typeface="Twentieth Century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20760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04EB741E-632C-44A1-AD30-39772B3DC4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0708049"/>
                  </p:ext>
                </p:extLst>
              </p:nvPr>
            </p:nvGraphicFramePr>
            <p:xfrm>
              <a:off x="2390561" y="2044366"/>
              <a:ext cx="7410875" cy="23343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28997">
                      <a:extLst>
                        <a:ext uri="{9D8B030D-6E8A-4147-A177-3AD203B41FA5}">
                          <a16:colId xmlns:a16="http://schemas.microsoft.com/office/drawing/2014/main" val="841527076"/>
                        </a:ext>
                      </a:extLst>
                    </a:gridCol>
                    <a:gridCol w="4381878">
                      <a:extLst>
                        <a:ext uri="{9D8B030D-6E8A-4147-A177-3AD203B41FA5}">
                          <a16:colId xmlns:a16="http://schemas.microsoft.com/office/drawing/2014/main" val="3486806036"/>
                        </a:ext>
                      </a:extLst>
                    </a:gridCol>
                  </a:tblGrid>
                  <a:tr h="4230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>
                              <a:latin typeface="Twentieth Century"/>
                            </a:rPr>
                            <a:t>Persamaan</a:t>
                          </a:r>
                          <a:r>
                            <a:rPr lang="en-US" sz="1800" dirty="0">
                              <a:latin typeface="Twentieth Century"/>
                            </a:rPr>
                            <a:t> </a:t>
                          </a:r>
                          <a:r>
                            <a:rPr lang="en-US" sz="1800" dirty="0" err="1">
                              <a:latin typeface="Twentieth Century"/>
                            </a:rPr>
                            <a:t>Matematis</a:t>
                          </a:r>
                          <a:endParaRPr lang="en-ID" sz="1800" dirty="0">
                            <a:latin typeface="Twentieth Century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>
                              <a:latin typeface="Twentieth Century"/>
                            </a:rPr>
                            <a:t>Pernyataan</a:t>
                          </a:r>
                          <a:r>
                            <a:rPr lang="en-US" sz="1800" dirty="0">
                              <a:latin typeface="Twentieth Century"/>
                            </a:rPr>
                            <a:t> Java</a:t>
                          </a:r>
                          <a:endParaRPr lang="en-ID" sz="1800" dirty="0">
                            <a:latin typeface="Twentieth Century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2538976"/>
                      </a:ext>
                    </a:extLst>
                  </a:tr>
                  <a:tr h="4778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latin typeface="Twentieth Century"/>
                            </a:rPr>
                            <a:t>e = mc</a:t>
                          </a:r>
                          <a:endParaRPr lang="en-ID" sz="1800" dirty="0">
                            <a:latin typeface="Twentieth Century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800" dirty="0">
                              <a:latin typeface="Twentieth Century"/>
                            </a:rPr>
                            <a:t> e = m * c * c;</a:t>
                          </a:r>
                          <a:endParaRPr lang="en-ID" sz="1800" dirty="0">
                            <a:latin typeface="Twentieth Century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8204255"/>
                      </a:ext>
                    </a:extLst>
                  </a:tr>
                  <a:tr h="4778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" t="-193671" r="-145674" b="-2012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800" dirty="0">
                              <a:latin typeface="Twentieth Century"/>
                            </a:rPr>
                            <a:t>y = a * x * x * b *x + c</a:t>
                          </a:r>
                          <a:endParaRPr lang="en-ID" sz="1800" dirty="0">
                            <a:latin typeface="Twentieth Century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87360656"/>
                      </a:ext>
                    </a:extLst>
                  </a:tr>
                  <a:tr h="4778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" t="-297436" r="-145674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800" dirty="0">
                              <a:latin typeface="Twentieth Century"/>
                            </a:rPr>
                            <a:t>Y = </a:t>
                          </a:r>
                          <a:r>
                            <a:rPr lang="en-US" sz="1800" dirty="0" err="1">
                              <a:latin typeface="Twentieth Century"/>
                            </a:rPr>
                            <a:t>Math.sqrt</a:t>
                          </a:r>
                          <a:r>
                            <a:rPr lang="en-US" sz="1800" dirty="0">
                              <a:latin typeface="Twentieth Century"/>
                            </a:rPr>
                            <a:t>(b+2);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4697357"/>
                      </a:ext>
                    </a:extLst>
                  </a:tr>
                  <a:tr h="4778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" t="-392405" r="-145674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800" dirty="0">
                              <a:latin typeface="Twentieth Century"/>
                            </a:rPr>
                            <a:t>Y = </a:t>
                          </a:r>
                          <a:r>
                            <a:rPr lang="en-US" sz="1800" dirty="0" err="1">
                              <a:latin typeface="Twentieth Century"/>
                            </a:rPr>
                            <a:t>Math.pow</a:t>
                          </a:r>
                          <a:r>
                            <a:rPr lang="en-US" sz="1800" dirty="0">
                              <a:latin typeface="Twentieth Century"/>
                            </a:rPr>
                            <a:t>(c, 1.0 / 3);</a:t>
                          </a:r>
                          <a:endParaRPr lang="en-ID" sz="1800" dirty="0">
                            <a:latin typeface="Twentieth Century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20760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9382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 txBox="1">
            <a:spLocks noGrp="1"/>
          </p:cNvSpPr>
          <p:nvPr>
            <p:ph type="title"/>
          </p:nvPr>
        </p:nvSpPr>
        <p:spPr>
          <a:xfrm>
            <a:off x="2390562" y="884107"/>
            <a:ext cx="7410875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ASSIGNMENT OPERATOR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35BFA-377B-42B4-85F0-1469331E35A8}"/>
              </a:ext>
            </a:extLst>
          </p:cNvPr>
          <p:cNvSpPr txBox="1"/>
          <p:nvPr/>
        </p:nvSpPr>
        <p:spPr>
          <a:xfrm>
            <a:off x="1066800" y="1622687"/>
            <a:ext cx="10553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nn-NO" sz="24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Operator penugasan merupakan operator yang digunakan unruk memberikan nilai ke suatu variable atau variable ke variable. </a:t>
            </a:r>
            <a:r>
              <a:rPr lang="it-IT" sz="24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Simbol operator ini adalah “sama dengan ” (=).</a:t>
            </a:r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7DBBC1E4-8958-47AC-A803-EE049BA1E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281811"/>
              </p:ext>
            </p:extLst>
          </p:nvPr>
        </p:nvGraphicFramePr>
        <p:xfrm>
          <a:off x="2996776" y="2361267"/>
          <a:ext cx="7785523" cy="4208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401">
                  <a:extLst>
                    <a:ext uri="{9D8B030D-6E8A-4147-A177-3AD203B41FA5}">
                      <a16:colId xmlns:a16="http://schemas.microsoft.com/office/drawing/2014/main" val="3908529236"/>
                    </a:ext>
                  </a:extLst>
                </a:gridCol>
                <a:gridCol w="5071901">
                  <a:extLst>
                    <a:ext uri="{9D8B030D-6E8A-4147-A177-3AD203B41FA5}">
                      <a16:colId xmlns:a16="http://schemas.microsoft.com/office/drawing/2014/main" val="139176682"/>
                    </a:ext>
                  </a:extLst>
                </a:gridCol>
                <a:gridCol w="1589221">
                  <a:extLst>
                    <a:ext uri="{9D8B030D-6E8A-4147-A177-3AD203B41FA5}">
                      <a16:colId xmlns:a16="http://schemas.microsoft.com/office/drawing/2014/main" val="3903557813"/>
                    </a:ext>
                  </a:extLst>
                </a:gridCol>
              </a:tblGrid>
              <a:tr h="36711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wentieth Century"/>
                        </a:rPr>
                        <a:t>Operator</a:t>
                      </a:r>
                      <a:endParaRPr lang="en-ID" sz="1600" b="1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latin typeface="Twentieth Century"/>
                        </a:rPr>
                        <a:t>Fungsi</a:t>
                      </a:r>
                      <a:endParaRPr lang="en-ID" sz="1600" b="1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latin typeface="Twentieth Century"/>
                        </a:rPr>
                        <a:t>Contoh</a:t>
                      </a:r>
                      <a:endParaRPr lang="en-ID" sz="1600" b="1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219293"/>
                  </a:ext>
                </a:extLst>
              </a:tr>
              <a:tr h="36711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wentieth Century"/>
                        </a:rPr>
                        <a:t>=</a:t>
                      </a:r>
                      <a:endParaRPr lang="en-ID" sz="1600" b="1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wentieth Century"/>
                        </a:rPr>
                        <a:t>Memberikan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nilai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kepada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sebuah</a:t>
                      </a:r>
                      <a:r>
                        <a:rPr lang="en-US" sz="1600" dirty="0">
                          <a:latin typeface="Twentieth Century"/>
                        </a:rPr>
                        <a:t> variable</a:t>
                      </a:r>
                      <a:endParaRPr lang="en-ID" sz="16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wentieth Century"/>
                        </a:rPr>
                        <a:t>a= 100</a:t>
                      </a:r>
                      <a:endParaRPr lang="en-ID" sz="16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31142"/>
                  </a:ext>
                </a:extLst>
              </a:tr>
              <a:tr h="48496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wentieth Century"/>
                        </a:rPr>
                        <a:t>+=</a:t>
                      </a:r>
                      <a:endParaRPr lang="en-ID" sz="1600" b="1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wentieth Century"/>
                        </a:rPr>
                        <a:t>Untuk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menambah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nilai</a:t>
                      </a:r>
                      <a:r>
                        <a:rPr lang="en-US" sz="1600" dirty="0">
                          <a:latin typeface="Twentieth Century"/>
                        </a:rPr>
                        <a:t> variable di </a:t>
                      </a:r>
                      <a:r>
                        <a:rPr lang="en-US" sz="1600" dirty="0" err="1">
                          <a:latin typeface="Twentieth Century"/>
                        </a:rPr>
                        <a:t>kiri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dengan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nilai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disebelah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kanan</a:t>
                      </a:r>
                      <a:endParaRPr lang="en-ID" sz="16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wentieth Century"/>
                        </a:rPr>
                        <a:t>x += 10</a:t>
                      </a:r>
                    </a:p>
                    <a:p>
                      <a:r>
                        <a:rPr lang="en-US" sz="1600" dirty="0">
                          <a:latin typeface="Twentieth Century"/>
                          <a:sym typeface="Wingdings" panose="05000000000000000000" pitchFamily="2" charset="2"/>
                        </a:rPr>
                        <a:t> x = x + 10</a:t>
                      </a:r>
                      <a:endParaRPr lang="en-ID" sz="16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617528"/>
                  </a:ext>
                </a:extLst>
              </a:tr>
              <a:tr h="48496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wentieth Century"/>
                        </a:rPr>
                        <a:t>-=</a:t>
                      </a:r>
                      <a:endParaRPr lang="en-ID" sz="1600" b="1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wentieth Century"/>
                        </a:rPr>
                        <a:t>Untuk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mengurangi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nilai</a:t>
                      </a:r>
                      <a:r>
                        <a:rPr lang="en-US" sz="1600" dirty="0">
                          <a:latin typeface="Twentieth Century"/>
                        </a:rPr>
                        <a:t> variable di </a:t>
                      </a:r>
                      <a:r>
                        <a:rPr lang="en-US" sz="1600" dirty="0" err="1">
                          <a:latin typeface="Twentieth Century"/>
                        </a:rPr>
                        <a:t>kiri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dengan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nilai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disisi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kanan</a:t>
                      </a:r>
                      <a:endParaRPr lang="en-ID" sz="16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wentieth Century"/>
                        </a:rPr>
                        <a:t>x -= 5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à"/>
                      </a:pPr>
                      <a:r>
                        <a:rPr lang="en-US" sz="1600" dirty="0">
                          <a:latin typeface="Twentieth Century"/>
                          <a:sym typeface="Wingdings" panose="05000000000000000000" pitchFamily="2" charset="2"/>
                        </a:rPr>
                        <a:t>x = x-5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05182"/>
                  </a:ext>
                </a:extLst>
              </a:tr>
              <a:tr h="48496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wentieth Century"/>
                        </a:rPr>
                        <a:t>/=</a:t>
                      </a:r>
                      <a:endParaRPr lang="en-ID" sz="1600" b="1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wentieth Century"/>
                        </a:rPr>
                        <a:t>Untuk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membagi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nilai</a:t>
                      </a:r>
                      <a:r>
                        <a:rPr lang="en-US" sz="1600" dirty="0">
                          <a:latin typeface="Twentieth Century"/>
                        </a:rPr>
                        <a:t> variable di </a:t>
                      </a:r>
                      <a:r>
                        <a:rPr lang="en-US" sz="1600" dirty="0" err="1">
                          <a:latin typeface="Twentieth Century"/>
                        </a:rPr>
                        <a:t>sisi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kiri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dengan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nilai</a:t>
                      </a:r>
                      <a:r>
                        <a:rPr lang="en-US" sz="1600" dirty="0">
                          <a:latin typeface="Twentieth Century"/>
                        </a:rPr>
                        <a:t> di </a:t>
                      </a:r>
                      <a:r>
                        <a:rPr lang="en-US" sz="1600" dirty="0" err="1">
                          <a:latin typeface="Twentieth Century"/>
                        </a:rPr>
                        <a:t>sisi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kanan</a:t>
                      </a:r>
                      <a:endParaRPr lang="en-ID" sz="16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wentieth Century"/>
                        </a:rPr>
                        <a:t>x /= 10</a:t>
                      </a:r>
                    </a:p>
                    <a:p>
                      <a:r>
                        <a:rPr lang="en-US" sz="1600" dirty="0">
                          <a:latin typeface="Twentieth Century"/>
                          <a:sym typeface="Wingdings" panose="05000000000000000000" pitchFamily="2" charset="2"/>
                        </a:rPr>
                        <a:t> x = x/10</a:t>
                      </a:r>
                      <a:endParaRPr lang="en-ID" sz="16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13243"/>
                  </a:ext>
                </a:extLst>
              </a:tr>
              <a:tr h="48496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wentieth Century"/>
                        </a:rPr>
                        <a:t>%=</a:t>
                      </a:r>
                      <a:endParaRPr lang="en-ID" sz="1600" b="1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wentieth Century"/>
                        </a:rPr>
                        <a:t>Sisa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hasil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bagi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antara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nilai</a:t>
                      </a:r>
                      <a:r>
                        <a:rPr lang="en-US" sz="1600" dirty="0">
                          <a:latin typeface="Twentieth Century"/>
                        </a:rPr>
                        <a:t> variable di </a:t>
                      </a:r>
                      <a:r>
                        <a:rPr lang="en-US" sz="1600" dirty="0" err="1">
                          <a:latin typeface="Twentieth Century"/>
                        </a:rPr>
                        <a:t>kiri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dengan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kanan</a:t>
                      </a:r>
                      <a:endParaRPr lang="en-ID" sz="16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wentieth Century"/>
                        </a:rPr>
                        <a:t>x %= 5</a:t>
                      </a:r>
                    </a:p>
                    <a:p>
                      <a:r>
                        <a:rPr lang="en-US" sz="1600" dirty="0">
                          <a:latin typeface="Twentieth Century"/>
                          <a:sym typeface="Wingdings" panose="05000000000000000000" pitchFamily="2" charset="2"/>
                        </a:rPr>
                        <a:t> x = x % 5</a:t>
                      </a:r>
                      <a:endParaRPr lang="en-ID" sz="16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517951"/>
                  </a:ext>
                </a:extLst>
              </a:tr>
              <a:tr h="48496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wentieth Century"/>
                        </a:rPr>
                        <a:t>**=</a:t>
                      </a:r>
                      <a:endParaRPr lang="en-ID" sz="1600" b="1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wentieth Century"/>
                        </a:rPr>
                        <a:t>Melakukan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operasi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pangkat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antara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nilai</a:t>
                      </a:r>
                      <a:r>
                        <a:rPr lang="en-US" sz="1600" dirty="0">
                          <a:latin typeface="Twentieth Century"/>
                        </a:rPr>
                        <a:t> variable </a:t>
                      </a:r>
                      <a:r>
                        <a:rPr lang="en-US" sz="1600" dirty="0" err="1">
                          <a:latin typeface="Twentieth Century"/>
                        </a:rPr>
                        <a:t>kiri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dengan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nilai</a:t>
                      </a:r>
                      <a:r>
                        <a:rPr lang="en-US" sz="1600" dirty="0">
                          <a:latin typeface="Twentieth Century"/>
                        </a:rPr>
                        <a:t> di </a:t>
                      </a:r>
                      <a:r>
                        <a:rPr lang="en-US" sz="1600" dirty="0" err="1">
                          <a:latin typeface="Twentieth Century"/>
                        </a:rPr>
                        <a:t>kanan</a:t>
                      </a:r>
                      <a:endParaRPr lang="en-ID" sz="16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wentieth Century"/>
                        </a:rPr>
                        <a:t>x **= 5</a:t>
                      </a:r>
                    </a:p>
                    <a:p>
                      <a:r>
                        <a:rPr lang="en-US" sz="1600" dirty="0">
                          <a:latin typeface="Twentieth Century"/>
                          <a:sym typeface="Wingdings" panose="05000000000000000000" pitchFamily="2" charset="2"/>
                        </a:rPr>
                        <a:t> x = x ** 5</a:t>
                      </a:r>
                      <a:endParaRPr lang="en-ID" sz="16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349875"/>
                  </a:ext>
                </a:extLst>
              </a:tr>
              <a:tr h="48496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wentieth Century"/>
                        </a:rPr>
                        <a:t>//=</a:t>
                      </a:r>
                      <a:endParaRPr lang="en-ID" sz="1600" b="1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wentieth Century"/>
                        </a:rPr>
                        <a:t>Melakukan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operasi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membagi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bulat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antara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nilai</a:t>
                      </a:r>
                      <a:r>
                        <a:rPr lang="en-US" sz="1600" dirty="0">
                          <a:latin typeface="Twentieth Century"/>
                        </a:rPr>
                        <a:t> variable </a:t>
                      </a:r>
                      <a:r>
                        <a:rPr lang="en-US" sz="1600" dirty="0" err="1">
                          <a:latin typeface="Twentieth Century"/>
                        </a:rPr>
                        <a:t>kiri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dengan</a:t>
                      </a:r>
                      <a:r>
                        <a:rPr lang="en-US" sz="1600" dirty="0">
                          <a:latin typeface="Twentieth Century"/>
                        </a:rPr>
                        <a:t> </a:t>
                      </a:r>
                      <a:r>
                        <a:rPr lang="en-US" sz="1600" dirty="0" err="1">
                          <a:latin typeface="Twentieth Century"/>
                        </a:rPr>
                        <a:t>nilai</a:t>
                      </a:r>
                      <a:r>
                        <a:rPr lang="en-US" sz="1600" dirty="0">
                          <a:latin typeface="Twentieth Century"/>
                        </a:rPr>
                        <a:t> di </a:t>
                      </a:r>
                      <a:r>
                        <a:rPr lang="en-US" sz="1600" dirty="0" err="1">
                          <a:latin typeface="Twentieth Century"/>
                        </a:rPr>
                        <a:t>kanan</a:t>
                      </a:r>
                      <a:endParaRPr lang="en-ID" sz="16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wentieth Century"/>
                        </a:rPr>
                        <a:t>x //= 5;</a:t>
                      </a:r>
                    </a:p>
                    <a:p>
                      <a:r>
                        <a:rPr lang="en-US" sz="1600" dirty="0">
                          <a:latin typeface="Twentieth Century"/>
                          <a:sym typeface="Wingdings" panose="05000000000000000000" pitchFamily="2" charset="2"/>
                        </a:rPr>
                        <a:t>x = x//5;</a:t>
                      </a:r>
                      <a:endParaRPr lang="en-ID" sz="16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538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92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 txBox="1">
            <a:spLocks noGrp="1"/>
          </p:cNvSpPr>
          <p:nvPr>
            <p:ph type="title"/>
          </p:nvPr>
        </p:nvSpPr>
        <p:spPr>
          <a:xfrm>
            <a:off x="2390562" y="769807"/>
            <a:ext cx="7410875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COMPARISON OPERATOR </a:t>
            </a:r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F281CE9F-4441-491F-A476-C5816253E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176982"/>
              </p:ext>
            </p:extLst>
          </p:nvPr>
        </p:nvGraphicFramePr>
        <p:xfrm>
          <a:off x="1585805" y="2305052"/>
          <a:ext cx="9020388" cy="4247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090">
                  <a:extLst>
                    <a:ext uri="{9D8B030D-6E8A-4147-A177-3AD203B41FA5}">
                      <a16:colId xmlns:a16="http://schemas.microsoft.com/office/drawing/2014/main" val="3908529236"/>
                    </a:ext>
                  </a:extLst>
                </a:gridCol>
                <a:gridCol w="2646568">
                  <a:extLst>
                    <a:ext uri="{9D8B030D-6E8A-4147-A177-3AD203B41FA5}">
                      <a16:colId xmlns:a16="http://schemas.microsoft.com/office/drawing/2014/main" val="139176682"/>
                    </a:ext>
                  </a:extLst>
                </a:gridCol>
                <a:gridCol w="4870730">
                  <a:extLst>
                    <a:ext uri="{9D8B030D-6E8A-4147-A177-3AD203B41FA5}">
                      <a16:colId xmlns:a16="http://schemas.microsoft.com/office/drawing/2014/main" val="3903557813"/>
                    </a:ext>
                  </a:extLst>
                </a:gridCol>
              </a:tblGrid>
              <a:tr h="38157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wentieth Century"/>
                        </a:rPr>
                        <a:t>Operator</a:t>
                      </a:r>
                      <a:endParaRPr lang="en-ID" sz="1800" b="1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Twentieth Century"/>
                        </a:rPr>
                        <a:t>Fungsi</a:t>
                      </a:r>
                      <a:endParaRPr lang="en-ID" sz="1800" b="1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Twentieth Century"/>
                        </a:rPr>
                        <a:t>Contoh</a:t>
                      </a:r>
                      <a:endParaRPr lang="en-ID" sz="1800" b="1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219293"/>
                  </a:ext>
                </a:extLst>
              </a:tr>
              <a:tr h="554878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wentieth Century"/>
                        </a:rPr>
                        <a:t>==</a:t>
                      </a:r>
                      <a:endParaRPr lang="en-ID" sz="18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wentieth Century"/>
                        </a:rPr>
                        <a:t>Sama </a:t>
                      </a:r>
                      <a:r>
                        <a:rPr lang="en-US" sz="1800" dirty="0" err="1">
                          <a:latin typeface="Twentieth Century"/>
                        </a:rPr>
                        <a:t>dengan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wentieth Century"/>
                        </a:rPr>
                        <a:t>$a == $b</a:t>
                      </a:r>
                    </a:p>
                    <a:p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 True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jika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$a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sama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dengan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$b 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31142"/>
                  </a:ext>
                </a:extLst>
              </a:tr>
              <a:tr h="554878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wentieth Century"/>
                        </a:rPr>
                        <a:t>!= </a:t>
                      </a:r>
                      <a:r>
                        <a:rPr lang="en-US" sz="1800" b="0" dirty="0" err="1">
                          <a:latin typeface="Twentieth Century"/>
                        </a:rPr>
                        <a:t>atau</a:t>
                      </a:r>
                      <a:r>
                        <a:rPr lang="en-US" sz="1800" b="0" dirty="0">
                          <a:latin typeface="Twentieth Century"/>
                        </a:rPr>
                        <a:t> &lt;&gt;</a:t>
                      </a:r>
                      <a:endParaRPr lang="en-ID" sz="18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Twentieth Century"/>
                        </a:rPr>
                        <a:t>Tidak</a:t>
                      </a:r>
                      <a:r>
                        <a:rPr lang="en-US" sz="1800" dirty="0">
                          <a:latin typeface="Twentieth Century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</a:rPr>
                        <a:t>sama</a:t>
                      </a:r>
                      <a:r>
                        <a:rPr lang="en-US" sz="1800" dirty="0">
                          <a:latin typeface="Twentieth Century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</a:rPr>
                        <a:t>dengan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wentieth Century"/>
                        </a:rPr>
                        <a:t>$a != $b or $a &lt;&gt; $b </a:t>
                      </a:r>
                    </a:p>
                    <a:p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 True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jika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$a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tidak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sama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$b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617528"/>
                  </a:ext>
                </a:extLst>
              </a:tr>
              <a:tr h="554878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wentieth Century"/>
                        </a:rPr>
                        <a:t>&lt;</a:t>
                      </a:r>
                      <a:endParaRPr lang="en-ID" sz="18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wentieth Century"/>
                        </a:rPr>
                        <a:t>Kurang </a:t>
                      </a:r>
                      <a:r>
                        <a:rPr lang="en-US" sz="1800" dirty="0" err="1">
                          <a:latin typeface="Twentieth Century"/>
                        </a:rPr>
                        <a:t>dari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$a &lt; $b</a:t>
                      </a:r>
                    </a:p>
                    <a:p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 True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jika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$a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kurang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dari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$b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05182"/>
                  </a:ext>
                </a:extLst>
              </a:tr>
              <a:tr h="554878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wentieth Century"/>
                        </a:rPr>
                        <a:t>&gt;</a:t>
                      </a:r>
                      <a:endParaRPr lang="en-ID" sz="18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Twentieth Century"/>
                        </a:rPr>
                        <a:t>Lebih</a:t>
                      </a:r>
                      <a:r>
                        <a:rPr lang="en-US" sz="1800" dirty="0">
                          <a:latin typeface="Twentieth Century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</a:rPr>
                        <a:t>besar</a:t>
                      </a:r>
                      <a:r>
                        <a:rPr lang="en-US" sz="1800" dirty="0">
                          <a:latin typeface="Twentieth Century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</a:rPr>
                        <a:t>dari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wentieth Century"/>
                        </a:rPr>
                        <a:t>$a &gt; $b</a:t>
                      </a:r>
                    </a:p>
                    <a:p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 True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jika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$a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lebih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besar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dari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$b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13243"/>
                  </a:ext>
                </a:extLst>
              </a:tr>
              <a:tr h="665282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wentieth Century"/>
                        </a:rPr>
                        <a:t>&lt;=</a:t>
                      </a:r>
                      <a:endParaRPr lang="en-ID" sz="18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wentieth Century"/>
                        </a:rPr>
                        <a:t>Kurang </a:t>
                      </a:r>
                      <a:r>
                        <a:rPr lang="en-US" sz="1800" dirty="0" err="1">
                          <a:latin typeface="Twentieth Century"/>
                        </a:rPr>
                        <a:t>dari</a:t>
                      </a:r>
                      <a:r>
                        <a:rPr lang="en-US" sz="1800" dirty="0">
                          <a:latin typeface="Twentieth Century"/>
                        </a:rPr>
                        <a:t>, </a:t>
                      </a:r>
                      <a:r>
                        <a:rPr lang="en-US" sz="1800" dirty="0" err="1">
                          <a:latin typeface="Twentieth Century"/>
                        </a:rPr>
                        <a:t>sama</a:t>
                      </a:r>
                      <a:r>
                        <a:rPr lang="en-US" sz="1800" dirty="0">
                          <a:latin typeface="Twentieth Century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</a:rPr>
                        <a:t>dengan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wentieth Century"/>
                        </a:rPr>
                        <a:t>$a &lt;= $b</a:t>
                      </a:r>
                    </a:p>
                    <a:p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 True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jika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$a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kurang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dari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atau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sama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$b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517951"/>
                  </a:ext>
                </a:extLst>
              </a:tr>
              <a:tr h="554878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wentieth Century"/>
                        </a:rPr>
                        <a:t>&gt;=</a:t>
                      </a:r>
                      <a:endParaRPr lang="en-ID" sz="18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Twentieth Century"/>
                        </a:rPr>
                        <a:t>Lebih</a:t>
                      </a:r>
                      <a:r>
                        <a:rPr lang="en-US" sz="1800" dirty="0">
                          <a:latin typeface="Twentieth Century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</a:rPr>
                        <a:t>besar</a:t>
                      </a:r>
                      <a:r>
                        <a:rPr lang="en-US" sz="1800" dirty="0">
                          <a:latin typeface="Twentieth Century"/>
                        </a:rPr>
                        <a:t>, </a:t>
                      </a:r>
                      <a:r>
                        <a:rPr lang="en-US" sz="1800" dirty="0" err="1">
                          <a:latin typeface="Twentieth Century"/>
                        </a:rPr>
                        <a:t>sama</a:t>
                      </a:r>
                      <a:r>
                        <a:rPr lang="en-US" sz="1800" dirty="0">
                          <a:latin typeface="Twentieth Century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</a:rPr>
                        <a:t>dengan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wentieth Century"/>
                        </a:rPr>
                        <a:t>$a &gt;= $b</a:t>
                      </a:r>
                    </a:p>
                    <a:p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 True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jika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$a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lebih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besar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dirty="0" err="1">
                          <a:latin typeface="Twentieth Century"/>
                          <a:sym typeface="Wingdings" panose="05000000000000000000" pitchFamily="2" charset="2"/>
                        </a:rPr>
                        <a:t>dari</a:t>
                      </a:r>
                      <a:r>
                        <a:rPr lang="en-US" sz="1800" dirty="0">
                          <a:latin typeface="Twentieth Century"/>
                          <a:sym typeface="Wingdings" panose="05000000000000000000" pitchFamily="2" charset="2"/>
                        </a:rPr>
                        <a:t> $b</a:t>
                      </a:r>
                      <a:endParaRPr lang="en-ID" sz="18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34987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554FCAE-F128-42E9-97DC-92DC8BD2FAA3}"/>
              </a:ext>
            </a:extLst>
          </p:cNvPr>
          <p:cNvSpPr txBox="1"/>
          <p:nvPr/>
        </p:nvSpPr>
        <p:spPr>
          <a:xfrm>
            <a:off x="552450" y="1394512"/>
            <a:ext cx="1082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nn-NO" sz="24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Operator perbandingan atau relasional yaitu operator yang digunakan untuk melakukan perbandingan antara dua buah operand dan menghasilkan nilai True atau False.</a:t>
            </a:r>
          </a:p>
        </p:txBody>
      </p:sp>
    </p:spTree>
    <p:extLst>
      <p:ext uri="{BB962C8B-B14F-4D97-AF65-F5344CB8AC3E}">
        <p14:creationId xmlns:p14="http://schemas.microsoft.com/office/powerpoint/2010/main" val="40595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 txBox="1">
            <a:spLocks noGrp="1"/>
          </p:cNvSpPr>
          <p:nvPr>
            <p:ph type="title"/>
          </p:nvPr>
        </p:nvSpPr>
        <p:spPr>
          <a:xfrm>
            <a:off x="2466762" y="769807"/>
            <a:ext cx="7410875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LOGIC OPERATOR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4FCAE-F128-42E9-97DC-92DC8BD2FAA3}"/>
              </a:ext>
            </a:extLst>
          </p:cNvPr>
          <p:cNvSpPr txBox="1"/>
          <p:nvPr/>
        </p:nvSpPr>
        <p:spPr>
          <a:xfrm>
            <a:off x="628650" y="1394512"/>
            <a:ext cx="1082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nn-NO" sz="24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menggabungkan kondisi berganda dan menghasilkan sebuah ekspresi bernilai True atau False.</a:t>
            </a:r>
          </a:p>
        </p:txBody>
      </p:sp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6E9FF7A9-B0BC-4838-AE81-998F8EE45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571658"/>
              </p:ext>
            </p:extLst>
          </p:nvPr>
        </p:nvGraphicFramePr>
        <p:xfrm>
          <a:off x="1671378" y="2507439"/>
          <a:ext cx="8734943" cy="3415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5871">
                  <a:extLst>
                    <a:ext uri="{9D8B030D-6E8A-4147-A177-3AD203B41FA5}">
                      <a16:colId xmlns:a16="http://schemas.microsoft.com/office/drawing/2014/main" val="3908529236"/>
                    </a:ext>
                  </a:extLst>
                </a:gridCol>
                <a:gridCol w="2196095">
                  <a:extLst>
                    <a:ext uri="{9D8B030D-6E8A-4147-A177-3AD203B41FA5}">
                      <a16:colId xmlns:a16="http://schemas.microsoft.com/office/drawing/2014/main" val="139176682"/>
                    </a:ext>
                  </a:extLst>
                </a:gridCol>
                <a:gridCol w="5222977">
                  <a:extLst>
                    <a:ext uri="{9D8B030D-6E8A-4147-A177-3AD203B41FA5}">
                      <a16:colId xmlns:a16="http://schemas.microsoft.com/office/drawing/2014/main" val="3903557813"/>
                    </a:ext>
                  </a:extLst>
                </a:gridCol>
              </a:tblGrid>
              <a:tr h="55071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entieth Century"/>
                        </a:rPr>
                        <a:t>Operator</a:t>
                      </a:r>
                      <a:endParaRPr lang="en-ID" sz="2000" b="1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Twentieth Century"/>
                        </a:rPr>
                        <a:t>Fungsi</a:t>
                      </a:r>
                      <a:endParaRPr lang="en-ID" sz="2000" b="1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Twentieth Century"/>
                        </a:rPr>
                        <a:t>Contoh</a:t>
                      </a:r>
                      <a:endParaRPr lang="en-ID" sz="2000" b="1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219293"/>
                  </a:ext>
                </a:extLst>
              </a:tr>
              <a:tr h="73157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And (&amp;&amp;)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Melakukan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operasi</a:t>
                      </a:r>
                      <a:r>
                        <a:rPr lang="en-US" sz="2000" dirty="0">
                          <a:latin typeface="Twentieth Century"/>
                        </a:rPr>
                        <a:t> AND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a and b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à"/>
                      </a:pPr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True, </a:t>
                      </a:r>
                      <a:r>
                        <a:rPr lang="en-US" sz="2000" dirty="0" err="1">
                          <a:latin typeface="Twentieth Century"/>
                          <a:sym typeface="Wingdings" panose="05000000000000000000" pitchFamily="2" charset="2"/>
                        </a:rPr>
                        <a:t>jika</a:t>
                      </a:r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 a dan b</a:t>
                      </a:r>
                      <a:r>
                        <a:rPr lang="en-ID" sz="2000" dirty="0">
                          <a:latin typeface="Twentieth Century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ID" sz="2000" dirty="0" err="1">
                          <a:latin typeface="Twentieth Century"/>
                          <a:sym typeface="Wingdings" panose="05000000000000000000" pitchFamily="2" charset="2"/>
                        </a:rPr>
                        <a:t>keduanya</a:t>
                      </a:r>
                      <a:r>
                        <a:rPr lang="en-ID" sz="2000" dirty="0">
                          <a:latin typeface="Twentieth Century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ID" sz="2000" dirty="0" err="1">
                          <a:latin typeface="Twentieth Century"/>
                          <a:sym typeface="Wingdings" panose="05000000000000000000" pitchFamily="2" charset="2"/>
                        </a:rPr>
                        <a:t>bernilai</a:t>
                      </a:r>
                      <a:r>
                        <a:rPr lang="en-ID" sz="2000" dirty="0">
                          <a:latin typeface="Twentieth Century"/>
                          <a:sym typeface="Wingdings" panose="05000000000000000000" pitchFamily="2" charset="2"/>
                        </a:rPr>
                        <a:t> True</a:t>
                      </a:r>
                      <a:endParaRPr lang="en-US" sz="2000" dirty="0">
                        <a:latin typeface="Twentieth Century"/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31142"/>
                  </a:ext>
                </a:extLst>
              </a:tr>
              <a:tr h="47109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Or (||)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Melakukan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operasi</a:t>
                      </a:r>
                      <a:r>
                        <a:rPr lang="en-US" sz="2000" dirty="0">
                          <a:latin typeface="Twentieth Century"/>
                        </a:rPr>
                        <a:t> OR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a or b</a:t>
                      </a:r>
                    </a:p>
                    <a:p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 True, </a:t>
                      </a:r>
                      <a:r>
                        <a:rPr lang="en-US" sz="2000" dirty="0" err="1">
                          <a:latin typeface="Twentieth Century"/>
                          <a:sym typeface="Wingdings" panose="05000000000000000000" pitchFamily="2" charset="2"/>
                        </a:rPr>
                        <a:t>jika</a:t>
                      </a:r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 a </a:t>
                      </a:r>
                      <a:r>
                        <a:rPr lang="en-US" sz="2000" dirty="0" err="1">
                          <a:latin typeface="Twentieth Century"/>
                          <a:sym typeface="Wingdings" panose="05000000000000000000" pitchFamily="2" charset="2"/>
                        </a:rPr>
                        <a:t>atau</a:t>
                      </a:r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 b salah </a:t>
                      </a:r>
                      <a:r>
                        <a:rPr lang="en-US" sz="2000" dirty="0" err="1">
                          <a:latin typeface="Twentieth Century"/>
                          <a:sym typeface="Wingdings" panose="05000000000000000000" pitchFamily="2" charset="2"/>
                        </a:rPr>
                        <a:t>satunya</a:t>
                      </a:r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  <a:sym typeface="Wingdings" panose="05000000000000000000" pitchFamily="2" charset="2"/>
                        </a:rPr>
                        <a:t>bernilai</a:t>
                      </a:r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 True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617528"/>
                  </a:ext>
                </a:extLst>
              </a:tr>
              <a:tr h="47109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XOR (^ )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Melakukan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operasi</a:t>
                      </a:r>
                      <a:r>
                        <a:rPr lang="en-US" sz="2000" dirty="0">
                          <a:latin typeface="Twentieth Century"/>
                        </a:rPr>
                        <a:t> XOR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a </a:t>
                      </a:r>
                      <a:r>
                        <a:rPr lang="en-US" sz="2000" dirty="0" err="1">
                          <a:latin typeface="Twentieth Century"/>
                        </a:rPr>
                        <a:t>xor</a:t>
                      </a:r>
                      <a:r>
                        <a:rPr lang="en-US" sz="2000" dirty="0">
                          <a:latin typeface="Twentieth Century"/>
                        </a:rPr>
                        <a:t> b</a:t>
                      </a:r>
                    </a:p>
                    <a:p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 True, </a:t>
                      </a:r>
                      <a:r>
                        <a:rPr lang="en-US" sz="2000" dirty="0" err="1">
                          <a:latin typeface="Twentieth Century"/>
                          <a:sym typeface="Wingdings" panose="05000000000000000000" pitchFamily="2" charset="2"/>
                        </a:rPr>
                        <a:t>jika</a:t>
                      </a:r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 a </a:t>
                      </a:r>
                      <a:r>
                        <a:rPr lang="en-US" sz="2000" dirty="0" err="1">
                          <a:latin typeface="Twentieth Century"/>
                          <a:sym typeface="Wingdings" panose="05000000000000000000" pitchFamily="2" charset="2"/>
                        </a:rPr>
                        <a:t>atau</a:t>
                      </a:r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 b salah </a:t>
                      </a:r>
                      <a:r>
                        <a:rPr lang="en-US" sz="2000" dirty="0" err="1">
                          <a:latin typeface="Twentieth Century"/>
                          <a:sym typeface="Wingdings" panose="05000000000000000000" pitchFamily="2" charset="2"/>
                        </a:rPr>
                        <a:t>satunya</a:t>
                      </a:r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  <a:sym typeface="Wingdings" panose="05000000000000000000" pitchFamily="2" charset="2"/>
                        </a:rPr>
                        <a:t>bernilai</a:t>
                      </a:r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 True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015858"/>
                  </a:ext>
                </a:extLst>
              </a:tr>
              <a:tr h="73157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Not (!)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Melakukan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operasi</a:t>
                      </a:r>
                      <a:r>
                        <a:rPr lang="en-US" sz="2000" dirty="0">
                          <a:latin typeface="Twentieth Century"/>
                        </a:rPr>
                        <a:t> NOT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not a</a:t>
                      </a:r>
                    </a:p>
                    <a:p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 True, </a:t>
                      </a:r>
                      <a:r>
                        <a:rPr lang="en-US" sz="2000" dirty="0" err="1">
                          <a:latin typeface="Twentieth Century"/>
                          <a:sym typeface="Wingdings" panose="05000000000000000000" pitchFamily="2" charset="2"/>
                        </a:rPr>
                        <a:t>jika</a:t>
                      </a:r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 a </a:t>
                      </a:r>
                      <a:r>
                        <a:rPr lang="en-US" sz="2000" dirty="0" err="1">
                          <a:latin typeface="Twentieth Century"/>
                          <a:sym typeface="Wingdings" panose="05000000000000000000" pitchFamily="2" charset="2"/>
                        </a:rPr>
                        <a:t>adalah</a:t>
                      </a:r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 False </a:t>
                      </a:r>
                      <a:r>
                        <a:rPr lang="en-US" sz="2000" dirty="0" err="1">
                          <a:latin typeface="Twentieth Century"/>
                          <a:sym typeface="Wingdings" panose="05000000000000000000" pitchFamily="2" charset="2"/>
                        </a:rPr>
                        <a:t>atau</a:t>
                      </a:r>
                      <a:r>
                        <a:rPr lang="en-US" sz="2000" dirty="0">
                          <a:latin typeface="Twentieth Century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  <a:sym typeface="Wingdings" panose="05000000000000000000" pitchFamily="2" charset="2"/>
                        </a:rPr>
                        <a:t>sebalinya</a:t>
                      </a:r>
                      <a:endParaRPr lang="en-US" sz="2000" dirty="0">
                        <a:latin typeface="Twentieth Century"/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05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1666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 txBox="1">
            <a:spLocks noGrp="1"/>
          </p:cNvSpPr>
          <p:nvPr>
            <p:ph type="title"/>
          </p:nvPr>
        </p:nvSpPr>
        <p:spPr>
          <a:xfrm>
            <a:off x="2466762" y="769807"/>
            <a:ext cx="7410875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LOGIC OPERATOR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4FCAE-F128-42E9-97DC-92DC8BD2FAA3}"/>
              </a:ext>
            </a:extLst>
          </p:cNvPr>
          <p:cNvSpPr txBox="1"/>
          <p:nvPr/>
        </p:nvSpPr>
        <p:spPr>
          <a:xfrm>
            <a:off x="628650" y="1394512"/>
            <a:ext cx="1082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nn-NO" sz="2400" dirty="0">
                <a:solidFill>
                  <a:schemeClr val="tx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menggabungkan kondisi berganda dan menghasilkan sebuah ekspresi bernilai True atau False.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40EF24-5CDD-49AB-8785-0E27ABD1B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228859"/>
              </p:ext>
            </p:extLst>
          </p:nvPr>
        </p:nvGraphicFramePr>
        <p:xfrm>
          <a:off x="1907286" y="2770673"/>
          <a:ext cx="7757160" cy="217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2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2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2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2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290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wentieth Century"/>
                        </a:rPr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wentieth Century"/>
                        </a:rPr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wentieth Century"/>
                        </a:rPr>
                        <a:t>A &amp;&amp; 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wentieth Century"/>
                        </a:rPr>
                        <a:t>A || 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wentieth Century"/>
                        </a:rPr>
                        <a:t>A ^ 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wentieth Century"/>
                        </a:rPr>
                        <a:t>!A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wentieth Century"/>
                        </a:rPr>
                        <a:t>Benar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 err="1">
                          <a:latin typeface="Twentieth Century"/>
                        </a:rPr>
                        <a:t>Benar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wentieth Century"/>
                        </a:rPr>
                        <a:t>Benar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wentieth Century"/>
                        </a:rPr>
                        <a:t>Benar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wentieth Century"/>
                        </a:rPr>
                        <a:t>Salah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wentieth Century"/>
                        </a:rPr>
                        <a:t>Salah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wentieth Century"/>
                        </a:rPr>
                        <a:t>Benar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wentieth Century"/>
                        </a:rPr>
                        <a:t>Salah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wentieth Century"/>
                        </a:rPr>
                        <a:t>Salah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wentieth Century"/>
                        </a:rPr>
                        <a:t>Benar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wentieth Century"/>
                        </a:rPr>
                        <a:t>Benar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wentieth Century"/>
                        </a:rPr>
                        <a:t>Salah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wentieth Century"/>
                        </a:rPr>
                        <a:t>Salah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 err="1">
                          <a:latin typeface="Twentieth Century"/>
                        </a:rPr>
                        <a:t>Benar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wentieth Century"/>
                        </a:rPr>
                        <a:t>Salah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wentieth Century"/>
                        </a:rPr>
                        <a:t>Benar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wentieth Century"/>
                        </a:rPr>
                        <a:t>Benar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wentieth Century"/>
                        </a:rPr>
                        <a:t>Benar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wentieth Century"/>
                        </a:rPr>
                        <a:t>Salah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wentieth Century"/>
                        </a:rPr>
                        <a:t>Salah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wentieth Century"/>
                        </a:rPr>
                        <a:t>Salah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wentieth Century"/>
                        </a:rPr>
                        <a:t>Salah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wentieth Century"/>
                        </a:rPr>
                        <a:t>Salah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wentieth Century"/>
                        </a:rPr>
                        <a:t>Benar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47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 txBox="1">
            <a:spLocks noGrp="1"/>
          </p:cNvSpPr>
          <p:nvPr>
            <p:ph type="title"/>
          </p:nvPr>
        </p:nvSpPr>
        <p:spPr>
          <a:xfrm>
            <a:off x="2390562" y="884107"/>
            <a:ext cx="7410875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SIMBOL PEMFORMATAN DATA</a:t>
            </a:r>
            <a:endParaRPr dirty="0"/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7DBBC1E4-8958-47AC-A803-EE049BA1E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489975"/>
              </p:ext>
            </p:extLst>
          </p:nvPr>
        </p:nvGraphicFramePr>
        <p:xfrm>
          <a:off x="809412" y="1807315"/>
          <a:ext cx="5286588" cy="4576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915">
                  <a:extLst>
                    <a:ext uri="{9D8B030D-6E8A-4147-A177-3AD203B41FA5}">
                      <a16:colId xmlns:a16="http://schemas.microsoft.com/office/drawing/2014/main" val="3908529236"/>
                    </a:ext>
                  </a:extLst>
                </a:gridCol>
                <a:gridCol w="3360673">
                  <a:extLst>
                    <a:ext uri="{9D8B030D-6E8A-4147-A177-3AD203B41FA5}">
                      <a16:colId xmlns:a16="http://schemas.microsoft.com/office/drawing/2014/main" val="139176682"/>
                    </a:ext>
                  </a:extLst>
                </a:gridCol>
              </a:tblGrid>
              <a:tr h="38258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entieth Century"/>
                        </a:rPr>
                        <a:t>Operator</a:t>
                      </a:r>
                      <a:endParaRPr lang="en-ID" sz="2000" b="1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Twentieth Century"/>
                        </a:rPr>
                        <a:t>Keterangan</a:t>
                      </a:r>
                      <a:endParaRPr lang="en-ID" sz="2000" b="1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219293"/>
                  </a:ext>
                </a:extLst>
              </a:tr>
              <a:tr h="382585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d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Bilangan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bulat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31142"/>
                  </a:ext>
                </a:extLst>
              </a:tr>
              <a:tr h="48989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o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Bilangan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oktal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617528"/>
                  </a:ext>
                </a:extLst>
              </a:tr>
              <a:tr h="48989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u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Bilangan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bulat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tidak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bertanda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05182"/>
                  </a:ext>
                </a:extLst>
              </a:tr>
              <a:tr h="6168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x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Bilangan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heksadesimal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dengan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huruf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kecil</a:t>
                      </a:r>
                      <a:r>
                        <a:rPr lang="en-US" sz="2000" dirty="0">
                          <a:latin typeface="Twentieth Century"/>
                        </a:rPr>
                        <a:t> (a </a:t>
                      </a:r>
                      <a:r>
                        <a:rPr lang="en-US" sz="2000" dirty="0" err="1">
                          <a:latin typeface="Twentieth Century"/>
                        </a:rPr>
                        <a:t>hingga</a:t>
                      </a:r>
                      <a:r>
                        <a:rPr lang="en-US" sz="2000" dirty="0">
                          <a:latin typeface="Twentieth Century"/>
                        </a:rPr>
                        <a:t> 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13243"/>
                  </a:ext>
                </a:extLst>
              </a:tr>
              <a:tr h="48989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X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Twentieth Century"/>
                        </a:rPr>
                        <a:t>Bilangan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heksadesimal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dengan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huruf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kecil</a:t>
                      </a:r>
                      <a:r>
                        <a:rPr lang="en-US" sz="2000" dirty="0">
                          <a:latin typeface="Twentieth Century"/>
                        </a:rPr>
                        <a:t> (A </a:t>
                      </a:r>
                      <a:r>
                        <a:rPr lang="en-US" sz="2000" dirty="0" err="1">
                          <a:latin typeface="Twentieth Century"/>
                        </a:rPr>
                        <a:t>hingga</a:t>
                      </a:r>
                      <a:r>
                        <a:rPr lang="en-US" sz="2000" dirty="0">
                          <a:latin typeface="Twentieth Century"/>
                        </a:rPr>
                        <a:t> 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517951"/>
                  </a:ext>
                </a:extLst>
              </a:tr>
              <a:tr h="48989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e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Bil</a:t>
                      </a:r>
                      <a:r>
                        <a:rPr lang="en-US" sz="2000" dirty="0">
                          <a:latin typeface="Twentieth Century"/>
                        </a:rPr>
                        <a:t> real </a:t>
                      </a:r>
                      <a:r>
                        <a:rPr lang="en-US" sz="2000" dirty="0" err="1">
                          <a:latin typeface="Twentieth Century"/>
                        </a:rPr>
                        <a:t>dinyatakan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dengan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bentuk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eksponensial</a:t>
                      </a:r>
                      <a:r>
                        <a:rPr lang="en-US" sz="2000" dirty="0">
                          <a:latin typeface="Twentieth Century"/>
                        </a:rPr>
                        <a:t> symbol e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349875"/>
                  </a:ext>
                </a:extLst>
              </a:tr>
              <a:tr h="48989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E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Twentieth Century"/>
                        </a:rPr>
                        <a:t>Bil</a:t>
                      </a:r>
                      <a:r>
                        <a:rPr lang="en-US" sz="2000" dirty="0">
                          <a:latin typeface="Twentieth Century"/>
                        </a:rPr>
                        <a:t> real </a:t>
                      </a:r>
                      <a:r>
                        <a:rPr lang="en-US" sz="2000" dirty="0" err="1">
                          <a:latin typeface="Twentieth Century"/>
                        </a:rPr>
                        <a:t>dinyatakan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dengan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bentuk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eksponensial</a:t>
                      </a:r>
                      <a:r>
                        <a:rPr lang="en-US" sz="2000" dirty="0">
                          <a:latin typeface="Twentieth Century"/>
                        </a:rPr>
                        <a:t> symbol E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538254"/>
                  </a:ext>
                </a:extLst>
              </a:tr>
            </a:tbl>
          </a:graphicData>
        </a:graphic>
      </p:graphicFrame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B5F3AAE4-6874-4BD8-83DD-5EE2906B5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594157"/>
              </p:ext>
            </p:extLst>
          </p:nvPr>
        </p:nvGraphicFramePr>
        <p:xfrm>
          <a:off x="6553198" y="1807315"/>
          <a:ext cx="4829389" cy="3942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494">
                  <a:extLst>
                    <a:ext uri="{9D8B030D-6E8A-4147-A177-3AD203B41FA5}">
                      <a16:colId xmlns:a16="http://schemas.microsoft.com/office/drawing/2014/main" val="3908529236"/>
                    </a:ext>
                  </a:extLst>
                </a:gridCol>
                <a:gridCol w="3103895">
                  <a:extLst>
                    <a:ext uri="{9D8B030D-6E8A-4147-A177-3AD203B41FA5}">
                      <a16:colId xmlns:a16="http://schemas.microsoft.com/office/drawing/2014/main" val="139176682"/>
                    </a:ext>
                  </a:extLst>
                </a:gridCol>
              </a:tblGrid>
              <a:tr h="38258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entieth Century"/>
                        </a:rPr>
                        <a:t>Operator</a:t>
                      </a:r>
                      <a:endParaRPr lang="en-ID" sz="2000" b="1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Twentieth Century"/>
                        </a:rPr>
                        <a:t>Keterangan</a:t>
                      </a:r>
                      <a:endParaRPr lang="en-ID" sz="2000" b="1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219293"/>
                  </a:ext>
                </a:extLst>
              </a:tr>
              <a:tr h="382585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c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Satu </a:t>
                      </a:r>
                      <a:r>
                        <a:rPr lang="en-US" sz="2000" dirty="0" err="1">
                          <a:latin typeface="Twentieth Century"/>
                        </a:rPr>
                        <a:t>karakter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31142"/>
                  </a:ext>
                </a:extLst>
              </a:tr>
              <a:tr h="48989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r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String 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617528"/>
                  </a:ext>
                </a:extLst>
              </a:tr>
              <a:tr h="48989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s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String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05182"/>
                  </a:ext>
                </a:extLst>
              </a:tr>
              <a:tr h="6168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S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String </a:t>
                      </a:r>
                      <a:r>
                        <a:rPr lang="en-US" sz="2000" dirty="0" err="1">
                          <a:latin typeface="Twentieth Century"/>
                        </a:rPr>
                        <a:t>dengan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semua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huruf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dikapitalkan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13243"/>
                  </a:ext>
                </a:extLst>
              </a:tr>
              <a:tr h="48989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b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entieth Century"/>
                        </a:rPr>
                        <a:t>Boolean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517951"/>
                  </a:ext>
                </a:extLst>
              </a:tr>
              <a:tr h="48989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n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Identik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dengan</a:t>
                      </a:r>
                      <a:r>
                        <a:rPr lang="en-US" sz="2000" dirty="0">
                          <a:latin typeface="Twentieth Century"/>
                        </a:rPr>
                        <a:t> \n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349875"/>
                  </a:ext>
                </a:extLst>
              </a:tr>
              <a:tr h="48989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wentieth Century"/>
                        </a:rPr>
                        <a:t>%</a:t>
                      </a:r>
                      <a:endParaRPr lang="en-ID" sz="2000" b="0" dirty="0">
                        <a:latin typeface="Twentieth Centur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wentieth Century"/>
                        </a:rPr>
                        <a:t>Menyatakan</a:t>
                      </a:r>
                      <a:r>
                        <a:rPr lang="en-US" sz="2000" dirty="0">
                          <a:latin typeface="Twentieth Century"/>
                        </a:rPr>
                        <a:t> </a:t>
                      </a:r>
                      <a:r>
                        <a:rPr lang="en-US" sz="2000" dirty="0" err="1">
                          <a:latin typeface="Twentieth Century"/>
                        </a:rPr>
                        <a:t>karakter</a:t>
                      </a:r>
                      <a:r>
                        <a:rPr lang="en-US" sz="2000" dirty="0">
                          <a:latin typeface="Twentieth Century"/>
                        </a:rPr>
                        <a:t> %</a:t>
                      </a:r>
                      <a:endParaRPr lang="en-ID" sz="2000" dirty="0">
                        <a:latin typeface="Twentieth Centur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538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77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 txBox="1">
            <a:spLocks noGrp="1"/>
          </p:cNvSpPr>
          <p:nvPr>
            <p:ph type="title"/>
          </p:nvPr>
        </p:nvSpPr>
        <p:spPr>
          <a:xfrm>
            <a:off x="2390562" y="884107"/>
            <a:ext cx="7410875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SIMBOL PEMFORMATAN DATA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2AF50D-8167-4780-B3DE-33A14A304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837" y="1956881"/>
            <a:ext cx="7848600" cy="26718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3F23AA-C046-4C2F-889D-DE8B5015F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668" y="4962938"/>
            <a:ext cx="4401164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31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QUIZ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F93C91-9EA8-40D1-93A0-8A358B2139B6}"/>
              </a:ext>
            </a:extLst>
          </p:cNvPr>
          <p:cNvSpPr txBox="1">
            <a:spLocks/>
          </p:cNvSpPr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15" name="Google Shape;272;p5">
            <a:extLst>
              <a:ext uri="{FF2B5EF4-FFF2-40B4-BE49-F238E27FC236}">
                <a16:creationId xmlns:a16="http://schemas.microsoft.com/office/drawing/2014/main" id="{3810C9C1-D6F9-4702-859A-7C58DCA6EE95}"/>
              </a:ext>
            </a:extLst>
          </p:cNvPr>
          <p:cNvSpPr txBox="1">
            <a:spLocks/>
          </p:cNvSpPr>
          <p:nvPr/>
        </p:nvSpPr>
        <p:spPr>
          <a:xfrm>
            <a:off x="821568" y="1675131"/>
            <a:ext cx="10515600" cy="465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GB" sz="2400" dirty="0">
              <a:latin typeface="Twentieth Century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400" dirty="0" err="1">
                <a:latin typeface="Twentieth Century"/>
              </a:rPr>
              <a:t>Buatlah</a:t>
            </a:r>
            <a:r>
              <a:rPr lang="en-GB" sz="2400" dirty="0">
                <a:latin typeface="Twentieth Century"/>
              </a:rPr>
              <a:t> program </a:t>
            </a:r>
            <a:r>
              <a:rPr lang="en-GB" sz="2400" dirty="0" err="1">
                <a:latin typeface="Twentieth Century"/>
              </a:rPr>
              <a:t>sederhana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dari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b="1" dirty="0" err="1">
                <a:solidFill>
                  <a:schemeClr val="tx1"/>
                </a:solidFill>
                <a:latin typeface="Twentieth Century"/>
              </a:rPr>
              <a:t>tipe</a:t>
            </a:r>
            <a:r>
              <a:rPr lang="en-GB" sz="2400" b="1" dirty="0">
                <a:solidFill>
                  <a:schemeClr val="tx1"/>
                </a:solidFill>
                <a:latin typeface="Twentieth Century"/>
              </a:rPr>
              <a:t> data, </a:t>
            </a:r>
            <a:r>
              <a:rPr lang="en-GB" sz="2400" b="1" dirty="0" err="1">
                <a:solidFill>
                  <a:schemeClr val="tx1"/>
                </a:solidFill>
                <a:latin typeface="Twentieth Century"/>
              </a:rPr>
              <a:t>variabel</a:t>
            </a:r>
            <a:r>
              <a:rPr lang="en-GB" sz="2400" b="1" dirty="0">
                <a:solidFill>
                  <a:schemeClr val="tx1"/>
                </a:solidFill>
                <a:latin typeface="Twentieth Century"/>
              </a:rPr>
              <a:t>, methods, </a:t>
            </a:r>
            <a:r>
              <a:rPr lang="en-GB" sz="2400" b="1" dirty="0" err="1">
                <a:solidFill>
                  <a:schemeClr val="tx1"/>
                </a:solidFill>
                <a:latin typeface="Twentieth Century"/>
              </a:rPr>
              <a:t>Ekspresi</a:t>
            </a:r>
            <a:r>
              <a:rPr lang="en-GB" sz="2400" b="1" dirty="0">
                <a:solidFill>
                  <a:schemeClr val="tx1"/>
                </a:solidFill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dengan</a:t>
            </a:r>
            <a:r>
              <a:rPr lang="en-GB" sz="2400" dirty="0">
                <a:latin typeface="Twentieth Century"/>
              </a:rPr>
              <a:t> salah </a:t>
            </a:r>
            <a:r>
              <a:rPr lang="en-GB" sz="2400" dirty="0" err="1">
                <a:latin typeface="Twentieth Century"/>
              </a:rPr>
              <a:t>satu</a:t>
            </a:r>
            <a:r>
              <a:rPr lang="en-GB" sz="2400" dirty="0">
                <a:latin typeface="Twentieth Century"/>
              </a:rPr>
              <a:t> methods math (</a:t>
            </a:r>
            <a:r>
              <a:rPr lang="en-GB" sz="2400" dirty="0" err="1">
                <a:latin typeface="Twentieth Century"/>
              </a:rPr>
              <a:t>persamaan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matamatika</a:t>
            </a:r>
            <a:r>
              <a:rPr lang="en-GB" sz="2400" dirty="0">
                <a:latin typeface="Twentieth Century"/>
              </a:rPr>
              <a:t>) (3-5 </a:t>
            </a:r>
            <a:r>
              <a:rPr lang="en-GB" sz="2400" dirty="0" err="1">
                <a:latin typeface="Twentieth Century"/>
              </a:rPr>
              <a:t>mahasiswa</a:t>
            </a:r>
            <a:r>
              <a:rPr lang="en-GB" sz="2400" dirty="0">
                <a:latin typeface="Twentieth Century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499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TASK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F93C91-9EA8-40D1-93A0-8A358B2139B6}"/>
              </a:ext>
            </a:extLst>
          </p:cNvPr>
          <p:cNvSpPr txBox="1">
            <a:spLocks/>
          </p:cNvSpPr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15" name="Google Shape;272;p5">
            <a:extLst>
              <a:ext uri="{FF2B5EF4-FFF2-40B4-BE49-F238E27FC236}">
                <a16:creationId xmlns:a16="http://schemas.microsoft.com/office/drawing/2014/main" id="{3810C9C1-D6F9-4702-859A-7C58DCA6EE95}"/>
              </a:ext>
            </a:extLst>
          </p:cNvPr>
          <p:cNvSpPr txBox="1">
            <a:spLocks/>
          </p:cNvSpPr>
          <p:nvPr/>
        </p:nvSpPr>
        <p:spPr>
          <a:xfrm>
            <a:off x="821568" y="1675131"/>
            <a:ext cx="10515600" cy="465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GB" sz="2400" dirty="0">
              <a:latin typeface="Twentieth Century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400" dirty="0" err="1">
                <a:latin typeface="Twentieth Century"/>
              </a:rPr>
              <a:t>Carilah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permasalahan</a:t>
            </a:r>
            <a:r>
              <a:rPr lang="en-GB" sz="2400" dirty="0">
                <a:latin typeface="Twentieth Century"/>
              </a:rPr>
              <a:t> yang </a:t>
            </a:r>
            <a:r>
              <a:rPr lang="en-GB" sz="2400" dirty="0" err="1">
                <a:latin typeface="Twentieth Century"/>
              </a:rPr>
              <a:t>bisa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dijadikan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sebuah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judul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projek</a:t>
            </a:r>
            <a:r>
              <a:rPr lang="en-GB" sz="2400" dirty="0">
                <a:latin typeface="Twentieth Century"/>
              </a:rPr>
              <a:t> program pada </a:t>
            </a:r>
            <a:r>
              <a:rPr lang="en-GB" sz="2400" dirty="0" err="1">
                <a:latin typeface="Twentieth Century"/>
              </a:rPr>
              <a:t>mata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kuliah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ini</a:t>
            </a:r>
            <a:r>
              <a:rPr lang="en-GB" sz="2400" dirty="0">
                <a:latin typeface="Twentieth Century"/>
              </a:rPr>
              <a:t> (</a:t>
            </a:r>
            <a:r>
              <a:rPr lang="en-GB" sz="2400" dirty="0" err="1">
                <a:latin typeface="Twentieth Century"/>
              </a:rPr>
              <a:t>setiap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pertemuan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i="1" dirty="0">
                <a:latin typeface="Twentieth Century"/>
              </a:rPr>
              <a:t>improve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sesuai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topik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pertemuan</a:t>
            </a:r>
            <a:r>
              <a:rPr lang="en-GB" sz="2400" dirty="0">
                <a:latin typeface="Twentieth Century"/>
              </a:rPr>
              <a:t> yang </a:t>
            </a:r>
            <a:r>
              <a:rPr lang="en-GB" sz="2400" dirty="0" err="1">
                <a:latin typeface="Twentieth Century"/>
              </a:rPr>
              <a:t>akan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diberikan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tidak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bisa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ganti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karena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nantinya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akan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menjadi</a:t>
            </a:r>
            <a:r>
              <a:rPr lang="en-GB" sz="2400" dirty="0">
                <a:latin typeface="Twentieth Century"/>
              </a:rPr>
              <a:t> final project MK </a:t>
            </a:r>
            <a:r>
              <a:rPr lang="en-GB" sz="2400">
                <a:latin typeface="Twentieth Century"/>
              </a:rPr>
              <a:t>ini)</a:t>
            </a:r>
            <a:endParaRPr lang="en-GB" sz="2400" dirty="0">
              <a:latin typeface="Twentieth Century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400" dirty="0" err="1">
                <a:latin typeface="Twentieth Century"/>
              </a:rPr>
              <a:t>Buatlah</a:t>
            </a:r>
            <a:r>
              <a:rPr lang="en-GB" sz="2400" dirty="0">
                <a:latin typeface="Twentieth Century"/>
              </a:rPr>
              <a:t> program </a:t>
            </a:r>
            <a:r>
              <a:rPr lang="en-GB" sz="2400" dirty="0" err="1">
                <a:latin typeface="Twentieth Century"/>
              </a:rPr>
              <a:t>tersebut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implementasi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dari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b="1" dirty="0" err="1">
                <a:solidFill>
                  <a:schemeClr val="tx1"/>
                </a:solidFill>
                <a:latin typeface="Twentieth Century"/>
              </a:rPr>
              <a:t>tipe</a:t>
            </a:r>
            <a:r>
              <a:rPr lang="en-GB" sz="2400" b="1" dirty="0">
                <a:solidFill>
                  <a:schemeClr val="tx1"/>
                </a:solidFill>
                <a:latin typeface="Twentieth Century"/>
              </a:rPr>
              <a:t> data, </a:t>
            </a:r>
            <a:r>
              <a:rPr lang="en-GB" sz="2400" b="1" dirty="0" err="1">
                <a:solidFill>
                  <a:schemeClr val="tx1"/>
                </a:solidFill>
                <a:latin typeface="Twentieth Century"/>
              </a:rPr>
              <a:t>variabel</a:t>
            </a:r>
            <a:r>
              <a:rPr lang="en-GB" sz="2400" b="1" dirty="0">
                <a:solidFill>
                  <a:schemeClr val="tx1"/>
                </a:solidFill>
                <a:latin typeface="Twentieth Century"/>
              </a:rPr>
              <a:t>, methods, </a:t>
            </a:r>
            <a:r>
              <a:rPr lang="en-GB" sz="2400" b="1" dirty="0" err="1">
                <a:solidFill>
                  <a:schemeClr val="tx1"/>
                </a:solidFill>
                <a:latin typeface="Twentieth Century"/>
              </a:rPr>
              <a:t>Ekspresi</a:t>
            </a:r>
            <a:r>
              <a:rPr lang="en-GB" sz="2400" dirty="0">
                <a:latin typeface="Twentieth Century"/>
              </a:rPr>
              <a:t> (</a:t>
            </a:r>
            <a:r>
              <a:rPr lang="en-GB" sz="2400" dirty="0" err="1">
                <a:latin typeface="Twentieth Century"/>
              </a:rPr>
              <a:t>setiap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mahasiswa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berbeda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disesuaikan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tahap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awal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projek</a:t>
            </a:r>
            <a:r>
              <a:rPr lang="en-GB" sz="2400" dirty="0">
                <a:latin typeface="Twentieth Century"/>
              </a:rPr>
              <a:t> )</a:t>
            </a:r>
            <a:endParaRPr lang="en-GB" sz="2400" dirty="0">
              <a:solidFill>
                <a:schemeClr val="tx1"/>
              </a:solidFill>
              <a:latin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85597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9"/>
          <p:cNvSpPr txBox="1">
            <a:spLocks noGrp="1"/>
          </p:cNvSpPr>
          <p:nvPr>
            <p:ph type="ctrTitle"/>
          </p:nvPr>
        </p:nvSpPr>
        <p:spPr>
          <a:xfrm>
            <a:off x="2333732" y="2541902"/>
            <a:ext cx="3048000" cy="1768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</a:pPr>
            <a:r>
              <a:rPr lang="en-US"/>
              <a:t>Terima</a:t>
            </a:r>
            <a:br>
              <a:rPr lang="en-US"/>
            </a:br>
            <a:r>
              <a:rPr lang="en-US"/>
              <a:t>Kasih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3405</TotalTime>
  <Words>2641</Words>
  <Application>Microsoft Office PowerPoint</Application>
  <PresentationFormat>Widescreen</PresentationFormat>
  <Paragraphs>593</Paragraphs>
  <Slides>55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Arial</vt:lpstr>
      <vt:lpstr>Book Antiqua</vt:lpstr>
      <vt:lpstr>Calibri</vt:lpstr>
      <vt:lpstr>Cambria Math</vt:lpstr>
      <vt:lpstr>Courier New</vt:lpstr>
      <vt:lpstr>inherit</vt:lpstr>
      <vt:lpstr>Twentieth Century</vt:lpstr>
      <vt:lpstr>Wingdings</vt:lpstr>
      <vt:lpstr>1_Office Theme</vt:lpstr>
      <vt:lpstr>OBJECT ORIENTED PROGRAMMING</vt:lpstr>
      <vt:lpstr>PowerPoint Presentation</vt:lpstr>
      <vt:lpstr>PowerPoint Presentation</vt:lpstr>
      <vt:lpstr>College Contract</vt:lpstr>
      <vt:lpstr>Assessment</vt:lpstr>
      <vt:lpstr>PowerPoint Presentation</vt:lpstr>
      <vt:lpstr>PowerPoint Presentation</vt:lpstr>
      <vt:lpstr>PowerPoint Presentation</vt:lpstr>
      <vt:lpstr>PowerPoint Presentation</vt:lpstr>
      <vt:lpstr>TIPE DATA</vt:lpstr>
      <vt:lpstr>JAVA KEYWORD</vt:lpstr>
      <vt:lpstr>MAIN COMPONENT</vt:lpstr>
      <vt:lpstr>PROGRAM SEDERHANA JAVA (NETBEANS)</vt:lpstr>
      <vt:lpstr>KOMENTAR / COMMENT</vt:lpstr>
      <vt:lpstr>DEKLARASI KELAS</vt:lpstr>
      <vt:lpstr>BLOK PROGRAM</vt:lpstr>
      <vt:lpstr>METHOD</vt:lpstr>
      <vt:lpstr>STATEMENTS</vt:lpstr>
      <vt:lpstr>TEXT DISPLAYING</vt:lpstr>
      <vt:lpstr>TEXT DISPLAYING</vt:lpstr>
      <vt:lpstr>TEXT DISPLAYING</vt:lpstr>
      <vt:lpstr>TEXT DISPLAYING</vt:lpstr>
      <vt:lpstr>TEXT DISPLAYING</vt:lpstr>
      <vt:lpstr>SEPARATOR</vt:lpstr>
      <vt:lpstr>SEPARATOR</vt:lpstr>
      <vt:lpstr>SEPARATOR</vt:lpstr>
      <vt:lpstr>SEPARATOR</vt:lpstr>
      <vt:lpstr>SEPARATOR</vt:lpstr>
      <vt:lpstr>TIPE DATA</vt:lpstr>
      <vt:lpstr>TIPE DATA</vt:lpstr>
      <vt:lpstr>Variabel</vt:lpstr>
      <vt:lpstr>PowerPoint Presentation</vt:lpstr>
      <vt:lpstr>Variabel pada Java</vt:lpstr>
      <vt:lpstr>PENAMAAN VARIABEL</vt:lpstr>
      <vt:lpstr>PENUGASAN VARIABEL</vt:lpstr>
      <vt:lpstr>METODE KELAS (CLASS METHOD)</vt:lpstr>
      <vt:lpstr>PowerPoint Presentation</vt:lpstr>
      <vt:lpstr>METHOD</vt:lpstr>
      <vt:lpstr>METHOD</vt:lpstr>
      <vt:lpstr>METHOD</vt:lpstr>
      <vt:lpstr>EKSPRESI, OPERATOR DAN OPERAN</vt:lpstr>
      <vt:lpstr>PowerPoint Presentation</vt:lpstr>
      <vt:lpstr>EKSPRESI, OPERATOR DAN OPERAN</vt:lpstr>
      <vt:lpstr>ARITHMETIC OPERATOR </vt:lpstr>
      <vt:lpstr>EKSPRESI, OPERATOR DAN OPERAN</vt:lpstr>
      <vt:lpstr>EKSPRESI DAN PENUGASAN</vt:lpstr>
      <vt:lpstr>ASSIGNMENT OPERATOR </vt:lpstr>
      <vt:lpstr>COMPARISON OPERATOR </vt:lpstr>
      <vt:lpstr>LOGIC OPERATOR </vt:lpstr>
      <vt:lpstr>LOGIC OPERATOR </vt:lpstr>
      <vt:lpstr>SIMBOL PEMFORMATAN DATA</vt:lpstr>
      <vt:lpstr>SIMBOL PEMFORMATAN DATA</vt:lpstr>
      <vt:lpstr>QUIZ</vt:lpstr>
      <vt:lpstr>TASK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Architecture</dc:title>
  <dc:creator>Hanifah intania</dc:creator>
  <cp:lastModifiedBy>Dewi Setiowati</cp:lastModifiedBy>
  <cp:revision>160</cp:revision>
  <dcterms:created xsi:type="dcterms:W3CDTF">2023-08-25T16:23:35Z</dcterms:created>
  <dcterms:modified xsi:type="dcterms:W3CDTF">2025-08-08T12:04:06Z</dcterms:modified>
</cp:coreProperties>
</file>