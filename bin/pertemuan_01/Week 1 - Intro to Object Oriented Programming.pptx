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Book Antiqua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if8w26sfVBB62MY2KuN+u2d0qS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ookAntiqua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BookAntiqua-italic.fntdata"/><Relationship Id="rId10" Type="http://schemas.openxmlformats.org/officeDocument/2006/relationships/slide" Target="slides/slide5.xml"/><Relationship Id="rId32" Type="http://schemas.openxmlformats.org/officeDocument/2006/relationships/font" Target="fonts/BookAntiqua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BookAntiqua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67" name="Google Shape;267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75" name="Google Shape;275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84" name="Google Shape;384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7" name="Google Shape;457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Cover 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" name="Google Shape;20;p41"/>
          <p:cNvSpPr/>
          <p:nvPr>
            <p:ph idx="2" type="pic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  <a:noFill/>
          <a:ln>
            <a:noFill/>
          </a:ln>
        </p:spPr>
      </p:sp>
      <p:sp>
        <p:nvSpPr>
          <p:cNvPr id="21" name="Google Shape;21;p41"/>
          <p:cNvSpPr txBox="1"/>
          <p:nvPr>
            <p:ph type="title"/>
          </p:nvPr>
        </p:nvSpPr>
        <p:spPr>
          <a:xfrm>
            <a:off x="588970" y="1773946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  <a:defRPr b="1" sz="5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1"/>
          <p:cNvSpPr txBox="1"/>
          <p:nvPr>
            <p:ph idx="1" type="body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3" type="body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b="1" sz="2800">
                <a:solidFill>
                  <a:srgbClr val="FFC000"/>
                </a:solidFill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1"/>
          <p:cNvSpPr/>
          <p:nvPr/>
        </p:nvSpPr>
        <p:spPr>
          <a:xfrm>
            <a:off x="588970" y="3975211"/>
            <a:ext cx="1659545" cy="4571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" name="Google Shape;25;p41"/>
          <p:cNvSpPr txBox="1"/>
          <p:nvPr>
            <p:ph idx="4" type="body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b="1" sz="2800">
                <a:solidFill>
                  <a:srgbClr val="FFC000"/>
                </a:solidFill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6" name="Google Shape;26;p41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27" name="Google Shape;27;p41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8" name="Google Shape;28;p41"/>
            <p:cNvPicPr preferRelativeResize="0"/>
            <p:nvPr/>
          </p:nvPicPr>
          <p:blipFill rotWithShape="1">
            <a:blip r:embed="rId2">
              <a:alphaModFix/>
            </a:blip>
            <a:srcRect b="18101" l="0" r="0" t="16017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en Pengampu">
  <p:cSld name="Dosen Pengampu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" name="Google Shape;31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2"/>
          <p:cNvSpPr/>
          <p:nvPr>
            <p:ph idx="2" type="pic"/>
          </p:nvPr>
        </p:nvSpPr>
        <p:spPr>
          <a:xfrm>
            <a:off x="1745563" y="1842892"/>
            <a:ext cx="3063907" cy="3063908"/>
          </a:xfrm>
          <a:prstGeom prst="ellipse">
            <a:avLst/>
          </a:prstGeom>
          <a:noFill/>
          <a:ln>
            <a:noFill/>
          </a:ln>
        </p:spPr>
      </p:sp>
      <p:sp>
        <p:nvSpPr>
          <p:cNvPr id="33" name="Google Shape;33;p42"/>
          <p:cNvSpPr txBox="1"/>
          <p:nvPr>
            <p:ph idx="1" type="body"/>
          </p:nvPr>
        </p:nvSpPr>
        <p:spPr>
          <a:xfrm>
            <a:off x="5154979" y="2275496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  <a:defRPr b="1">
                <a:solidFill>
                  <a:srgbClr val="0E60AC"/>
                </a:solidFill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2"/>
          <p:cNvSpPr txBox="1"/>
          <p:nvPr/>
        </p:nvSpPr>
        <p:spPr>
          <a:xfrm>
            <a:off x="5164108" y="1988095"/>
            <a:ext cx="3127989" cy="273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1629"/>
              </a:buClr>
              <a:buSzPts val="2000"/>
              <a:buFont typeface="Twentieth Century"/>
              <a:buNone/>
            </a:pPr>
            <a:r>
              <a:rPr b="0" i="0" lang="en-US" sz="20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Dosen Koordinator: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2"/>
          <p:cNvSpPr txBox="1"/>
          <p:nvPr>
            <p:ph idx="3" type="body"/>
          </p:nvPr>
        </p:nvSpPr>
        <p:spPr>
          <a:xfrm>
            <a:off x="5154979" y="3176643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  <a:defRPr b="1">
                <a:solidFill>
                  <a:srgbClr val="0E60AC"/>
                </a:solidFill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2"/>
          <p:cNvSpPr txBox="1"/>
          <p:nvPr/>
        </p:nvSpPr>
        <p:spPr>
          <a:xfrm>
            <a:off x="5164108" y="2889242"/>
            <a:ext cx="3127989" cy="273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1629"/>
              </a:buClr>
              <a:buSzPts val="2000"/>
              <a:buFont typeface="Twentieth Century"/>
              <a:buNone/>
            </a:pPr>
            <a:r>
              <a:rPr b="0" i="0" lang="en-US" sz="20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NID: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2"/>
          <p:cNvSpPr txBox="1"/>
          <p:nvPr>
            <p:ph idx="4" type="body"/>
          </p:nvPr>
        </p:nvSpPr>
        <p:spPr>
          <a:xfrm>
            <a:off x="5154979" y="4077790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  <a:defRPr b="1">
                <a:solidFill>
                  <a:srgbClr val="0E60AC"/>
                </a:solidFill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42"/>
          <p:cNvSpPr txBox="1"/>
          <p:nvPr/>
        </p:nvSpPr>
        <p:spPr>
          <a:xfrm>
            <a:off x="5164108" y="3790389"/>
            <a:ext cx="3127989" cy="273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1629"/>
              </a:buClr>
              <a:buSzPts val="2000"/>
              <a:buFont typeface="Twentieth Century"/>
              <a:buNone/>
            </a:pPr>
            <a:r>
              <a:rPr b="0" i="0" lang="en-US" sz="20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E-mail: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42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40" name="Google Shape;40;p42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41" name="Google Shape;41;p42"/>
            <p:cNvPicPr preferRelativeResize="0"/>
            <p:nvPr/>
          </p:nvPicPr>
          <p:blipFill rotWithShape="1">
            <a:blip r:embed="rId2">
              <a:alphaModFix/>
            </a:blip>
            <a:srcRect b="18101" l="0" r="0" t="16017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">
  <p:cSld name="1_Title and Content 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5"/>
          <p:cNvSpPr txBox="1"/>
          <p:nvPr>
            <p:ph type="title"/>
          </p:nvPr>
        </p:nvSpPr>
        <p:spPr>
          <a:xfrm>
            <a:off x="838200" y="457201"/>
            <a:ext cx="10515600" cy="1057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5"/>
          <p:cNvSpPr txBox="1"/>
          <p:nvPr>
            <p:ph idx="1" type="body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opik (Sebelum UTS)">
  <p:cSld name="1_Topik (Sebelum UTS)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6"/>
          <p:cNvSpPr/>
          <p:nvPr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6"/>
          <p:cNvSpPr txBox="1"/>
          <p:nvPr>
            <p:ph idx="1" type="body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1600">
                <a:solidFill>
                  <a:srgbClr val="083866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6"/>
          <p:cNvSpPr txBox="1"/>
          <p:nvPr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B7020"/>
                </a:solidFill>
                <a:latin typeface="Arial"/>
                <a:ea typeface="Arial"/>
                <a:cs typeface="Arial"/>
                <a:sym typeface="Arial"/>
              </a:rPr>
              <a:t>Sesi 1</a:t>
            </a:r>
            <a:endParaRPr/>
          </a:p>
        </p:txBody>
      </p:sp>
      <p:sp>
        <p:nvSpPr>
          <p:cNvPr id="53" name="Google Shape;53;p86"/>
          <p:cNvSpPr/>
          <p:nvPr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6"/>
          <p:cNvSpPr txBox="1"/>
          <p:nvPr>
            <p:ph idx="2" type="body"/>
          </p:nvPr>
        </p:nvSpPr>
        <p:spPr>
          <a:xfrm>
            <a:off x="3593182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1600">
                <a:solidFill>
                  <a:srgbClr val="083866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6"/>
          <p:cNvSpPr txBox="1"/>
          <p:nvPr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B7020"/>
                </a:solidFill>
                <a:latin typeface="Arial"/>
                <a:ea typeface="Arial"/>
                <a:cs typeface="Arial"/>
                <a:sym typeface="Arial"/>
              </a:rPr>
              <a:t>Sesi 2</a:t>
            </a:r>
            <a:endParaRPr/>
          </a:p>
        </p:txBody>
      </p:sp>
      <p:sp>
        <p:nvSpPr>
          <p:cNvPr id="56" name="Google Shape;56;p86"/>
          <p:cNvSpPr/>
          <p:nvPr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6"/>
          <p:cNvSpPr txBox="1"/>
          <p:nvPr>
            <p:ph idx="3" type="body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1600">
                <a:solidFill>
                  <a:srgbClr val="083866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86"/>
          <p:cNvSpPr txBox="1"/>
          <p:nvPr/>
        </p:nvSpPr>
        <p:spPr>
          <a:xfrm>
            <a:off x="6387656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B7020"/>
                </a:solidFill>
                <a:latin typeface="Arial"/>
                <a:ea typeface="Arial"/>
                <a:cs typeface="Arial"/>
                <a:sym typeface="Arial"/>
              </a:rPr>
              <a:t>Sesi 3</a:t>
            </a:r>
            <a:endParaRPr/>
          </a:p>
        </p:txBody>
      </p:sp>
      <p:sp>
        <p:nvSpPr>
          <p:cNvPr id="59" name="Google Shape;59;p86"/>
          <p:cNvSpPr/>
          <p:nvPr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86"/>
          <p:cNvSpPr txBox="1"/>
          <p:nvPr>
            <p:ph idx="4" type="body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1600">
                <a:solidFill>
                  <a:srgbClr val="083866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86"/>
          <p:cNvSpPr txBox="1"/>
          <p:nvPr/>
        </p:nvSpPr>
        <p:spPr>
          <a:xfrm>
            <a:off x="9179561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B7020"/>
                </a:solidFill>
                <a:latin typeface="Arial"/>
                <a:ea typeface="Arial"/>
                <a:cs typeface="Arial"/>
                <a:sym typeface="Arial"/>
              </a:rPr>
              <a:t>Sesi 4</a:t>
            </a:r>
            <a:endParaRPr/>
          </a:p>
        </p:txBody>
      </p:sp>
      <p:sp>
        <p:nvSpPr>
          <p:cNvPr id="62" name="Google Shape;62;p86"/>
          <p:cNvSpPr/>
          <p:nvPr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6"/>
          <p:cNvSpPr txBox="1"/>
          <p:nvPr>
            <p:ph idx="5" type="body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1600">
                <a:solidFill>
                  <a:srgbClr val="083866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86"/>
          <p:cNvSpPr txBox="1"/>
          <p:nvPr/>
        </p:nvSpPr>
        <p:spPr>
          <a:xfrm>
            <a:off x="801277" y="3834197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B7020"/>
                </a:solidFill>
                <a:latin typeface="Arial"/>
                <a:ea typeface="Arial"/>
                <a:cs typeface="Arial"/>
                <a:sym typeface="Arial"/>
              </a:rPr>
              <a:t>Sesi 5</a:t>
            </a:r>
            <a:endParaRPr/>
          </a:p>
        </p:txBody>
      </p:sp>
      <p:sp>
        <p:nvSpPr>
          <p:cNvPr id="65" name="Google Shape;65;p86"/>
          <p:cNvSpPr/>
          <p:nvPr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6"/>
          <p:cNvSpPr txBox="1"/>
          <p:nvPr>
            <p:ph idx="6" type="body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1600">
                <a:solidFill>
                  <a:srgbClr val="083866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86"/>
          <p:cNvSpPr txBox="1"/>
          <p:nvPr/>
        </p:nvSpPr>
        <p:spPr>
          <a:xfrm>
            <a:off x="3593182" y="3834197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B7020"/>
                </a:solidFill>
                <a:latin typeface="Arial"/>
                <a:ea typeface="Arial"/>
                <a:cs typeface="Arial"/>
                <a:sym typeface="Arial"/>
              </a:rPr>
              <a:t>Sesi 6</a:t>
            </a:r>
            <a:endParaRPr/>
          </a:p>
        </p:txBody>
      </p:sp>
      <p:sp>
        <p:nvSpPr>
          <p:cNvPr id="68" name="Google Shape;68;p86"/>
          <p:cNvSpPr/>
          <p:nvPr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86"/>
          <p:cNvSpPr txBox="1"/>
          <p:nvPr>
            <p:ph idx="7" type="body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1600">
                <a:solidFill>
                  <a:srgbClr val="083866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86"/>
          <p:cNvSpPr txBox="1"/>
          <p:nvPr/>
        </p:nvSpPr>
        <p:spPr>
          <a:xfrm>
            <a:off x="6387656" y="3834197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B7020"/>
                </a:solidFill>
                <a:latin typeface="Arial"/>
                <a:ea typeface="Arial"/>
                <a:cs typeface="Arial"/>
                <a:sym typeface="Arial"/>
              </a:rPr>
              <a:t>Sesi 7</a:t>
            </a:r>
            <a:endParaRPr/>
          </a:p>
        </p:txBody>
      </p:sp>
      <p:sp>
        <p:nvSpPr>
          <p:cNvPr id="71" name="Google Shape;71;p86"/>
          <p:cNvSpPr/>
          <p:nvPr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86"/>
          <p:cNvSpPr txBox="1"/>
          <p:nvPr/>
        </p:nvSpPr>
        <p:spPr>
          <a:xfrm>
            <a:off x="9179561" y="4139355"/>
            <a:ext cx="188276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Ujian Tengah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Semester</a:t>
            </a:r>
            <a:endParaRPr/>
          </a:p>
        </p:txBody>
      </p:sp>
      <p:sp>
        <p:nvSpPr>
          <p:cNvPr id="73" name="Google Shape;73;p86"/>
          <p:cNvSpPr/>
          <p:nvPr/>
        </p:nvSpPr>
        <p:spPr>
          <a:xfrm>
            <a:off x="571756" y="804529"/>
            <a:ext cx="382489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Topik Sebelum UTS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ik (Sebelum UAS)">
  <p:cSld name="Topik (Sebelum UAS)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4"/>
          <p:cNvSpPr/>
          <p:nvPr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7" name="Google Shape;77;p44"/>
          <p:cNvSpPr txBox="1"/>
          <p:nvPr>
            <p:ph idx="1" type="body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44"/>
          <p:cNvSpPr txBox="1"/>
          <p:nvPr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4"/>
          <p:cNvSpPr/>
          <p:nvPr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0" name="Google Shape;80;p44"/>
          <p:cNvSpPr txBox="1"/>
          <p:nvPr>
            <p:ph idx="2" type="body"/>
          </p:nvPr>
        </p:nvSpPr>
        <p:spPr>
          <a:xfrm>
            <a:off x="3593182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4"/>
          <p:cNvSpPr txBox="1"/>
          <p:nvPr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4"/>
          <p:cNvSpPr/>
          <p:nvPr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3" name="Google Shape;83;p44"/>
          <p:cNvSpPr txBox="1"/>
          <p:nvPr>
            <p:ph idx="3" type="body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44"/>
          <p:cNvSpPr txBox="1"/>
          <p:nvPr/>
        </p:nvSpPr>
        <p:spPr>
          <a:xfrm>
            <a:off x="6387656" y="1962504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4"/>
          <p:cNvSpPr/>
          <p:nvPr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6" name="Google Shape;86;p44"/>
          <p:cNvSpPr txBox="1"/>
          <p:nvPr>
            <p:ph idx="4" type="body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44"/>
          <p:cNvSpPr txBox="1"/>
          <p:nvPr/>
        </p:nvSpPr>
        <p:spPr>
          <a:xfrm>
            <a:off x="9179561" y="1962504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4"/>
          <p:cNvSpPr/>
          <p:nvPr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9" name="Google Shape;89;p44"/>
          <p:cNvSpPr txBox="1"/>
          <p:nvPr>
            <p:ph idx="5" type="body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44"/>
          <p:cNvSpPr txBox="1"/>
          <p:nvPr/>
        </p:nvSpPr>
        <p:spPr>
          <a:xfrm>
            <a:off x="801277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4"/>
          <p:cNvSpPr/>
          <p:nvPr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2" name="Google Shape;92;p44"/>
          <p:cNvSpPr txBox="1"/>
          <p:nvPr>
            <p:ph idx="6" type="body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44"/>
          <p:cNvSpPr txBox="1"/>
          <p:nvPr/>
        </p:nvSpPr>
        <p:spPr>
          <a:xfrm>
            <a:off x="3593182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4"/>
          <p:cNvSpPr/>
          <p:nvPr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5" name="Google Shape;95;p44"/>
          <p:cNvSpPr txBox="1"/>
          <p:nvPr>
            <p:ph idx="7" type="body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44"/>
          <p:cNvSpPr txBox="1"/>
          <p:nvPr/>
        </p:nvSpPr>
        <p:spPr>
          <a:xfrm>
            <a:off x="6387656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4"/>
          <p:cNvSpPr/>
          <p:nvPr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8" name="Google Shape;98;p44"/>
          <p:cNvSpPr txBox="1"/>
          <p:nvPr/>
        </p:nvSpPr>
        <p:spPr>
          <a:xfrm>
            <a:off x="9179561" y="4139355"/>
            <a:ext cx="164660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Ujian Akhir</a:t>
            </a:r>
            <a:endParaRPr b="1" i="0" sz="24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Semester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4"/>
          <p:cNvSpPr/>
          <p:nvPr/>
        </p:nvSpPr>
        <p:spPr>
          <a:xfrm>
            <a:off x="571756" y="1068393"/>
            <a:ext cx="39118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Topik Sebelum UAS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ujuan Pembelajaran">
  <p:cSld name="Tujuan Pembelajara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46"/>
          <p:cNvGrpSpPr/>
          <p:nvPr/>
        </p:nvGrpSpPr>
        <p:grpSpPr>
          <a:xfrm>
            <a:off x="753475" y="1125069"/>
            <a:ext cx="6438605" cy="769441"/>
            <a:chOff x="753475" y="569942"/>
            <a:chExt cx="6438605" cy="769441"/>
          </a:xfrm>
        </p:grpSpPr>
        <p:sp>
          <p:nvSpPr>
            <p:cNvPr id="103" name="Google Shape;103;p46"/>
            <p:cNvSpPr/>
            <p:nvPr/>
          </p:nvSpPr>
          <p:spPr>
            <a:xfrm>
              <a:off x="1282044" y="716437"/>
              <a:ext cx="5910035" cy="51847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" name="Google Shape;104;p46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" name="Google Shape;105;p46"/>
            <p:cNvSpPr/>
            <p:nvPr/>
          </p:nvSpPr>
          <p:spPr>
            <a:xfrm>
              <a:off x="1654410" y="569942"/>
              <a:ext cx="5537670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Capaian Pembelajaran</a:t>
              </a:r>
              <a:endParaRPr b="1" i="0" sz="4400" u="none" cap="none" strike="noStrike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06" name="Google Shape;106;p4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53475" y="649446"/>
              <a:ext cx="791900" cy="632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" name="Google Shape;107;p46"/>
          <p:cNvSpPr txBox="1"/>
          <p:nvPr>
            <p:ph idx="1" type="body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ndahuluan">
  <p:cSld name="Pendahuluan"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45"/>
          <p:cNvGrpSpPr/>
          <p:nvPr/>
        </p:nvGrpSpPr>
        <p:grpSpPr>
          <a:xfrm>
            <a:off x="838200" y="1071592"/>
            <a:ext cx="5999349" cy="794408"/>
            <a:chOff x="838200" y="544975"/>
            <a:chExt cx="5999349" cy="794408"/>
          </a:xfrm>
        </p:grpSpPr>
        <p:sp>
          <p:nvSpPr>
            <p:cNvPr id="111" name="Google Shape;111;p45"/>
            <p:cNvSpPr/>
            <p:nvPr/>
          </p:nvSpPr>
          <p:spPr>
            <a:xfrm>
              <a:off x="1282045" y="716437"/>
              <a:ext cx="5555504" cy="51847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12" name="Google Shape;112;p45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13" name="Google Shape;113;p45"/>
            <p:cNvSpPr/>
            <p:nvPr/>
          </p:nvSpPr>
          <p:spPr>
            <a:xfrm>
              <a:off x="1654410" y="569942"/>
              <a:ext cx="3273525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Pendahuluan</a:t>
              </a:r>
              <a:endParaRPr b="1" i="0" sz="4400" u="none" cap="none" strike="noStrike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14" name="Google Shape;114;p4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83077" y="544975"/>
              <a:ext cx="665176" cy="7623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45"/>
          <p:cNvSpPr txBox="1"/>
          <p:nvPr>
            <p:ph idx="1" type="body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ub Topic 2">
  <p:cSld name="1_Sub Topic 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7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7"/>
          <p:cNvSpPr txBox="1"/>
          <p:nvPr>
            <p:ph type="ctrTitle"/>
          </p:nvPr>
        </p:nvSpPr>
        <p:spPr>
          <a:xfrm>
            <a:off x="5824603" y="2217851"/>
            <a:ext cx="5529197" cy="192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7"/>
          <p:cNvSpPr/>
          <p:nvPr>
            <p:ph idx="2" type="pic"/>
          </p:nvPr>
        </p:nvSpPr>
        <p:spPr>
          <a:xfrm>
            <a:off x="0" y="499621"/>
            <a:ext cx="5316718" cy="5856730"/>
          </a:xfrm>
          <a:prstGeom prst="flowChartDelay">
            <a:avLst/>
          </a:prstGeom>
          <a:noFill/>
          <a:ln>
            <a:noFill/>
          </a:ln>
        </p:spPr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 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8"/>
          <p:cNvSpPr txBox="1"/>
          <p:nvPr>
            <p:ph idx="1" type="body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8"/>
          <p:cNvSpPr txBox="1"/>
          <p:nvPr>
            <p:ph type="title"/>
          </p:nvPr>
        </p:nvSpPr>
        <p:spPr>
          <a:xfrm>
            <a:off x="838200" y="886120"/>
            <a:ext cx="8513190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 Topic 1">
  <p:cSld name="Sub Topic 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8"/>
          <p:cNvSpPr txBox="1"/>
          <p:nvPr>
            <p:ph type="ctrTitle"/>
          </p:nvPr>
        </p:nvSpPr>
        <p:spPr>
          <a:xfrm>
            <a:off x="1524000" y="824827"/>
            <a:ext cx="9144000" cy="6077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8"/>
          <p:cNvSpPr/>
          <p:nvPr>
            <p:ph idx="2" type="pic"/>
          </p:nvPr>
        </p:nvSpPr>
        <p:spPr>
          <a:xfrm>
            <a:off x="1524000" y="2843408"/>
            <a:ext cx="9144000" cy="3376417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88"/>
          <p:cNvSpPr txBox="1"/>
          <p:nvPr>
            <p:ph idx="1" type="body"/>
          </p:nvPr>
        </p:nvSpPr>
        <p:spPr>
          <a:xfrm>
            <a:off x="1524000" y="1528958"/>
            <a:ext cx="9144000" cy="117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/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nutup">
  <p:cSld name="Penutup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siness people  clapping their hands at the meeting Premium Photo" id="131" name="Google Shape;131;p50"/>
          <p:cNvPicPr preferRelativeResize="0"/>
          <p:nvPr/>
        </p:nvPicPr>
        <p:blipFill rotWithShape="1">
          <a:blip r:embed="rId2">
            <a:alphaModFix/>
          </a:blip>
          <a:srcRect b="0" l="0" r="8529" t="0"/>
          <a:stretch/>
        </p:blipFill>
        <p:spPr>
          <a:xfrm>
            <a:off x="2790216" y="-5350"/>
            <a:ext cx="9401784" cy="686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0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3" name="Google Shape;133;p50"/>
          <p:cNvSpPr/>
          <p:nvPr/>
        </p:nvSpPr>
        <p:spPr>
          <a:xfrm>
            <a:off x="1500193" y="1347793"/>
            <a:ext cx="4162414" cy="4162414"/>
          </a:xfrm>
          <a:prstGeom prst="ellipse">
            <a:avLst/>
          </a:prstGeom>
          <a:solidFill>
            <a:srgbClr val="EB7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4" name="Google Shape;134;p50"/>
          <p:cNvSpPr txBox="1"/>
          <p:nvPr>
            <p:ph type="ctrTitle"/>
          </p:nvPr>
        </p:nvSpPr>
        <p:spPr>
          <a:xfrm>
            <a:off x="2333732" y="2541902"/>
            <a:ext cx="3048000" cy="1768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5" name="Google Shape;135;p50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36" name="Google Shape;136;p50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37" name="Google Shape;137;p50"/>
            <p:cNvPicPr preferRelativeResize="0"/>
            <p:nvPr/>
          </p:nvPicPr>
          <p:blipFill rotWithShape="1">
            <a:blip r:embed="rId3">
              <a:alphaModFix/>
            </a:blip>
            <a:srcRect b="18101" l="0" r="0" t="16017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1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0" name="Google Shape;140;p51"/>
          <p:cNvSpPr/>
          <p:nvPr>
            <p:ph idx="2" type="pic"/>
          </p:nvPr>
        </p:nvSpPr>
        <p:spPr>
          <a:xfrm>
            <a:off x="0" y="1105260"/>
            <a:ext cx="4509370" cy="4646427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1"/>
          <p:cNvSpPr txBox="1"/>
          <p:nvPr>
            <p:ph type="title"/>
          </p:nvPr>
        </p:nvSpPr>
        <p:spPr>
          <a:xfrm>
            <a:off x="4968465" y="1610316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  <a:defRPr b="1" sz="5400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51"/>
          <p:cNvSpPr txBox="1"/>
          <p:nvPr>
            <p:ph idx="1" type="body"/>
          </p:nvPr>
        </p:nvSpPr>
        <p:spPr>
          <a:xfrm>
            <a:off x="4968465" y="453951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400"/>
              <a:buNone/>
              <a:defRPr sz="2400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51"/>
          <p:cNvSpPr txBox="1"/>
          <p:nvPr>
            <p:ph idx="3" type="body"/>
          </p:nvPr>
        </p:nvSpPr>
        <p:spPr>
          <a:xfrm>
            <a:off x="4968465" y="403445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7C30"/>
              </a:buClr>
              <a:buSzPts val="2800"/>
              <a:buNone/>
              <a:defRPr b="1" sz="2800">
                <a:solidFill>
                  <a:srgbClr val="EC7C30"/>
                </a:solidFill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51"/>
          <p:cNvSpPr/>
          <p:nvPr/>
        </p:nvSpPr>
        <p:spPr>
          <a:xfrm>
            <a:off x="4968465" y="3811581"/>
            <a:ext cx="1659545" cy="45719"/>
          </a:xfrm>
          <a:prstGeom prst="roundRect">
            <a:avLst>
              <a:gd fmla="val 16667" name="adj"/>
            </a:avLst>
          </a:prstGeom>
          <a:solidFill>
            <a:srgbClr val="EC7C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6" name="Google Shape;146;p51"/>
          <p:cNvSpPr txBox="1"/>
          <p:nvPr>
            <p:ph idx="4" type="body"/>
          </p:nvPr>
        </p:nvSpPr>
        <p:spPr>
          <a:xfrm>
            <a:off x="4968464" y="110526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7C30"/>
              </a:buClr>
              <a:buSzPts val="2800"/>
              <a:buNone/>
              <a:defRPr b="1" sz="2800">
                <a:solidFill>
                  <a:srgbClr val="EC7C30"/>
                </a:solidFill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47" name="Google Shape;147;p51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48" name="Google Shape;148;p51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49" name="Google Shape;149;p51"/>
            <p:cNvPicPr preferRelativeResize="0"/>
            <p:nvPr/>
          </p:nvPicPr>
          <p:blipFill rotWithShape="1">
            <a:blip r:embed="rId2">
              <a:alphaModFix/>
            </a:blip>
            <a:srcRect b="18101" l="0" r="0" t="16017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omponen Penilaian">
  <p:cSld name="Komponen Penilaian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52"/>
          <p:cNvGrpSpPr/>
          <p:nvPr/>
        </p:nvGrpSpPr>
        <p:grpSpPr>
          <a:xfrm>
            <a:off x="838200" y="1125069"/>
            <a:ext cx="5999349" cy="769441"/>
            <a:chOff x="838200" y="569942"/>
            <a:chExt cx="5999349" cy="769441"/>
          </a:xfrm>
        </p:grpSpPr>
        <p:sp>
          <p:nvSpPr>
            <p:cNvPr id="153" name="Google Shape;153;p52"/>
            <p:cNvSpPr/>
            <p:nvPr/>
          </p:nvSpPr>
          <p:spPr>
            <a:xfrm>
              <a:off x="1282045" y="716437"/>
              <a:ext cx="5555504" cy="51847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54" name="Google Shape;154;p52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55" name="Google Shape;155;p52"/>
            <p:cNvSpPr/>
            <p:nvPr/>
          </p:nvSpPr>
          <p:spPr>
            <a:xfrm>
              <a:off x="1654410" y="569942"/>
              <a:ext cx="5068760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Komponen Penilaian</a:t>
              </a:r>
              <a:endParaRPr b="1" i="0" sz="4400" u="none" cap="none" strike="noStrike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56" name="Google Shape;156;p5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921012" y="616587"/>
              <a:ext cx="589305" cy="67542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3"/>
          <p:cNvSpPr txBox="1"/>
          <p:nvPr>
            <p:ph type="title"/>
          </p:nvPr>
        </p:nvSpPr>
        <p:spPr>
          <a:xfrm>
            <a:off x="831850" y="1389699"/>
            <a:ext cx="10515600" cy="16179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6000"/>
              <a:buFont typeface="Twentieth Centur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53"/>
          <p:cNvSpPr txBox="1"/>
          <p:nvPr>
            <p:ph idx="1" type="body"/>
          </p:nvPr>
        </p:nvSpPr>
        <p:spPr>
          <a:xfrm>
            <a:off x="831850" y="3185341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400"/>
              <a:buNone/>
              <a:defRPr sz="2400">
                <a:solidFill>
                  <a:srgbClr val="031629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2000"/>
              <a:buNone/>
              <a:defRPr sz="2000">
                <a:solidFill>
                  <a:srgbClr val="8E8E8E"/>
                </a:solidFill>
              </a:defRPr>
            </a:lvl2pPr>
            <a:lvl3pPr indent="-228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800"/>
              <a:buNone/>
              <a:defRPr sz="1800">
                <a:solidFill>
                  <a:srgbClr val="8E8E8E"/>
                </a:solidFill>
              </a:defRPr>
            </a:lvl3pPr>
            <a:lvl4pPr indent="-2286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4pPr>
            <a:lvl5pPr indent="-2286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9pPr>
          </a:lstStyle>
          <a:p/>
        </p:txBody>
      </p:sp>
      <p:sp>
        <p:nvSpPr>
          <p:cNvPr id="160" name="Google Shape;160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b="0" i="0" sz="11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b="0" i="0" sz="11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b="0" i="0" sz="11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b="0" i="0" sz="11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b="0" i="0" sz="11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b="0" i="0" sz="11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b="0" i="0" sz="11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b="0" i="0" sz="11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b="0" i="0" sz="11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4"/>
          <p:cNvSpPr txBox="1"/>
          <p:nvPr>
            <p:ph type="title"/>
          </p:nvPr>
        </p:nvSpPr>
        <p:spPr>
          <a:xfrm>
            <a:off x="838200" y="886120"/>
            <a:ext cx="8513190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5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5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5"/>
          <p:cNvSpPr txBox="1"/>
          <p:nvPr>
            <p:ph idx="1" type="body"/>
          </p:nvPr>
        </p:nvSpPr>
        <p:spPr>
          <a:xfrm>
            <a:off x="839788" y="1772239"/>
            <a:ext cx="5157787" cy="650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800"/>
              <a:buNone/>
              <a:defRPr b="1" sz="2800">
                <a:solidFill>
                  <a:srgbClr val="0E60AC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b="1" sz="2000"/>
            </a:lvl2pPr>
            <a:lvl3pPr indent="-228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None/>
              <a:defRPr b="1" sz="1800"/>
            </a:lvl3pPr>
            <a:lvl4pPr indent="-2286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600"/>
              <a:buNone/>
              <a:defRPr b="1" sz="1600"/>
            </a:lvl4pPr>
            <a:lvl5pPr indent="-2286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8" name="Google Shape;168;p5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55"/>
          <p:cNvSpPr txBox="1"/>
          <p:nvPr>
            <p:ph idx="3" type="body"/>
          </p:nvPr>
        </p:nvSpPr>
        <p:spPr>
          <a:xfrm>
            <a:off x="6172200" y="1772239"/>
            <a:ext cx="5183188" cy="650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800"/>
              <a:buNone/>
              <a:defRPr b="1" sz="2800">
                <a:solidFill>
                  <a:srgbClr val="0E60AC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b="1" sz="2000"/>
            </a:lvl2pPr>
            <a:lvl3pPr indent="-228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None/>
              <a:defRPr b="1" sz="1800"/>
            </a:lvl3pPr>
            <a:lvl4pPr indent="-2286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600"/>
              <a:buNone/>
              <a:defRPr b="1" sz="1600"/>
            </a:lvl4pPr>
            <a:lvl5pPr indent="-2286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0" name="Google Shape;170;p5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5"/>
          <p:cNvSpPr txBox="1"/>
          <p:nvPr>
            <p:ph type="title"/>
          </p:nvPr>
        </p:nvSpPr>
        <p:spPr>
          <a:xfrm>
            <a:off x="838200" y="886120"/>
            <a:ext cx="8513190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6"/>
          <p:cNvSpPr txBox="1"/>
          <p:nvPr>
            <p:ph type="title"/>
          </p:nvPr>
        </p:nvSpPr>
        <p:spPr>
          <a:xfrm>
            <a:off x="838200" y="960120"/>
            <a:ext cx="10515600" cy="1931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 1">
  <p:cSld name="Picture with Caption 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7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8" name="Google Shape;178;p57"/>
          <p:cNvSpPr/>
          <p:nvPr>
            <p:ph idx="2" type="pic"/>
          </p:nvPr>
        </p:nvSpPr>
        <p:spPr>
          <a:xfrm>
            <a:off x="5183188" y="1107481"/>
            <a:ext cx="5900448" cy="4800705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7"/>
          <p:cNvSpPr txBox="1"/>
          <p:nvPr>
            <p:ph type="title"/>
          </p:nvPr>
        </p:nvSpPr>
        <p:spPr>
          <a:xfrm>
            <a:off x="802081" y="886379"/>
            <a:ext cx="3751066" cy="12181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  <a:defRPr sz="3200">
                <a:solidFill>
                  <a:srgbClr val="FFC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57"/>
          <p:cNvSpPr txBox="1"/>
          <p:nvPr>
            <p:ph idx="1" type="body"/>
          </p:nvPr>
        </p:nvSpPr>
        <p:spPr>
          <a:xfrm>
            <a:off x="802081" y="2264241"/>
            <a:ext cx="3751066" cy="3643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400"/>
              <a:buNone/>
              <a:defRPr sz="1400"/>
            </a:lvl2pPr>
            <a:lvl3pPr indent="-228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200"/>
              <a:buNone/>
              <a:defRPr sz="1200"/>
            </a:lvl3pPr>
            <a:lvl4pPr indent="-2286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4pPr>
            <a:lvl5pPr indent="-2286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grpSp>
        <p:nvGrpSpPr>
          <p:cNvPr id="182" name="Google Shape;182;p57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83" name="Google Shape;183;p57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84" name="Google Shape;184;p57"/>
            <p:cNvPicPr preferRelativeResize="0"/>
            <p:nvPr/>
          </p:nvPicPr>
          <p:blipFill rotWithShape="1">
            <a:blip r:embed="rId2">
              <a:alphaModFix/>
            </a:blip>
            <a:srcRect b="18101" l="0" r="0" t="16017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 2">
  <p:cSld name="Picture with Caption 2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8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7" name="Google Shape;187;p58"/>
          <p:cNvSpPr/>
          <p:nvPr/>
        </p:nvSpPr>
        <p:spPr>
          <a:xfrm>
            <a:off x="1350627" y="973603"/>
            <a:ext cx="3777556" cy="26412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8" name="Google Shape;188;p58"/>
          <p:cNvSpPr/>
          <p:nvPr>
            <p:ph idx="2" type="pic"/>
          </p:nvPr>
        </p:nvSpPr>
        <p:spPr>
          <a:xfrm>
            <a:off x="1414021" y="1025025"/>
            <a:ext cx="3640619" cy="251816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8"/>
          <p:cNvSpPr txBox="1"/>
          <p:nvPr>
            <p:ph type="title"/>
          </p:nvPr>
        </p:nvSpPr>
        <p:spPr>
          <a:xfrm>
            <a:off x="5817139" y="973603"/>
            <a:ext cx="3571959" cy="1218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>
                <a:solidFill>
                  <a:srgbClr val="0E60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58"/>
          <p:cNvSpPr txBox="1"/>
          <p:nvPr>
            <p:ph idx="1" type="body"/>
          </p:nvPr>
        </p:nvSpPr>
        <p:spPr>
          <a:xfrm>
            <a:off x="5817139" y="2351465"/>
            <a:ext cx="4740881" cy="380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>
                <a:solidFill>
                  <a:srgbClr val="031629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400"/>
              <a:buNone/>
              <a:defRPr sz="1400"/>
            </a:lvl2pPr>
            <a:lvl3pPr indent="-228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200"/>
              <a:buNone/>
              <a:defRPr sz="1200"/>
            </a:lvl3pPr>
            <a:lvl4pPr indent="-2286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4pPr>
            <a:lvl5pPr indent="-2286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2" name="Google Shape;192;p58"/>
          <p:cNvSpPr/>
          <p:nvPr/>
        </p:nvSpPr>
        <p:spPr>
          <a:xfrm>
            <a:off x="1350627" y="3762265"/>
            <a:ext cx="3777556" cy="26412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3" name="Google Shape;193;p58"/>
          <p:cNvSpPr/>
          <p:nvPr>
            <p:ph idx="3" type="pic"/>
          </p:nvPr>
        </p:nvSpPr>
        <p:spPr>
          <a:xfrm>
            <a:off x="1414021" y="3813687"/>
            <a:ext cx="3640619" cy="251816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94" name="Google Shape;194;p58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95" name="Google Shape;195;p58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96" name="Google Shape;196;p58"/>
            <p:cNvPicPr preferRelativeResize="0"/>
            <p:nvPr/>
          </p:nvPicPr>
          <p:blipFill rotWithShape="1">
            <a:blip r:embed="rId2">
              <a:alphaModFix/>
            </a:blip>
            <a:srcRect b="18101" l="0" r="0" t="16017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 5">
  <p:cSld name="Picture with Caption 5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9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9" name="Google Shape;199;p59"/>
          <p:cNvSpPr/>
          <p:nvPr>
            <p:ph idx="2" type="pic"/>
          </p:nvPr>
        </p:nvSpPr>
        <p:spPr>
          <a:xfrm>
            <a:off x="569929" y="886379"/>
            <a:ext cx="4888191" cy="5021807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9"/>
          <p:cNvSpPr txBox="1"/>
          <p:nvPr>
            <p:ph idx="1" type="body"/>
          </p:nvPr>
        </p:nvSpPr>
        <p:spPr>
          <a:xfrm>
            <a:off x="5918477" y="2264241"/>
            <a:ext cx="5280565" cy="3643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2000"/>
              <a:buNone/>
              <a:defRPr sz="2000">
                <a:solidFill>
                  <a:srgbClr val="083866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400"/>
              <a:buNone/>
              <a:defRPr sz="1400"/>
            </a:lvl2pPr>
            <a:lvl3pPr indent="-228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200"/>
              <a:buNone/>
              <a:defRPr sz="1200"/>
            </a:lvl3pPr>
            <a:lvl4pPr indent="-2286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4pPr>
            <a:lvl5pPr indent="-2286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2" name="Google Shape;202;p59"/>
          <p:cNvSpPr txBox="1"/>
          <p:nvPr>
            <p:ph type="title"/>
          </p:nvPr>
        </p:nvSpPr>
        <p:spPr>
          <a:xfrm>
            <a:off x="5918476" y="867524"/>
            <a:ext cx="3470621" cy="1218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>
                <a:solidFill>
                  <a:srgbClr val="0E60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3" name="Google Shape;203;p59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204" name="Google Shape;204;p59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05" name="Google Shape;205;p59"/>
            <p:cNvPicPr preferRelativeResize="0"/>
            <p:nvPr/>
          </p:nvPicPr>
          <p:blipFill rotWithShape="1">
            <a:blip r:embed="rId2">
              <a:alphaModFix/>
            </a:blip>
            <a:srcRect b="18101" l="0" r="0" t="16017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Uraian Materi">
  <p:cSld name="Slide Uraian Materi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0"/>
          <p:cNvSpPr txBox="1"/>
          <p:nvPr>
            <p:ph idx="1" type="body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60"/>
          <p:cNvSpPr txBox="1"/>
          <p:nvPr>
            <p:ph type="title"/>
          </p:nvPr>
        </p:nvSpPr>
        <p:spPr>
          <a:xfrm>
            <a:off x="838200" y="886120"/>
            <a:ext cx="8513190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 3">
  <p:cSld name="Picture with Caption 3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1"/>
          <p:cNvSpPr/>
          <p:nvPr>
            <p:ph idx="2" type="pic"/>
          </p:nvPr>
        </p:nvSpPr>
        <p:spPr>
          <a:xfrm>
            <a:off x="770701" y="1762813"/>
            <a:ext cx="3356431" cy="3143468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1"/>
          <p:cNvSpPr/>
          <p:nvPr>
            <p:ph idx="3" type="pic"/>
          </p:nvPr>
        </p:nvSpPr>
        <p:spPr>
          <a:xfrm>
            <a:off x="4518071" y="1762813"/>
            <a:ext cx="3356431" cy="3143468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61"/>
          <p:cNvSpPr/>
          <p:nvPr>
            <p:ph idx="4" type="pic"/>
          </p:nvPr>
        </p:nvSpPr>
        <p:spPr>
          <a:xfrm>
            <a:off x="8265441" y="1762813"/>
            <a:ext cx="3356431" cy="3143468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61"/>
          <p:cNvSpPr txBox="1"/>
          <p:nvPr>
            <p:ph idx="1" type="body"/>
          </p:nvPr>
        </p:nvSpPr>
        <p:spPr>
          <a:xfrm>
            <a:off x="770700" y="5090408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b="0" sz="2000">
                <a:solidFill>
                  <a:srgbClr val="031629"/>
                </a:solidFill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61"/>
          <p:cNvSpPr txBox="1"/>
          <p:nvPr>
            <p:ph idx="5" type="body"/>
          </p:nvPr>
        </p:nvSpPr>
        <p:spPr>
          <a:xfrm>
            <a:off x="4518071" y="5090408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b="0" sz="2000">
                <a:solidFill>
                  <a:srgbClr val="031629"/>
                </a:solidFill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61"/>
          <p:cNvSpPr txBox="1"/>
          <p:nvPr>
            <p:ph idx="6" type="body"/>
          </p:nvPr>
        </p:nvSpPr>
        <p:spPr>
          <a:xfrm>
            <a:off x="8265441" y="5090408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b="0" sz="2000">
                <a:solidFill>
                  <a:srgbClr val="031629"/>
                </a:solidFill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61"/>
          <p:cNvSpPr txBox="1"/>
          <p:nvPr>
            <p:ph type="title"/>
          </p:nvPr>
        </p:nvSpPr>
        <p:spPr>
          <a:xfrm>
            <a:off x="770700" y="886120"/>
            <a:ext cx="8580690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 4">
  <p:cSld name="Picture with Caption 4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2"/>
          <p:cNvSpPr/>
          <p:nvPr>
            <p:ph idx="2" type="pic"/>
          </p:nvPr>
        </p:nvSpPr>
        <p:spPr>
          <a:xfrm>
            <a:off x="1930198" y="933253"/>
            <a:ext cx="8495847" cy="3664345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2"/>
          <p:cNvSpPr txBox="1"/>
          <p:nvPr>
            <p:ph idx="1" type="body"/>
          </p:nvPr>
        </p:nvSpPr>
        <p:spPr>
          <a:xfrm>
            <a:off x="1930197" y="4751111"/>
            <a:ext cx="8495850" cy="1451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b="0" sz="2000">
                <a:solidFill>
                  <a:srgbClr val="031629"/>
                </a:solidFill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ert Video">
  <p:cSld name="Insert Video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3"/>
          <p:cNvSpPr txBox="1"/>
          <p:nvPr>
            <p:ph type="title"/>
          </p:nvPr>
        </p:nvSpPr>
        <p:spPr>
          <a:xfrm>
            <a:off x="2224726" y="404617"/>
            <a:ext cx="7117238" cy="701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63"/>
          <p:cNvSpPr/>
          <p:nvPr>
            <p:ph idx="2" type="media"/>
          </p:nvPr>
        </p:nvSpPr>
        <p:spPr>
          <a:xfrm>
            <a:off x="1576887" y="1319017"/>
            <a:ext cx="9184670" cy="5166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None/>
              <a:defRPr b="0" i="0" sz="22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lphaLcPeriod"/>
              <a:defRPr b="0" i="0" sz="22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tihan">
  <p:cSld name="Latihan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5"/>
          <p:cNvSpPr txBox="1"/>
          <p:nvPr>
            <p:ph idx="1" type="body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" name="Google Shape;229;p65"/>
          <p:cNvGrpSpPr/>
          <p:nvPr/>
        </p:nvGrpSpPr>
        <p:grpSpPr>
          <a:xfrm>
            <a:off x="838200" y="1108530"/>
            <a:ext cx="5999349" cy="769441"/>
            <a:chOff x="838200" y="1108530"/>
            <a:chExt cx="5999349" cy="769441"/>
          </a:xfrm>
        </p:grpSpPr>
        <p:sp>
          <p:nvSpPr>
            <p:cNvPr id="230" name="Google Shape;230;p65"/>
            <p:cNvSpPr/>
            <p:nvPr/>
          </p:nvSpPr>
          <p:spPr>
            <a:xfrm>
              <a:off x="1282045" y="1255025"/>
              <a:ext cx="5555504" cy="51847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1" name="Google Shape;231;p65"/>
            <p:cNvSpPr/>
            <p:nvPr/>
          </p:nvSpPr>
          <p:spPr>
            <a:xfrm>
              <a:off x="838200" y="1123041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2" name="Google Shape;232;p65"/>
            <p:cNvSpPr/>
            <p:nvPr/>
          </p:nvSpPr>
          <p:spPr>
            <a:xfrm>
              <a:off x="1654410" y="1108530"/>
              <a:ext cx="1923988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Latihan</a:t>
              </a:r>
              <a:endParaRPr b="1" i="0" sz="4400" u="none" cap="none" strike="noStrike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33" name="Google Shape;233;p6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917419" y="1120499"/>
              <a:ext cx="650450" cy="7455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ftar Pustaka">
  <p:cSld name="Daftar Pustaka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" name="Google Shape;236;p66"/>
          <p:cNvGrpSpPr/>
          <p:nvPr/>
        </p:nvGrpSpPr>
        <p:grpSpPr>
          <a:xfrm>
            <a:off x="838200" y="1096559"/>
            <a:ext cx="5999349" cy="769441"/>
            <a:chOff x="838200" y="569942"/>
            <a:chExt cx="5999349" cy="769441"/>
          </a:xfrm>
        </p:grpSpPr>
        <p:sp>
          <p:nvSpPr>
            <p:cNvPr id="237" name="Google Shape;237;p66"/>
            <p:cNvSpPr/>
            <p:nvPr/>
          </p:nvSpPr>
          <p:spPr>
            <a:xfrm>
              <a:off x="1282045" y="716437"/>
              <a:ext cx="5555504" cy="51847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8" name="Google Shape;238;p66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9" name="Google Shape;239;p66"/>
            <p:cNvSpPr/>
            <p:nvPr/>
          </p:nvSpPr>
          <p:spPr>
            <a:xfrm>
              <a:off x="1654410" y="569942"/>
              <a:ext cx="3640740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Daftar Pustaka</a:t>
              </a:r>
              <a:endParaRPr b="1" i="0" sz="4400" u="none" cap="none" strike="noStrike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40" name="Google Shape;240;p6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98017" y="661014"/>
              <a:ext cx="606720" cy="6293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" name="Google Shape;241;p66"/>
          <p:cNvSpPr txBox="1"/>
          <p:nvPr>
            <p:ph idx="1" type="body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indent="-3683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indent="-3683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indent="-3683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indent="-3683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26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5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29" Type="http://schemas.openxmlformats.org/officeDocument/2006/relationships/slideLayout" Target="../slideLayouts/slideLayout27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1" name="Google Shape;11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5470264"/>
            <a:ext cx="12110720" cy="140073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0"/>
          <p:cNvSpPr txBox="1"/>
          <p:nvPr>
            <p:ph type="title"/>
          </p:nvPr>
        </p:nvSpPr>
        <p:spPr>
          <a:xfrm>
            <a:off x="838200" y="922585"/>
            <a:ext cx="8547263" cy="7021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  <a:defRPr b="1" i="0" sz="3600" u="none" cap="none" strike="noStrike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0"/>
          <p:cNvSpPr txBox="1"/>
          <p:nvPr>
            <p:ph idx="1" type="body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  <a:defRPr b="0" i="0" sz="22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68300" lvl="1" marL="9144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lphaLcPeriod"/>
              <a:defRPr b="0" i="0" sz="22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68300" lvl="2" marL="13716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68300" lvl="3" marL="18288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68300" lvl="4" marL="22860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b="0" i="0" sz="1200" u="none" cap="none" strike="noStrik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p40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6" name="Google Shape;16;p40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7" name="Google Shape;17;p40"/>
            <p:cNvPicPr preferRelativeResize="0"/>
            <p:nvPr/>
          </p:nvPicPr>
          <p:blipFill rotWithShape="1">
            <a:blip r:embed="rId2">
              <a:alphaModFix/>
            </a:blip>
            <a:srcRect b="18101" l="0" r="0" t="16017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1.jp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"/>
          <p:cNvSpPr txBox="1"/>
          <p:nvPr>
            <p:ph type="title"/>
          </p:nvPr>
        </p:nvSpPr>
        <p:spPr>
          <a:xfrm>
            <a:off x="588969" y="1934409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</a:pPr>
            <a:r>
              <a:rPr lang="en-US"/>
              <a:t>OBJECT ORIENTED PROGRAMMING</a:t>
            </a:r>
            <a:endParaRPr/>
          </a:p>
        </p:txBody>
      </p:sp>
      <p:sp>
        <p:nvSpPr>
          <p:cNvPr id="247" name="Google Shape;247;p1"/>
          <p:cNvSpPr txBox="1"/>
          <p:nvPr>
            <p:ph idx="1" type="body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Introduction to Object Oriented Programming</a:t>
            </a:r>
            <a:endParaRPr/>
          </a:p>
        </p:txBody>
      </p:sp>
      <p:sp>
        <p:nvSpPr>
          <p:cNvPr id="248" name="Google Shape;248;p1"/>
          <p:cNvSpPr txBox="1"/>
          <p:nvPr>
            <p:ph idx="3" type="body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rPr lang="en-US"/>
              <a:t>Sesi 1</a:t>
            </a:r>
            <a:endParaRPr/>
          </a:p>
        </p:txBody>
      </p:sp>
      <p:sp>
        <p:nvSpPr>
          <p:cNvPr id="249" name="Google Shape;249;p1"/>
          <p:cNvSpPr txBox="1"/>
          <p:nvPr>
            <p:ph idx="4" type="body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rPr lang="en-US"/>
              <a:t>CSF308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50" name="Google Shape;250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8187" r="8187" t="0"/>
          <a:stretch/>
        </p:blipFill>
        <p:spPr>
          <a:xfrm flipH="1">
            <a:off x="7384744" y="0"/>
            <a:ext cx="4807256" cy="6858000"/>
          </a:xfrm>
          <a:prstGeom prst="flowChartDelay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6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3156" r="13156" t="0"/>
          <a:stretch/>
        </p:blipFill>
        <p:spPr>
          <a:xfrm>
            <a:off x="1746250" y="1843088"/>
            <a:ext cx="3063875" cy="3063875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6" name="Google Shape;256;p67"/>
          <p:cNvSpPr txBox="1"/>
          <p:nvPr>
            <p:ph idx="1" type="body"/>
          </p:nvPr>
        </p:nvSpPr>
        <p:spPr>
          <a:xfrm>
            <a:off x="5154979" y="2275496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Dewi Setiowati, A.Md., S.Pd., M.Tr.Kom.</a:t>
            </a:r>
            <a:endParaRPr/>
          </a:p>
        </p:txBody>
      </p:sp>
      <p:sp>
        <p:nvSpPr>
          <p:cNvPr id="257" name="Google Shape;257;p67"/>
          <p:cNvSpPr txBox="1"/>
          <p:nvPr>
            <p:ph idx="3" type="body"/>
          </p:nvPr>
        </p:nvSpPr>
        <p:spPr>
          <a:xfrm>
            <a:off x="5154979" y="3176643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8413</a:t>
            </a:r>
            <a:endParaRPr/>
          </a:p>
        </p:txBody>
      </p:sp>
      <p:sp>
        <p:nvSpPr>
          <p:cNvPr id="258" name="Google Shape;258;p67"/>
          <p:cNvSpPr txBox="1"/>
          <p:nvPr>
            <p:ph idx="4" type="body"/>
          </p:nvPr>
        </p:nvSpPr>
        <p:spPr>
          <a:xfrm>
            <a:off x="5154979" y="4077790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dewi.setiowati@esaunggul.ac.id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8"/>
          <p:cNvSpPr txBox="1"/>
          <p:nvPr>
            <p:ph idx="1" type="body"/>
          </p:nvPr>
        </p:nvSpPr>
        <p:spPr>
          <a:xfrm>
            <a:off x="838200" y="1197033"/>
            <a:ext cx="10515600" cy="4913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b="1" lang="en-US">
                <a:solidFill>
                  <a:schemeClr val="dk2"/>
                </a:solidFill>
              </a:rPr>
              <a:t>VISI​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US"/>
              <a:t>Menjadi perguruan tinggi kelas dunia berbasis intelektualitas, kreatifitas dan kewirausahaan, yang unggul dalam mutu pengelolaan dan hasil pelaksanaan Tridarma Perguruan Tinggi.​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b="1" lang="en-US">
                <a:solidFill>
                  <a:schemeClr val="dk2"/>
                </a:solidFill>
              </a:rPr>
              <a:t>MISI</a:t>
            </a:r>
            <a:r>
              <a:rPr b="1" lang="en-US">
                <a:solidFill>
                  <a:schemeClr val="accent6"/>
                </a:solidFill>
              </a:rPr>
              <a:t>​</a:t>
            </a:r>
            <a:endParaRPr/>
          </a:p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rabicPeriod"/>
            </a:pPr>
            <a:r>
              <a:rPr lang="en-US"/>
              <a:t>Menyelenggarakan pendidikan tinggi yang bermutu dan relevan​</a:t>
            </a:r>
            <a:endParaRPr/>
          </a:p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rabicPeriod"/>
            </a:pPr>
            <a:r>
              <a:rPr lang="en-US"/>
              <a:t>Menciptakan suasana akademik yang kondusif​</a:t>
            </a:r>
            <a:endParaRPr/>
          </a:p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rabicPeriod"/>
            </a:pPr>
            <a:r>
              <a:rPr lang="en-US"/>
              <a:t>Memberikan pelayanan prima kepada seluruh pemangku kepentingan​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9"/>
          <p:cNvSpPr/>
          <p:nvPr/>
        </p:nvSpPr>
        <p:spPr>
          <a:xfrm>
            <a:off x="75075" y="61950"/>
            <a:ext cx="2022000" cy="80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0" name="Google Shape;270;p69"/>
          <p:cNvSpPr txBox="1"/>
          <p:nvPr>
            <p:ph idx="4294967295" type="title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/>
              <a:t>College Contract</a:t>
            </a:r>
            <a:endParaRPr/>
          </a:p>
        </p:txBody>
      </p:sp>
      <p:sp>
        <p:nvSpPr>
          <p:cNvPr id="271" name="Google Shape;271;p69"/>
          <p:cNvSpPr txBox="1"/>
          <p:nvPr/>
        </p:nvSpPr>
        <p:spPr>
          <a:xfrm>
            <a:off x="781728" y="1454408"/>
            <a:ext cx="10628544" cy="4313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3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1F2328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Students are required to attend or join the class on time with a maximum 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delay of 15 minutes</a:t>
            </a:r>
            <a:r>
              <a:rPr b="0" i="0" lang="en-US" sz="2400" u="none" cap="none" strike="noStrike">
                <a:solidFill>
                  <a:srgbClr val="1F2328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3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1F2328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Every student's class is required to do a presence </a:t>
            </a:r>
            <a:r>
              <a:rPr b="1" i="0" lang="en-US" sz="2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scan QR Code on SIAKAD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3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1F2328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Students should attend at least 80% of the scheduled lectures to be able to take the Final test.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300"/>
              <a:buFont typeface="Twentieth Century"/>
              <a:buNone/>
            </a:pPr>
            <a:r>
              <a:t/>
            </a:r>
            <a:endParaRPr b="0" i="0" sz="2400" u="none" cap="none" strike="noStrike">
              <a:solidFill>
                <a:srgbClr val="1F2328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0"/>
          <p:cNvSpPr/>
          <p:nvPr/>
        </p:nvSpPr>
        <p:spPr>
          <a:xfrm>
            <a:off x="75075" y="61950"/>
            <a:ext cx="2022000" cy="80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8" name="Google Shape;278;p70"/>
          <p:cNvSpPr txBox="1"/>
          <p:nvPr>
            <p:ph idx="4294967295" type="title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/>
              <a:t>Assessment</a:t>
            </a:r>
            <a:endParaRPr/>
          </a:p>
        </p:txBody>
      </p:sp>
      <p:sp>
        <p:nvSpPr>
          <p:cNvPr id="279" name="Google Shape;279;p70"/>
          <p:cNvSpPr txBox="1"/>
          <p:nvPr/>
        </p:nvSpPr>
        <p:spPr>
          <a:xfrm>
            <a:off x="713718" y="1272209"/>
            <a:ext cx="10628544" cy="3188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889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None/>
            </a:pPr>
            <a:r>
              <a:rPr b="0" i="0" lang="en-US" sz="24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Coursework evaluation will be weighted as follows:</a:t>
            </a:r>
            <a:endParaRPr/>
          </a:p>
          <a:p>
            <a:pPr indent="0" lvl="0" marL="889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None/>
            </a:pPr>
            <a:r>
              <a:t/>
            </a:r>
            <a:endParaRPr b="0" i="0" sz="2400" u="none" cap="none" strike="noStrike">
              <a:solidFill>
                <a:srgbClr val="031629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85750" lvl="0" marL="2857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Mid-Term Examination 				 			10%</a:t>
            </a:r>
            <a:endParaRPr b="0" i="0" sz="2400" u="none" cap="none" strike="noStrike">
              <a:solidFill>
                <a:srgbClr val="031629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85750" lvl="0" marL="2857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Final Examination 	 				 			10 %</a:t>
            </a:r>
            <a:endParaRPr/>
          </a:p>
          <a:p>
            <a:pPr indent="-285750" lvl="0" marL="2857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Final Project									 50%</a:t>
            </a:r>
            <a:endParaRPr/>
          </a:p>
          <a:p>
            <a:pPr indent="-285750" lvl="0" marL="2857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Others (class participation 10%, quiz 10%, practical assignments 10%) 	 30 %</a:t>
            </a:r>
            <a:endParaRPr b="0" i="0" sz="2400" u="none" cap="none" strike="noStrike">
              <a:solidFill>
                <a:srgbClr val="031629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889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None/>
            </a:pPr>
            <a:r>
              <a:rPr b="0" i="0" lang="en-US" sz="2400" u="none" cap="none" strike="noStrik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Total  									100%</a:t>
            </a:r>
            <a:endParaRPr b="0" i="0" sz="2400" u="none" cap="none" strike="noStrike">
              <a:solidFill>
                <a:srgbClr val="031629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1"/>
          <p:cNvSpPr txBox="1"/>
          <p:nvPr>
            <p:ph idx="1" type="body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Introduction To Object Oriented Programming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br>
              <a:rPr lang="en-US" sz="1800"/>
            </a:br>
            <a:endParaRPr sz="1800"/>
          </a:p>
        </p:txBody>
      </p:sp>
      <p:sp>
        <p:nvSpPr>
          <p:cNvPr id="285" name="Google Shape;285;p71"/>
          <p:cNvSpPr txBox="1"/>
          <p:nvPr>
            <p:ph idx="2" type="body"/>
          </p:nvPr>
        </p:nvSpPr>
        <p:spPr>
          <a:xfrm>
            <a:off x="3593182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b="0" lang="en-US" sz="1800" u="none" strike="noStrike">
                <a:solidFill>
                  <a:srgbClr val="000000"/>
                </a:solidFill>
              </a:rPr>
              <a:t>Data Type, Variable, Expression, and Assignment</a:t>
            </a:r>
            <a:endParaRPr sz="2000"/>
          </a:p>
        </p:txBody>
      </p:sp>
      <p:sp>
        <p:nvSpPr>
          <p:cNvPr id="286" name="Google Shape;286;p71"/>
          <p:cNvSpPr txBox="1"/>
          <p:nvPr>
            <p:ph idx="3" type="body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b="0" lang="en-US" sz="1800" u="none" strike="noStrike">
                <a:solidFill>
                  <a:srgbClr val="000000"/>
                </a:solidFill>
              </a:rPr>
              <a:t>Control Statement</a:t>
            </a:r>
            <a:endParaRPr sz="2000"/>
          </a:p>
        </p:txBody>
      </p:sp>
      <p:sp>
        <p:nvSpPr>
          <p:cNvPr id="287" name="Google Shape;287;p71"/>
          <p:cNvSpPr txBox="1"/>
          <p:nvPr>
            <p:ph idx="4" type="body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b="0" lang="en-US" sz="1800" u="none" strike="noStrike">
                <a:solidFill>
                  <a:srgbClr val="000000"/>
                </a:solidFill>
              </a:rPr>
              <a:t>Function and Parameter</a:t>
            </a:r>
            <a:endParaRPr sz="2000"/>
          </a:p>
        </p:txBody>
      </p:sp>
      <p:sp>
        <p:nvSpPr>
          <p:cNvPr id="288" name="Google Shape;288;p71"/>
          <p:cNvSpPr txBox="1"/>
          <p:nvPr>
            <p:ph idx="5" type="body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b="0" i="1" lang="en-US" sz="1800" u="none" strike="noStrike">
                <a:solidFill>
                  <a:srgbClr val="000000"/>
                </a:solidFill>
              </a:rPr>
              <a:t>Encapsulation (Concept)</a:t>
            </a:r>
            <a:endParaRPr i="1" sz="2000"/>
          </a:p>
        </p:txBody>
      </p:sp>
      <p:sp>
        <p:nvSpPr>
          <p:cNvPr id="289" name="Google Shape;289;p71"/>
          <p:cNvSpPr txBox="1"/>
          <p:nvPr>
            <p:ph idx="6" type="body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b="0" i="1" lang="en-US" sz="1800" u="none" strike="noStrike">
                <a:solidFill>
                  <a:srgbClr val="000000"/>
                </a:solidFill>
              </a:rPr>
              <a:t> Implementation Encapsulations In Case Study</a:t>
            </a:r>
            <a:endParaRPr i="1" sz="1900"/>
          </a:p>
        </p:txBody>
      </p:sp>
      <p:sp>
        <p:nvSpPr>
          <p:cNvPr id="290" name="Google Shape;290;p71"/>
          <p:cNvSpPr txBox="1"/>
          <p:nvPr>
            <p:ph idx="7" type="body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b="0" i="1" lang="en-US" sz="1800" u="none" strike="noStrike">
                <a:solidFill>
                  <a:srgbClr val="000000"/>
                </a:solidFill>
              </a:rPr>
              <a:t>Pointer and Memory Management</a:t>
            </a:r>
            <a:endParaRPr i="1" sz="1900"/>
          </a:p>
        </p:txBody>
      </p:sp>
      <p:sp>
        <p:nvSpPr>
          <p:cNvPr id="291" name="Google Shape;291;p71"/>
          <p:cNvSpPr/>
          <p:nvPr/>
        </p:nvSpPr>
        <p:spPr>
          <a:xfrm>
            <a:off x="655983" y="1867301"/>
            <a:ext cx="2531165" cy="1588168"/>
          </a:xfrm>
          <a:prstGeom prst="rect">
            <a:avLst/>
          </a:prstGeom>
          <a:noFill/>
          <a:ln cap="flat" cmpd="sng" w="57150">
            <a:solidFill>
              <a:srgbClr val="0E60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"/>
          <p:cNvSpPr txBox="1"/>
          <p:nvPr>
            <p:ph idx="1" type="body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>
                <a:solidFill>
                  <a:schemeClr val="dk1"/>
                </a:solidFill>
              </a:rPr>
              <a:t>Inheritance Basic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7" name="Google Shape;297;p4"/>
          <p:cNvSpPr txBox="1"/>
          <p:nvPr>
            <p:ph idx="3" type="body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>
                <a:solidFill>
                  <a:schemeClr val="dk1"/>
                </a:solidFill>
              </a:rPr>
              <a:t>Polymorphism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8" name="Google Shape;298;p4"/>
          <p:cNvSpPr txBox="1"/>
          <p:nvPr>
            <p:ph idx="4" type="body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>
                <a:solidFill>
                  <a:schemeClr val="dk1"/>
                </a:solidFill>
              </a:rPr>
              <a:t>Exception Handling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9" name="Google Shape;299;p4"/>
          <p:cNvSpPr txBox="1"/>
          <p:nvPr>
            <p:ph idx="5" type="body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>
                <a:solidFill>
                  <a:schemeClr val="dk1"/>
                </a:solidFill>
              </a:rPr>
              <a:t>Standard Template Library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0" name="Google Shape;300;p4"/>
          <p:cNvSpPr txBox="1"/>
          <p:nvPr>
            <p:ph idx="6" type="body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>
                <a:solidFill>
                  <a:schemeClr val="dk1"/>
                </a:solidFill>
              </a:rPr>
              <a:t>Class Presentation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1" name="Google Shape;301;p4"/>
          <p:cNvSpPr txBox="1"/>
          <p:nvPr>
            <p:ph idx="7" type="body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>
                <a:solidFill>
                  <a:schemeClr val="dk1"/>
                </a:solidFill>
              </a:rPr>
              <a:t>Class Presentation and Cource Review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2" name="Google Shape;302;p4"/>
          <p:cNvSpPr txBox="1"/>
          <p:nvPr>
            <p:ph idx="2" type="body"/>
          </p:nvPr>
        </p:nvSpPr>
        <p:spPr>
          <a:xfrm>
            <a:off x="3560766" y="2394949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>
                <a:solidFill>
                  <a:schemeClr val="dk1"/>
                </a:solidFill>
              </a:rPr>
              <a:t>Inheritance Details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>
                <a:solidFill>
                  <a:schemeClr val="dk1"/>
                </a:solidFill>
              </a:rPr>
              <a:t>(Case Study)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72"/>
          <p:cNvSpPr txBox="1"/>
          <p:nvPr>
            <p:ph idx="1" type="body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1629"/>
              </a:buClr>
              <a:buSzPts val="2200"/>
              <a:buNone/>
            </a:pPr>
            <a:r>
              <a:rPr b="1" lang="en-US"/>
              <a:t>Setelah mempelajari materi pada pertemuan ini, diharapkan mahasiswa :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</a:pPr>
            <a:r>
              <a:rPr lang="en-US"/>
              <a:t>Mampu memahami konsep pemrograman berorientasi objek 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Font typeface="Twentieth Century"/>
              <a:buAutoNum type="arabicPeriod"/>
            </a:pPr>
            <a:r>
              <a:rPr lang="en-US"/>
              <a:t>Mampu mendeskripsikan prinsip dasar pemrograman berorientasi objek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</a:pPr>
            <a:r>
              <a:rPr lang="en-US"/>
              <a:t>Mampu mendeskripsikan karakteristik dan fitur-fitur pemrograman berorientasi objek</a:t>
            </a:r>
            <a:endParaRPr/>
          </a:p>
          <a:p>
            <a:pPr indent="0" lvl="1" marL="4572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73"/>
          <p:cNvSpPr/>
          <p:nvPr/>
        </p:nvSpPr>
        <p:spPr>
          <a:xfrm>
            <a:off x="7255565" y="2120790"/>
            <a:ext cx="4022035" cy="3298703"/>
          </a:xfrm>
          <a:prstGeom prst="rect">
            <a:avLst/>
          </a:prstGeom>
          <a:solidFill>
            <a:srgbClr val="CDE5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3" name="Google Shape;313;p73"/>
          <p:cNvSpPr txBox="1"/>
          <p:nvPr>
            <p:ph idx="1" type="body"/>
          </p:nvPr>
        </p:nvSpPr>
        <p:spPr>
          <a:xfrm>
            <a:off x="914400" y="2120791"/>
            <a:ext cx="5902036" cy="3985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3200">
                <a:solidFill>
                  <a:schemeClr val="dk1"/>
                </a:solidFill>
              </a:rPr>
              <a:t>Java</a:t>
            </a:r>
            <a:r>
              <a:rPr lang="en-US" sz="2400">
                <a:solidFill>
                  <a:schemeClr val="dk1"/>
                </a:solidFill>
              </a:rPr>
              <a:t> merupakan Bahasa pemrograman yang paling popular pada pemrograman multiplatform. Sebuah </a:t>
            </a:r>
            <a:r>
              <a:rPr b="1" lang="en-US" sz="2400">
                <a:solidFill>
                  <a:schemeClr val="dk1"/>
                </a:solidFill>
              </a:rPr>
              <a:t>byte code </a:t>
            </a:r>
            <a:r>
              <a:rPr lang="en-US" sz="2400">
                <a:solidFill>
                  <a:schemeClr val="dk1"/>
                </a:solidFill>
              </a:rPr>
              <a:t>Java dapat dijalankan di system operasi manapun. Sepanjang system tersebut sudah memiliki </a:t>
            </a:r>
            <a:r>
              <a:rPr b="1" lang="en-US" sz="2400">
                <a:solidFill>
                  <a:schemeClr val="accent3"/>
                </a:solidFill>
              </a:rPr>
              <a:t>Java Virtual Machine (JVM)</a:t>
            </a:r>
            <a:r>
              <a:rPr lang="en-US" sz="2400">
                <a:solidFill>
                  <a:schemeClr val="dk1"/>
                </a:solidFill>
              </a:rPr>
              <a:t> yang disertakan oleh Java SDK (bisa di download secara gratis)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descr="Blog | Payara | NetBeans" id="314" name="Google Shape;31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2429" y="3169976"/>
            <a:ext cx="3629025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4"/>
          <p:cNvSpPr txBox="1"/>
          <p:nvPr>
            <p:ph type="ctrTitle"/>
          </p:nvPr>
        </p:nvSpPr>
        <p:spPr>
          <a:xfrm>
            <a:off x="5713091" y="2274700"/>
            <a:ext cx="5529197" cy="27879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/>
              <a:buNone/>
            </a:pPr>
            <a:r>
              <a:rPr i="0" lang="en-US" sz="6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PEMROGRAMAN BERORIENTASI OBJEK</a:t>
            </a:r>
            <a:endParaRPr i="0" sz="48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7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861" l="0" r="0" t="4861"/>
          <a:stretch/>
        </p:blipFill>
        <p:spPr>
          <a:xfrm>
            <a:off x="0" y="499621"/>
            <a:ext cx="5316718" cy="5856730"/>
          </a:xfrm>
          <a:prstGeom prst="flowChartDelay">
            <a:avLst/>
          </a:prstGeom>
          <a:noFill/>
          <a:ln>
            <a:noFill/>
          </a:ln>
        </p:spPr>
      </p:pic>
      <p:sp>
        <p:nvSpPr>
          <p:cNvPr id="321" name="Google Shape;321;p74"/>
          <p:cNvSpPr/>
          <p:nvPr/>
        </p:nvSpPr>
        <p:spPr>
          <a:xfrm>
            <a:off x="0" y="107728"/>
            <a:ext cx="65" cy="24174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"/>
          <p:cNvSpPr txBox="1"/>
          <p:nvPr>
            <p:ph idx="1" type="body"/>
          </p:nvPr>
        </p:nvSpPr>
        <p:spPr>
          <a:xfrm>
            <a:off x="6428678" y="2638701"/>
            <a:ext cx="4953000" cy="294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68288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Pemrograman Berorientasi Objek (Object Oriented Programming/OOP) merupakan pemrograman yang berorientasikan kepada objek, dimana semua data dan fungsi dibungkus dalam class-class atau object-object.</a:t>
            </a:r>
            <a:endParaRPr/>
          </a:p>
        </p:txBody>
      </p:sp>
      <p:sp>
        <p:nvSpPr>
          <p:cNvPr id="327" name="Google Shape;327;p8"/>
          <p:cNvSpPr txBox="1"/>
          <p:nvPr>
            <p:ph type="title"/>
          </p:nvPr>
        </p:nvSpPr>
        <p:spPr>
          <a:xfrm>
            <a:off x="1490133" y="962014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/>
              <a:t>PEMROGRAMAN BERORIENTASI OBJEK</a:t>
            </a:r>
            <a:endParaRPr/>
          </a:p>
        </p:txBody>
      </p:sp>
      <p:pic>
        <p:nvPicPr>
          <p:cNvPr descr="Why Object-Oriented Programming Matters - Apollo Technical LLC" id="328" name="Google Shape;3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322" y="2075521"/>
            <a:ext cx="5285678" cy="4067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"/>
          <p:cNvSpPr txBox="1"/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/>
              <a:t>PEMROGRAMAN BERORIENTASI OBJEK</a:t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3851661" y="1592623"/>
            <a:ext cx="3857084" cy="999820"/>
          </a:xfrm>
          <a:prstGeom prst="rect">
            <a:avLst/>
          </a:prstGeom>
          <a:gradFill>
            <a:gsLst>
              <a:gs pos="0">
                <a:srgbClr val="76C0FF"/>
              </a:gs>
              <a:gs pos="100000">
                <a:srgbClr val="96DDFF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PBO</a:t>
            </a:r>
            <a:endParaRPr/>
          </a:p>
        </p:txBody>
      </p:sp>
      <p:pic>
        <p:nvPicPr>
          <p:cNvPr descr="Selamat Datang di SMK Taruna Bangsa" id="335" name="Google Shape;3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428" y="3976438"/>
            <a:ext cx="2266950" cy="109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7253" y="3927937"/>
            <a:ext cx="2012950" cy="1062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4078" y="3832716"/>
            <a:ext cx="1063625" cy="144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78" y="3892162"/>
            <a:ext cx="127635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41803" y="3665149"/>
            <a:ext cx="1722438" cy="1720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p9"/>
          <p:cNvCxnSpPr>
            <a:endCxn id="335" idx="0"/>
          </p:cNvCxnSpPr>
          <p:nvPr/>
        </p:nvCxnSpPr>
        <p:spPr>
          <a:xfrm flipH="1">
            <a:off x="1959903" y="2592538"/>
            <a:ext cx="3820200" cy="1383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41" name="Google Shape;341;p9"/>
          <p:cNvCxnSpPr>
            <a:stCxn id="334" idx="2"/>
            <a:endCxn id="336" idx="0"/>
          </p:cNvCxnSpPr>
          <p:nvPr/>
        </p:nvCxnSpPr>
        <p:spPr>
          <a:xfrm flipH="1">
            <a:off x="4773703" y="2592443"/>
            <a:ext cx="1006500" cy="1335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42" name="Google Shape;342;p9"/>
          <p:cNvCxnSpPr>
            <a:stCxn id="334" idx="2"/>
          </p:cNvCxnSpPr>
          <p:nvPr/>
        </p:nvCxnSpPr>
        <p:spPr>
          <a:xfrm>
            <a:off x="5780203" y="2592443"/>
            <a:ext cx="1215600" cy="1299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43" name="Google Shape;343;p9"/>
          <p:cNvCxnSpPr>
            <a:endCxn id="338" idx="0"/>
          </p:cNvCxnSpPr>
          <p:nvPr/>
        </p:nvCxnSpPr>
        <p:spPr>
          <a:xfrm>
            <a:off x="5698053" y="2592562"/>
            <a:ext cx="3131700" cy="1299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44" name="Google Shape;344;p9"/>
          <p:cNvCxnSpPr/>
          <p:nvPr/>
        </p:nvCxnSpPr>
        <p:spPr>
          <a:xfrm>
            <a:off x="5780203" y="2586518"/>
            <a:ext cx="4895967" cy="1198328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5"/>
          <p:cNvSpPr txBox="1"/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/>
              <a:t>PEMROGRAMAN PROSEDURAL</a:t>
            </a:r>
            <a:endParaRPr/>
          </a:p>
        </p:txBody>
      </p:sp>
      <p:sp>
        <p:nvSpPr>
          <p:cNvPr id="350" name="Google Shape;350;p75"/>
          <p:cNvSpPr txBox="1"/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1" name="Google Shape;351;p75"/>
          <p:cNvSpPr txBox="1"/>
          <p:nvPr/>
        </p:nvSpPr>
        <p:spPr>
          <a:xfrm>
            <a:off x="821568" y="1523806"/>
            <a:ext cx="10515600" cy="1493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Metode pemrograman yang berorientasi pada pembentukan fungsi. Satu fungsi digunakan untuk menyelesaikan satu tugas tertentu. Fungsi-fungsi yang berkaitan biasanya  akan dikelompokkan dan ditulis menjadi satu modul khusu, yang terpisah dari file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source code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utama.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2" name="Google Shape;352;p75"/>
          <p:cNvSpPr/>
          <p:nvPr/>
        </p:nvSpPr>
        <p:spPr>
          <a:xfrm>
            <a:off x="1676400" y="4438383"/>
            <a:ext cx="1950720" cy="47244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75"/>
          <p:cNvSpPr/>
          <p:nvPr/>
        </p:nvSpPr>
        <p:spPr>
          <a:xfrm>
            <a:off x="4999416" y="3369850"/>
            <a:ext cx="2392680" cy="47244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Fungsi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75"/>
          <p:cNvSpPr/>
          <p:nvPr/>
        </p:nvSpPr>
        <p:spPr>
          <a:xfrm>
            <a:off x="5022276" y="4202163"/>
            <a:ext cx="2392680" cy="47244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Fungsi 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75"/>
          <p:cNvSpPr/>
          <p:nvPr/>
        </p:nvSpPr>
        <p:spPr>
          <a:xfrm>
            <a:off x="5044440" y="5027151"/>
            <a:ext cx="2392680" cy="47244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75"/>
          <p:cNvSpPr/>
          <p:nvPr/>
        </p:nvSpPr>
        <p:spPr>
          <a:xfrm>
            <a:off x="5044440" y="5834140"/>
            <a:ext cx="2370516" cy="47244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 Utama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p75"/>
          <p:cNvCxnSpPr/>
          <p:nvPr/>
        </p:nvCxnSpPr>
        <p:spPr>
          <a:xfrm>
            <a:off x="3627120" y="4674603"/>
            <a:ext cx="640080" cy="0"/>
          </a:xfrm>
          <a:prstGeom prst="straightConnector1">
            <a:avLst/>
          </a:prstGeom>
          <a:noFill/>
          <a:ln cap="flat" cmpd="sng" w="9525">
            <a:solidFill>
              <a:srgbClr val="EE6D1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75"/>
          <p:cNvCxnSpPr/>
          <p:nvPr/>
        </p:nvCxnSpPr>
        <p:spPr>
          <a:xfrm>
            <a:off x="4267200" y="3483429"/>
            <a:ext cx="0" cy="2586931"/>
          </a:xfrm>
          <a:prstGeom prst="straightConnector1">
            <a:avLst/>
          </a:prstGeom>
          <a:noFill/>
          <a:ln cap="flat" cmpd="sng" w="9525">
            <a:solidFill>
              <a:srgbClr val="EE6D1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75"/>
          <p:cNvCxnSpPr/>
          <p:nvPr/>
        </p:nvCxnSpPr>
        <p:spPr>
          <a:xfrm>
            <a:off x="4267200" y="3458871"/>
            <a:ext cx="732216" cy="0"/>
          </a:xfrm>
          <a:prstGeom prst="straightConnector1">
            <a:avLst/>
          </a:prstGeom>
          <a:noFill/>
          <a:ln cap="flat" cmpd="sng" w="9525">
            <a:solidFill>
              <a:srgbClr val="EE6D1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75"/>
          <p:cNvCxnSpPr/>
          <p:nvPr/>
        </p:nvCxnSpPr>
        <p:spPr>
          <a:xfrm>
            <a:off x="4267200" y="4451562"/>
            <a:ext cx="732216" cy="0"/>
          </a:xfrm>
          <a:prstGeom prst="straightConnector1">
            <a:avLst/>
          </a:prstGeom>
          <a:noFill/>
          <a:ln cap="flat" cmpd="sng" w="9525">
            <a:solidFill>
              <a:srgbClr val="EE6D1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75"/>
          <p:cNvCxnSpPr/>
          <p:nvPr/>
        </p:nvCxnSpPr>
        <p:spPr>
          <a:xfrm>
            <a:off x="4290060" y="5261310"/>
            <a:ext cx="732216" cy="0"/>
          </a:xfrm>
          <a:prstGeom prst="straightConnector1">
            <a:avLst/>
          </a:prstGeom>
          <a:noFill/>
          <a:ln cap="flat" cmpd="sng" w="9525">
            <a:solidFill>
              <a:srgbClr val="EE6D1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75"/>
          <p:cNvCxnSpPr/>
          <p:nvPr/>
        </p:nvCxnSpPr>
        <p:spPr>
          <a:xfrm>
            <a:off x="4267200" y="6070360"/>
            <a:ext cx="732216" cy="0"/>
          </a:xfrm>
          <a:prstGeom prst="straightConnector1">
            <a:avLst/>
          </a:prstGeom>
          <a:noFill/>
          <a:ln cap="flat" cmpd="sng" w="9525">
            <a:solidFill>
              <a:srgbClr val="EE6D1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76"/>
          <p:cNvSpPr txBox="1"/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/>
              <a:t>PEMROGRAMAN BERORIENTASI OBJEK</a:t>
            </a:r>
            <a:endParaRPr/>
          </a:p>
        </p:txBody>
      </p:sp>
      <p:sp>
        <p:nvSpPr>
          <p:cNvPr id="368" name="Google Shape;368;p76"/>
          <p:cNvSpPr txBox="1"/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9" name="Google Shape;369;p76"/>
          <p:cNvSpPr txBox="1"/>
          <p:nvPr/>
        </p:nvSpPr>
        <p:spPr>
          <a:xfrm>
            <a:off x="821568" y="1523806"/>
            <a:ext cx="10515600" cy="1493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Program tersusun dari kumpulan kelas. Satu kelas digunakan untuk memodelkan objek tertentu. Untuk keperluan Modularisasi kode program, kita dapat menyimpan beberapa kelas yang saling berkaitan ke dalam modul terpisah.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0" name="Google Shape;370;p76"/>
          <p:cNvSpPr/>
          <p:nvPr/>
        </p:nvSpPr>
        <p:spPr>
          <a:xfrm>
            <a:off x="1676400" y="4438383"/>
            <a:ext cx="1950720" cy="47244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76"/>
          <p:cNvSpPr/>
          <p:nvPr/>
        </p:nvSpPr>
        <p:spPr>
          <a:xfrm>
            <a:off x="4999416" y="3369850"/>
            <a:ext cx="2392680" cy="47244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Kelas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76"/>
          <p:cNvSpPr/>
          <p:nvPr/>
        </p:nvSpPr>
        <p:spPr>
          <a:xfrm>
            <a:off x="5022276" y="4202163"/>
            <a:ext cx="2392680" cy="47244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Kelas 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76"/>
          <p:cNvSpPr/>
          <p:nvPr/>
        </p:nvSpPr>
        <p:spPr>
          <a:xfrm>
            <a:off x="5044440" y="5027151"/>
            <a:ext cx="2392680" cy="47244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76"/>
          <p:cNvSpPr/>
          <p:nvPr/>
        </p:nvSpPr>
        <p:spPr>
          <a:xfrm>
            <a:off x="5044440" y="5834140"/>
            <a:ext cx="2370516" cy="47244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 Utama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p76"/>
          <p:cNvCxnSpPr/>
          <p:nvPr/>
        </p:nvCxnSpPr>
        <p:spPr>
          <a:xfrm>
            <a:off x="3627120" y="4674603"/>
            <a:ext cx="640080" cy="0"/>
          </a:xfrm>
          <a:prstGeom prst="straightConnector1">
            <a:avLst/>
          </a:prstGeom>
          <a:noFill/>
          <a:ln cap="flat" cmpd="sng" w="9525">
            <a:solidFill>
              <a:srgbClr val="EE6D1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76"/>
          <p:cNvCxnSpPr/>
          <p:nvPr/>
        </p:nvCxnSpPr>
        <p:spPr>
          <a:xfrm>
            <a:off x="4267200" y="3483429"/>
            <a:ext cx="0" cy="2586931"/>
          </a:xfrm>
          <a:prstGeom prst="straightConnector1">
            <a:avLst/>
          </a:prstGeom>
          <a:noFill/>
          <a:ln cap="flat" cmpd="sng" w="9525">
            <a:solidFill>
              <a:srgbClr val="EE6D1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76"/>
          <p:cNvCxnSpPr/>
          <p:nvPr/>
        </p:nvCxnSpPr>
        <p:spPr>
          <a:xfrm>
            <a:off x="4267200" y="3458871"/>
            <a:ext cx="732216" cy="0"/>
          </a:xfrm>
          <a:prstGeom prst="straightConnector1">
            <a:avLst/>
          </a:prstGeom>
          <a:noFill/>
          <a:ln cap="flat" cmpd="sng" w="9525">
            <a:solidFill>
              <a:srgbClr val="EE6D1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76"/>
          <p:cNvCxnSpPr/>
          <p:nvPr/>
        </p:nvCxnSpPr>
        <p:spPr>
          <a:xfrm>
            <a:off x="4267200" y="4451562"/>
            <a:ext cx="732216" cy="0"/>
          </a:xfrm>
          <a:prstGeom prst="straightConnector1">
            <a:avLst/>
          </a:prstGeom>
          <a:noFill/>
          <a:ln cap="flat" cmpd="sng" w="9525">
            <a:solidFill>
              <a:srgbClr val="EE6D1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76"/>
          <p:cNvCxnSpPr/>
          <p:nvPr/>
        </p:nvCxnSpPr>
        <p:spPr>
          <a:xfrm>
            <a:off x="4290060" y="5261310"/>
            <a:ext cx="732216" cy="0"/>
          </a:xfrm>
          <a:prstGeom prst="straightConnector1">
            <a:avLst/>
          </a:prstGeom>
          <a:noFill/>
          <a:ln cap="flat" cmpd="sng" w="9525">
            <a:solidFill>
              <a:srgbClr val="EE6D1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76"/>
          <p:cNvCxnSpPr/>
          <p:nvPr/>
        </p:nvCxnSpPr>
        <p:spPr>
          <a:xfrm>
            <a:off x="4267200" y="6070360"/>
            <a:ext cx="732216" cy="0"/>
          </a:xfrm>
          <a:prstGeom prst="straightConnector1">
            <a:avLst/>
          </a:prstGeom>
          <a:noFill/>
          <a:ln cap="flat" cmpd="sng" w="9525">
            <a:solidFill>
              <a:srgbClr val="EE6D1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7"/>
          <p:cNvSpPr/>
          <p:nvPr/>
        </p:nvSpPr>
        <p:spPr>
          <a:xfrm>
            <a:off x="75075" y="61950"/>
            <a:ext cx="2022000" cy="80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7" name="Google Shape;387;p77"/>
          <p:cNvSpPr txBox="1"/>
          <p:nvPr>
            <p:ph idx="4294967295" type="title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/>
              <a:t>PEMROGRAMAN BERORIENTASI OBJEK</a:t>
            </a:r>
            <a:endParaRPr/>
          </a:p>
        </p:txBody>
      </p:sp>
      <p:sp>
        <p:nvSpPr>
          <p:cNvPr id="388" name="Google Shape;388;p77"/>
          <p:cNvSpPr txBox="1"/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9" name="Google Shape;389;p77"/>
          <p:cNvSpPr txBox="1"/>
          <p:nvPr/>
        </p:nvSpPr>
        <p:spPr>
          <a:xfrm>
            <a:off x="821568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Kelas merupakan model atau abstraksi yang merepresentasikan objek-objek yang ada didunia nyata. Dengan demikian, kelas juga dapat didefinisikan sebagai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kerangka atau cetak biru(blueprint) dari suatu objek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tertentu.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Proses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pembentukan kelas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 dalam pemrograman adalah </a:t>
            </a:r>
            <a:r>
              <a:rPr b="0" i="0" lang="en-US" sz="2400" u="none" cap="none" strike="noStrike">
                <a:solidFill>
                  <a:srgbClr val="0070C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memodelkan data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dan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kemampuan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dari suatu objek ke dalam bentuk kode.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Kelas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adalah tipe data bentukan. Contoh/ wujud nyata dari suatu kelas disebut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instance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(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objek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),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78"/>
          <p:cNvSpPr txBox="1"/>
          <p:nvPr>
            <p:ph type="ctrTitle"/>
          </p:nvPr>
        </p:nvSpPr>
        <p:spPr>
          <a:xfrm>
            <a:off x="2497872" y="824827"/>
            <a:ext cx="8742555" cy="6077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</a:pPr>
            <a:r>
              <a:rPr lang="en-US"/>
              <a:t>PRINSIP DASAR DALAM </a:t>
            </a:r>
            <a:br>
              <a:rPr lang="en-US"/>
            </a:br>
            <a:r>
              <a:rPr lang="en-US"/>
              <a:t>PEMROGRAMAN BERORIENTASI OBJEK </a:t>
            </a:r>
            <a:endParaRPr/>
          </a:p>
        </p:txBody>
      </p:sp>
      <p:pic>
        <p:nvPicPr>
          <p:cNvPr id="395" name="Google Shape;395;p7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5496" l="0" r="0" t="25496"/>
          <a:stretch/>
        </p:blipFill>
        <p:spPr>
          <a:xfrm>
            <a:off x="911225" y="2828925"/>
            <a:ext cx="10329863" cy="3376613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78"/>
          <p:cNvSpPr/>
          <p:nvPr/>
        </p:nvSpPr>
        <p:spPr>
          <a:xfrm>
            <a:off x="433101" y="2573731"/>
            <a:ext cx="2408664" cy="1390733"/>
          </a:xfrm>
          <a:prstGeom prst="rect">
            <a:avLst/>
          </a:prstGeom>
          <a:solidFill>
            <a:srgbClr val="CDE5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7" name="Google Shape;397;p78"/>
          <p:cNvSpPr txBox="1"/>
          <p:nvPr/>
        </p:nvSpPr>
        <p:spPr>
          <a:xfrm>
            <a:off x="511591" y="2568099"/>
            <a:ext cx="2330174" cy="124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Konsep penggabungan atribut dan metode ke dalam suatu entitas tunggal yang disebut kelas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8" name="Google Shape;398;p78"/>
          <p:cNvSpPr/>
          <p:nvPr/>
        </p:nvSpPr>
        <p:spPr>
          <a:xfrm>
            <a:off x="3208675" y="2540573"/>
            <a:ext cx="2470160" cy="1823782"/>
          </a:xfrm>
          <a:prstGeom prst="rect">
            <a:avLst/>
          </a:prstGeom>
          <a:solidFill>
            <a:srgbClr val="CDE5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9" name="Google Shape;399;p78"/>
          <p:cNvSpPr txBox="1"/>
          <p:nvPr/>
        </p:nvSpPr>
        <p:spPr>
          <a:xfrm>
            <a:off x="3199118" y="2540573"/>
            <a:ext cx="2479717" cy="151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sebuah program untuk melewati aspek informasi yang diproses olehnya, yaitu kemampuan untuk memfokus pada inti. 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0" name="Google Shape;400;p78"/>
          <p:cNvSpPr/>
          <p:nvPr/>
        </p:nvSpPr>
        <p:spPr>
          <a:xfrm>
            <a:off x="9065474" y="2470326"/>
            <a:ext cx="2431513" cy="2946416"/>
          </a:xfrm>
          <a:prstGeom prst="rect">
            <a:avLst/>
          </a:prstGeom>
          <a:solidFill>
            <a:srgbClr val="CDE5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1" name="Google Shape;401;p78"/>
          <p:cNvSpPr txBox="1"/>
          <p:nvPr/>
        </p:nvSpPr>
        <p:spPr>
          <a:xfrm>
            <a:off x="9220556" y="2517753"/>
            <a:ext cx="2139417" cy="1131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Kejadian dimana suatu objek yang dapat melakukan pekerjaan yang berbeda menggunakan satu cara yang sama, dapat terjadi Ketika memilki hirarki kelas tertentu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2" name="Google Shape;402;p78"/>
          <p:cNvSpPr/>
          <p:nvPr/>
        </p:nvSpPr>
        <p:spPr>
          <a:xfrm>
            <a:off x="433101" y="1960368"/>
            <a:ext cx="2408664" cy="607731"/>
          </a:xfrm>
          <a:prstGeom prst="rect">
            <a:avLst/>
          </a:prstGeom>
          <a:solidFill>
            <a:srgbClr val="00B0F0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Pembungkusan (Encapsulation)</a:t>
            </a:r>
            <a:endParaRPr b="1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3" name="Google Shape;403;p78"/>
          <p:cNvSpPr/>
          <p:nvPr/>
        </p:nvSpPr>
        <p:spPr>
          <a:xfrm>
            <a:off x="3208675" y="1960368"/>
            <a:ext cx="2470160" cy="533279"/>
          </a:xfrm>
          <a:prstGeom prst="rect">
            <a:avLst/>
          </a:prstGeom>
          <a:solidFill>
            <a:srgbClr val="00B0F0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Abstraction</a:t>
            </a:r>
            <a:endParaRPr b="1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4" name="Google Shape;404;p78"/>
          <p:cNvSpPr/>
          <p:nvPr/>
        </p:nvSpPr>
        <p:spPr>
          <a:xfrm>
            <a:off x="9065474" y="1960369"/>
            <a:ext cx="2408664" cy="533278"/>
          </a:xfrm>
          <a:prstGeom prst="rect">
            <a:avLst/>
          </a:prstGeom>
          <a:solidFill>
            <a:srgbClr val="00B0F0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Polimorfisme (Polymorphism)</a:t>
            </a:r>
            <a:endParaRPr b="1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5" name="Google Shape;405;p78"/>
          <p:cNvSpPr/>
          <p:nvPr/>
        </p:nvSpPr>
        <p:spPr>
          <a:xfrm>
            <a:off x="6177340" y="2540573"/>
            <a:ext cx="2470160" cy="1640708"/>
          </a:xfrm>
          <a:prstGeom prst="rect">
            <a:avLst/>
          </a:prstGeom>
          <a:solidFill>
            <a:srgbClr val="CDE5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6" name="Google Shape;406;p78"/>
          <p:cNvSpPr txBox="1"/>
          <p:nvPr/>
        </p:nvSpPr>
        <p:spPr>
          <a:xfrm>
            <a:off x="6167783" y="2540573"/>
            <a:ext cx="2479717" cy="151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Proses pembentukan kelas baru yang diturunkan dari kelas-kelas lain yang sebelumnya sudah ada.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7" name="Google Shape;407;p78"/>
          <p:cNvSpPr/>
          <p:nvPr/>
        </p:nvSpPr>
        <p:spPr>
          <a:xfrm>
            <a:off x="6177340" y="1960368"/>
            <a:ext cx="2470160" cy="533279"/>
          </a:xfrm>
          <a:prstGeom prst="rect">
            <a:avLst/>
          </a:prstGeom>
          <a:solidFill>
            <a:srgbClr val="00B0F0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Pewarisan (Inheritance)</a:t>
            </a:r>
            <a:endParaRPr b="1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0"/>
          <p:cNvSpPr txBox="1"/>
          <p:nvPr>
            <p:ph type="title"/>
          </p:nvPr>
        </p:nvSpPr>
        <p:spPr>
          <a:xfrm>
            <a:off x="2390562" y="884107"/>
            <a:ext cx="7410875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/>
              <a:t>PEMROGRAMAN JAVA </a:t>
            </a:r>
            <a:endParaRPr/>
          </a:p>
        </p:txBody>
      </p:sp>
      <p:sp>
        <p:nvSpPr>
          <p:cNvPr id="413" name="Google Shape;413;p10"/>
          <p:cNvSpPr txBox="1"/>
          <p:nvPr>
            <p:ph idx="1" type="body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89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b="1" lang="en-US" sz="2800"/>
              <a:t>Java</a:t>
            </a:r>
            <a:r>
              <a:rPr lang="en-US" sz="2800"/>
              <a:t> adalah bahasa pemrograman berorientasi objek yang dapat dijalankan pada </a:t>
            </a:r>
            <a:r>
              <a:rPr i="1" lang="en-US" sz="2800"/>
              <a:t>platform</a:t>
            </a:r>
            <a:r>
              <a:rPr lang="en-US" sz="2800"/>
              <a:t> sistem operasi. Perkembangan Java tidak hanya terfokus pada satu sistem operasi, tetapi dikembangkan untuk berbagai sistem operasi dan bersifat </a:t>
            </a:r>
            <a:r>
              <a:rPr i="1" lang="en-US" sz="2800"/>
              <a:t>open source</a:t>
            </a:r>
            <a:r>
              <a:rPr lang="en-US" sz="2800"/>
              <a:t>.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79"/>
          <p:cNvSpPr txBox="1"/>
          <p:nvPr>
            <p:ph type="title"/>
          </p:nvPr>
        </p:nvSpPr>
        <p:spPr>
          <a:xfrm>
            <a:off x="2390562" y="884107"/>
            <a:ext cx="7410875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/>
              <a:t>PEMROGRAMAN JAVA </a:t>
            </a:r>
            <a:endParaRPr/>
          </a:p>
        </p:txBody>
      </p:sp>
      <p:sp>
        <p:nvSpPr>
          <p:cNvPr id="419" name="Google Shape;419;p79"/>
          <p:cNvSpPr/>
          <p:nvPr/>
        </p:nvSpPr>
        <p:spPr>
          <a:xfrm>
            <a:off x="3471748" y="5646009"/>
            <a:ext cx="4909247" cy="655768"/>
          </a:xfrm>
          <a:prstGeom prst="rect">
            <a:avLst/>
          </a:prstGeom>
          <a:gradFill>
            <a:gsLst>
              <a:gs pos="0">
                <a:srgbClr val="FFCA99"/>
              </a:gs>
              <a:gs pos="35000">
                <a:srgbClr val="FFD7B6"/>
              </a:gs>
              <a:gs pos="100000">
                <a:srgbClr val="FFECDE"/>
              </a:gs>
            </a:gsLst>
            <a:lin ang="16200000" scaled="0"/>
          </a:gradFill>
          <a:ln cap="flat" cmpd="sng" w="9525">
            <a:solidFill>
              <a:srgbClr val="F2A5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OOP TERMS</a:t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79"/>
          <p:cNvSpPr/>
          <p:nvPr/>
        </p:nvSpPr>
        <p:spPr>
          <a:xfrm>
            <a:off x="579863" y="3502892"/>
            <a:ext cx="2844567" cy="2364777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Objek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entiti yang memiliki keadaan,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behaviour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 identitas yang tugasnya dirumuskan dalam suatu lingkup masalah dengan baik.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79"/>
          <p:cNvSpPr/>
          <p:nvPr/>
        </p:nvSpPr>
        <p:spPr>
          <a:xfrm>
            <a:off x="2666378" y="1956945"/>
            <a:ext cx="2145563" cy="1401312"/>
          </a:xfrm>
          <a:prstGeom prst="ellipse">
            <a:avLst/>
          </a:prstGeom>
          <a:solidFill>
            <a:srgbClr val="F5A977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blueprint dari sebuah objek atau cetakan untuk membuat objek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79"/>
          <p:cNvSpPr/>
          <p:nvPr/>
        </p:nvSpPr>
        <p:spPr>
          <a:xfrm>
            <a:off x="5202274" y="1877278"/>
            <a:ext cx="2215005" cy="1397019"/>
          </a:xfrm>
          <a:prstGeom prst="ellipse">
            <a:avLst/>
          </a:prstGeom>
          <a:solidFill>
            <a:srgbClr val="F5A977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Attribute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variabel yang terikat dalam suatu kelas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79"/>
          <p:cNvSpPr/>
          <p:nvPr/>
        </p:nvSpPr>
        <p:spPr>
          <a:xfrm>
            <a:off x="7827379" y="1956944"/>
            <a:ext cx="1974057" cy="1317353"/>
          </a:xfrm>
          <a:prstGeom prst="ellipse">
            <a:avLst/>
          </a:prstGeom>
          <a:solidFill>
            <a:srgbClr val="F5A977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aksi-aksi dan perilaku yang bisa dilakukan oleh suatu Objek.</a:t>
            </a:r>
            <a:endParaRPr b="1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4" name="Google Shape;424;p79"/>
          <p:cNvSpPr/>
          <p:nvPr/>
        </p:nvSpPr>
        <p:spPr>
          <a:xfrm>
            <a:off x="8624381" y="3668264"/>
            <a:ext cx="2504535" cy="1643488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Constructor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Sebuah tipe khusus dari method yang digunakan untuk membuat dan menginisialisasi sebuah objek baru</a:t>
            </a:r>
            <a:endParaRPr/>
          </a:p>
        </p:txBody>
      </p:sp>
      <p:cxnSp>
        <p:nvCxnSpPr>
          <p:cNvPr id="425" name="Google Shape;425;p79"/>
          <p:cNvCxnSpPr/>
          <p:nvPr/>
        </p:nvCxnSpPr>
        <p:spPr>
          <a:xfrm rot="10800000">
            <a:off x="3207966" y="4356076"/>
            <a:ext cx="675080" cy="106224"/>
          </a:xfrm>
          <a:prstGeom prst="straightConnector1">
            <a:avLst/>
          </a:prstGeom>
          <a:noFill/>
          <a:ln cap="flat" cmpd="sng" w="38100">
            <a:solidFill>
              <a:srgbClr val="EE6D1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6" name="Google Shape;426;p79"/>
          <p:cNvCxnSpPr/>
          <p:nvPr/>
        </p:nvCxnSpPr>
        <p:spPr>
          <a:xfrm rot="10800000">
            <a:off x="4155082" y="3216542"/>
            <a:ext cx="619640" cy="578295"/>
          </a:xfrm>
          <a:prstGeom prst="straightConnector1">
            <a:avLst/>
          </a:prstGeom>
          <a:noFill/>
          <a:ln cap="flat" cmpd="sng" w="38100">
            <a:solidFill>
              <a:srgbClr val="EE6D1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7" name="Google Shape;427;p79"/>
          <p:cNvCxnSpPr/>
          <p:nvPr/>
        </p:nvCxnSpPr>
        <p:spPr>
          <a:xfrm rot="10800000">
            <a:off x="5928089" y="3180609"/>
            <a:ext cx="72040" cy="432238"/>
          </a:xfrm>
          <a:prstGeom prst="straightConnector1">
            <a:avLst/>
          </a:prstGeom>
          <a:noFill/>
          <a:ln cap="flat" cmpd="sng" w="38100">
            <a:solidFill>
              <a:srgbClr val="EE6D1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8" name="Google Shape;428;p79"/>
          <p:cNvCxnSpPr/>
          <p:nvPr/>
        </p:nvCxnSpPr>
        <p:spPr>
          <a:xfrm flipH="1" rot="10800000">
            <a:off x="7130562" y="3046074"/>
            <a:ext cx="1103487" cy="748763"/>
          </a:xfrm>
          <a:prstGeom prst="straightConnector1">
            <a:avLst/>
          </a:prstGeom>
          <a:noFill/>
          <a:ln cap="flat" cmpd="sng" w="38100">
            <a:solidFill>
              <a:srgbClr val="EE6D1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9" name="Google Shape;429;p79"/>
          <p:cNvSpPr/>
          <p:nvPr/>
        </p:nvSpPr>
        <p:spPr>
          <a:xfrm>
            <a:off x="3883046" y="3612847"/>
            <a:ext cx="4234166" cy="1698905"/>
          </a:xfrm>
          <a:prstGeom prst="wedgeEllipseCallout">
            <a:avLst>
              <a:gd fmla="val 75024" name="adj1"/>
              <a:gd fmla="val -14483" name="adj2"/>
            </a:avLst>
          </a:prstGeom>
          <a:solidFill>
            <a:schemeClr val="accent1"/>
          </a:solidFill>
          <a:ln cap="flat" cmpd="sng" w="25400">
            <a:solidFill>
              <a:srgbClr val="AE5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Sebuah tipe khusus dari method yang digunakan untuk membuat dan menginisialisasi sebuah objek baru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2"/>
          <p:cNvSpPr txBox="1"/>
          <p:nvPr>
            <p:ph type="title"/>
          </p:nvPr>
        </p:nvSpPr>
        <p:spPr>
          <a:xfrm>
            <a:off x="743414" y="847279"/>
            <a:ext cx="10705171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/>
              <a:t>KARAKTERISTIK PEMROGRAMAN BERORIENTASI OBJEK</a:t>
            </a:r>
            <a:endParaRPr/>
          </a:p>
        </p:txBody>
      </p:sp>
      <p:sp>
        <p:nvSpPr>
          <p:cNvPr id="435" name="Google Shape;435;p12"/>
          <p:cNvSpPr txBox="1"/>
          <p:nvPr>
            <p:ph idx="1" type="body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400"/>
              <a:t>Penekanannya adalah pada data dibandingkan prosedur</a:t>
            </a:r>
            <a:endParaRPr sz="2400"/>
          </a:p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400"/>
              <a:t>Program dibagi menjadi beberapa objek.</a:t>
            </a:r>
            <a:endParaRPr/>
          </a:p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400"/>
              <a:t>Struktur data dirancang sedemikian rupa sehingga mencirikan objek.</a:t>
            </a:r>
            <a:endParaRPr/>
          </a:p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400"/>
              <a:t>Fungsi-fungsi yang beroperasi pada data suatu objek diikat bersama dalam struktur data.</a:t>
            </a:r>
            <a:endParaRPr/>
          </a:p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400"/>
              <a:t>Data disembunyikan dan tidak dapat diakses oleh fungsi eksternal.</a:t>
            </a:r>
            <a:endParaRPr/>
          </a:p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400"/>
              <a:t>Objek dapat berkomunikasi satu sama lain melalui fungsi.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80"/>
          <p:cNvSpPr txBox="1"/>
          <p:nvPr>
            <p:ph type="title"/>
          </p:nvPr>
        </p:nvSpPr>
        <p:spPr>
          <a:xfrm>
            <a:off x="743414" y="847279"/>
            <a:ext cx="10705171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/>
              <a:t>FITUR BERORIENTASI OBJEK</a:t>
            </a:r>
            <a:endParaRPr/>
          </a:p>
        </p:txBody>
      </p:sp>
      <p:sp>
        <p:nvSpPr>
          <p:cNvPr id="441" name="Google Shape;441;p80"/>
          <p:cNvSpPr txBox="1"/>
          <p:nvPr>
            <p:ph idx="1" type="body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b="1" lang="en-US" sz="2400"/>
              <a:t>Natural</a:t>
            </a:r>
            <a:r>
              <a:rPr lang="en-US" sz="2400"/>
              <a:t>: mengikuti cara berpikir manusia (manusia memandang dunianya sebagai kumpulan object yang berinteraksi)</a:t>
            </a:r>
            <a:endParaRPr/>
          </a:p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b="1" lang="en-US" sz="2400"/>
              <a:t>Abstraction</a:t>
            </a:r>
            <a:r>
              <a:rPr lang="en-US" sz="2400"/>
              <a:t>: menjelaskan makna sebuah entitas secara cepat dan mudah</a:t>
            </a:r>
            <a:endParaRPr sz="2400"/>
          </a:p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b="1" lang="en-US" sz="2400"/>
              <a:t>Encapsulation</a:t>
            </a:r>
            <a:r>
              <a:rPr lang="en-US" sz="2400"/>
              <a:t>: bundling the data (fields) and behavior (methods) together in classes</a:t>
            </a:r>
            <a:endParaRPr/>
          </a:p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b="1" lang="en-US" sz="2400"/>
              <a:t>Information</a:t>
            </a:r>
            <a:r>
              <a:rPr lang="en-US" sz="2400"/>
              <a:t> </a:t>
            </a:r>
            <a:r>
              <a:rPr b="1" lang="en-US" sz="2400"/>
              <a:t>Hiding</a:t>
            </a:r>
            <a:r>
              <a:rPr lang="en-US" sz="2400"/>
              <a:t>: dapat menyembunyikan detil yang tidak perlu</a:t>
            </a:r>
            <a:endParaRPr sz="2400"/>
          </a:p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b="1" lang="en-US" sz="2400"/>
              <a:t>Modular</a:t>
            </a:r>
            <a:r>
              <a:rPr lang="en-US" sz="2400"/>
              <a:t>: object adalah entitas yang independen</a:t>
            </a:r>
            <a:endParaRPr sz="2400"/>
          </a:p>
          <a:p>
            <a:pPr indent="-203200" lvl="0" marL="4318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oto Sans Symbols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1"/>
          <p:cNvSpPr txBox="1"/>
          <p:nvPr>
            <p:ph type="title"/>
          </p:nvPr>
        </p:nvSpPr>
        <p:spPr>
          <a:xfrm>
            <a:off x="743414" y="847279"/>
            <a:ext cx="10705171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/>
              <a:t>CLASS</a:t>
            </a:r>
            <a:endParaRPr/>
          </a:p>
        </p:txBody>
      </p:sp>
      <p:sp>
        <p:nvSpPr>
          <p:cNvPr id="447" name="Google Shape;447;p81"/>
          <p:cNvSpPr txBox="1"/>
          <p:nvPr>
            <p:ph idx="1" type="body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89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b="1" lang="en-US" sz="2400"/>
              <a:t>Class</a:t>
            </a:r>
            <a:r>
              <a:rPr lang="en-US" sz="2400"/>
              <a:t> adalah konsep fundamental lain dalam bahasa berorientasi objek yang menyediakan cetak biru / </a:t>
            </a:r>
            <a:r>
              <a:rPr i="1" lang="en-US" sz="2400"/>
              <a:t>blueprint</a:t>
            </a:r>
            <a:r>
              <a:rPr lang="en-US" sz="2400"/>
              <a:t> untuk tipe objek baru ('klasifikasi').</a:t>
            </a:r>
            <a:endParaRPr/>
          </a:p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400"/>
              <a:t>Sebuah kelas menguraikan data, fungsi dan objek antarmuka yang akan diterima kelas itu.</a:t>
            </a:r>
            <a:endParaRPr/>
          </a:p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400"/>
              <a:t>Sebuah kelas juga mendefinisikan bagaimana objek kelas tersebut berperilaku dengan menyediakan kode yang mengimplementasikan fungsi-fungsi yang terkait dengan kelas tersebut.</a:t>
            </a:r>
            <a:endParaRPr/>
          </a:p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400"/>
              <a:t>Seorang programmer dapat membuat satu atau lebih objek dari suatu kelas</a:t>
            </a:r>
            <a:endParaRPr sz="2400"/>
          </a:p>
          <a:p>
            <a:pPr indent="-3683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400"/>
              <a:t>Mirip dengan membangun banyak rumah dari satu set cetak biru</a:t>
            </a:r>
            <a:endParaRPr sz="24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82"/>
          <p:cNvSpPr txBox="1"/>
          <p:nvPr>
            <p:ph type="title"/>
          </p:nvPr>
        </p:nvSpPr>
        <p:spPr>
          <a:xfrm>
            <a:off x="743414" y="847279"/>
            <a:ext cx="10705171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/>
              <a:t>CONTOH PROGRAM SEDERHANA </a:t>
            </a:r>
            <a:br>
              <a:rPr lang="en-US"/>
            </a:br>
            <a:r>
              <a:rPr lang="en-US"/>
              <a:t>NETBEANS JAVA</a:t>
            </a:r>
            <a:endParaRPr/>
          </a:p>
        </p:txBody>
      </p:sp>
      <p:pic>
        <p:nvPicPr>
          <p:cNvPr id="453" name="Google Shape;453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414" y="2220939"/>
            <a:ext cx="6039693" cy="3486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0789" y="3001207"/>
            <a:ext cx="4267796" cy="1390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83"/>
          <p:cNvSpPr txBox="1"/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/>
              <a:t>TASK</a:t>
            </a:r>
            <a:endParaRPr/>
          </a:p>
        </p:txBody>
      </p:sp>
      <p:sp>
        <p:nvSpPr>
          <p:cNvPr id="460" name="Google Shape;460;p83"/>
          <p:cNvSpPr txBox="1"/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61" name="Google Shape;461;p83"/>
          <p:cNvSpPr txBox="1"/>
          <p:nvPr/>
        </p:nvSpPr>
        <p:spPr>
          <a:xfrm>
            <a:off x="821568" y="1675131"/>
            <a:ext cx="10515600" cy="4658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Instalasi Netbeans Java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4"/>
          <p:cNvSpPr txBox="1"/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467" name="Google Shape;467;p84"/>
          <p:cNvSpPr txBox="1"/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68" name="Google Shape;468;p84"/>
          <p:cNvSpPr txBox="1"/>
          <p:nvPr/>
        </p:nvSpPr>
        <p:spPr>
          <a:xfrm>
            <a:off x="821568" y="1675131"/>
            <a:ext cx="10515600" cy="4658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Buatlah  program sederhana menghitung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a. Luas Segitiga</a:t>
            </a:r>
            <a:endParaRPr b="0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b. Luas Persegi Panjang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c. Keliling Lingkaran</a:t>
            </a:r>
            <a:endParaRPr b="0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9"/>
          <p:cNvSpPr txBox="1"/>
          <p:nvPr>
            <p:ph type="ctrTitle"/>
          </p:nvPr>
        </p:nvSpPr>
        <p:spPr>
          <a:xfrm>
            <a:off x="2333732" y="2541902"/>
            <a:ext cx="3048000" cy="1768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</a:pPr>
            <a:r>
              <a:rPr lang="en-US"/>
              <a:t>Terima</a:t>
            </a:r>
            <a:br>
              <a:rPr lang="en-US"/>
            </a:br>
            <a:r>
              <a:rPr lang="en-US"/>
              <a:t>Kasih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UEU Color">
      <a:dk1>
        <a:srgbClr val="363636"/>
      </a:dk1>
      <a:lt1>
        <a:srgbClr val="FFFFFF"/>
      </a:lt1>
      <a:dk2>
        <a:srgbClr val="0E60AC"/>
      </a:dk2>
      <a:lt2>
        <a:srgbClr val="F2F2F2"/>
      </a:lt2>
      <a:accent1>
        <a:srgbClr val="EF7220"/>
      </a:accent1>
      <a:accent2>
        <a:srgbClr val="F5AA79"/>
      </a:accent2>
      <a:accent3>
        <a:srgbClr val="0E60AC"/>
      </a:accent3>
      <a:accent4>
        <a:srgbClr val="87C0F5"/>
      </a:accent4>
      <a:accent5>
        <a:srgbClr val="C3DFFA"/>
      </a:accent5>
      <a:accent6>
        <a:srgbClr val="D8D8D8"/>
      </a:accent6>
      <a:hlink>
        <a:srgbClr val="EF7220"/>
      </a:hlink>
      <a:folHlink>
        <a:srgbClr val="EF722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2023-08-25T16:23:35Z</dcterms:created>
  <dc:creator>Hanifah intania</dc:creator>
</cp:coreProperties>
</file>